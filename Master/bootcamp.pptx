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2" r:id="rId7"/>
    <p:sldId id="263" r:id="rId8"/>
    <p:sldId id="278" r:id="rId9"/>
    <p:sldId id="266" r:id="rId10"/>
    <p:sldId id="265" r:id="rId11"/>
    <p:sldId id="264" r:id="rId12"/>
    <p:sldId id="267" r:id="rId13"/>
    <p:sldId id="268" r:id="rId14"/>
    <p:sldId id="279" r:id="rId15"/>
    <p:sldId id="269" r:id="rId16"/>
    <p:sldId id="270" r:id="rId17"/>
    <p:sldId id="280" r:id="rId18"/>
    <p:sldId id="281" r:id="rId19"/>
    <p:sldId id="282" r:id="rId20"/>
    <p:sldId id="283" r:id="rId21"/>
    <p:sldId id="277" r:id="rId22"/>
  </p:sldIdLst>
  <p:sldSz cx="18288000" cy="10287000"/>
  <p:notesSz cx="7010400" cy="9296400"/>
  <p:embeddedFontLst>
    <p:embeddedFont>
      <p:font typeface="Inter" panose="020B0604020202020204" charset="0"/>
      <p:bold r:id="rId24"/>
      <p:boldItalic r:id="rId25"/>
    </p:embeddedFont>
    <p:embeddedFont>
      <p:font typeface="Montserrat"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R952gVeZEuo73p9RdKHtSNzpp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ED3051-B788-41D2-B85E-217DB4082C53}" v="2" dt="2026-07-03T04:12:20.744"/>
  </p1510:revLst>
</p1510:revInfo>
</file>

<file path=ppt/tableStyles.xml><?xml version="1.0" encoding="utf-8"?>
<a:tblStyleLst xmlns:a="http://schemas.openxmlformats.org/drawingml/2006/main" def="{6E7F0235-C9E1-43CC-A6E6-E1D2B18BDB54}">
  <a:tblStyle styleId="{6E7F0235-C9E1-43CC-A6E6-E1D2B18BDB5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26" autoAdjust="0"/>
  </p:normalViewPr>
  <p:slideViewPr>
    <p:cSldViewPr snapToGrid="0">
      <p:cViewPr varScale="1">
        <p:scale>
          <a:sx n="42" d="100"/>
          <a:sy n="42" d="100"/>
        </p:scale>
        <p:origin x="780" y="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yu Diansyah" userId="003346e95a27af5f" providerId="LiveId" clId="{72C6D863-787B-4473-8847-D0FAB5BB4D26}"/>
    <pc:docChg chg="undo custSel modSld">
      <pc:chgData name="Wahyu Diansyah" userId="003346e95a27af5f" providerId="LiveId" clId="{72C6D863-787B-4473-8847-D0FAB5BB4D26}" dt="2026-07-03T04:15:17.971" v="177" actId="20577"/>
      <pc:docMkLst>
        <pc:docMk/>
      </pc:docMkLst>
      <pc:sldChg chg="addSp delSp modSp mod">
        <pc:chgData name="Wahyu Diansyah" userId="003346e95a27af5f" providerId="LiveId" clId="{72C6D863-787B-4473-8847-D0FAB5BB4D26}" dt="2026-07-03T04:14:11.388" v="133" actId="20577"/>
        <pc:sldMkLst>
          <pc:docMk/>
          <pc:sldMk cId="0" sldId="258"/>
        </pc:sldMkLst>
        <pc:spChg chg="add del">
          <ac:chgData name="Wahyu Diansyah" userId="003346e95a27af5f" providerId="LiveId" clId="{72C6D863-787B-4473-8847-D0FAB5BB4D26}" dt="2026-07-03T04:12:24.635" v="86" actId="22"/>
          <ac:spMkLst>
            <pc:docMk/>
            <pc:sldMk cId="0" sldId="258"/>
            <ac:spMk id="6" creationId="{7EA19D47-481E-518F-AF86-69A200C36210}"/>
          </ac:spMkLst>
        </pc:spChg>
        <pc:spChg chg="mod">
          <ac:chgData name="Wahyu Diansyah" userId="003346e95a27af5f" providerId="LiveId" clId="{72C6D863-787B-4473-8847-D0FAB5BB4D26}" dt="2026-07-03T04:13:55.109" v="130" actId="1076"/>
          <ac:spMkLst>
            <pc:docMk/>
            <pc:sldMk cId="0" sldId="258"/>
            <ac:spMk id="18" creationId="{E351F6E6-5435-456F-96E4-BE51B5178B73}"/>
          </ac:spMkLst>
        </pc:spChg>
        <pc:spChg chg="mod">
          <ac:chgData name="Wahyu Diansyah" userId="003346e95a27af5f" providerId="LiveId" clId="{72C6D863-787B-4473-8847-D0FAB5BB4D26}" dt="2026-07-03T04:13:24.854" v="124" actId="1076"/>
          <ac:spMkLst>
            <pc:docMk/>
            <pc:sldMk cId="0" sldId="258"/>
            <ac:spMk id="123" creationId="{00000000-0000-0000-0000-000000000000}"/>
          </ac:spMkLst>
        </pc:spChg>
        <pc:spChg chg="mod">
          <ac:chgData name="Wahyu Diansyah" userId="003346e95a27af5f" providerId="LiveId" clId="{72C6D863-787B-4473-8847-D0FAB5BB4D26}" dt="2026-07-03T04:14:11.388" v="133" actId="20577"/>
          <ac:spMkLst>
            <pc:docMk/>
            <pc:sldMk cId="0" sldId="258"/>
            <ac:spMk id="124" creationId="{00000000-0000-0000-0000-000000000000}"/>
          </ac:spMkLst>
        </pc:spChg>
        <pc:spChg chg="del mod">
          <ac:chgData name="Wahyu Diansyah" userId="003346e95a27af5f" providerId="LiveId" clId="{72C6D863-787B-4473-8847-D0FAB5BB4D26}" dt="2026-07-03T04:12:31.334" v="87" actId="478"/>
          <ac:spMkLst>
            <pc:docMk/>
            <pc:sldMk cId="0" sldId="258"/>
            <ac:spMk id="125" creationId="{00000000-0000-0000-0000-000000000000}"/>
          </ac:spMkLst>
        </pc:spChg>
        <pc:spChg chg="mod">
          <ac:chgData name="Wahyu Diansyah" userId="003346e95a27af5f" providerId="LiveId" clId="{72C6D863-787B-4473-8847-D0FAB5BB4D26}" dt="2026-07-03T04:13:55.109" v="130" actId="1076"/>
          <ac:spMkLst>
            <pc:docMk/>
            <pc:sldMk cId="0" sldId="258"/>
            <ac:spMk id="126" creationId="{00000000-0000-0000-0000-000000000000}"/>
          </ac:spMkLst>
        </pc:spChg>
        <pc:spChg chg="mod topLvl">
          <ac:chgData name="Wahyu Diansyah" userId="003346e95a27af5f" providerId="LiveId" clId="{72C6D863-787B-4473-8847-D0FAB5BB4D26}" dt="2026-07-03T04:12:00.692" v="80" actId="1076"/>
          <ac:spMkLst>
            <pc:docMk/>
            <pc:sldMk cId="0" sldId="258"/>
            <ac:spMk id="128" creationId="{00000000-0000-0000-0000-000000000000}"/>
          </ac:spMkLst>
        </pc:spChg>
        <pc:spChg chg="del topLvl">
          <ac:chgData name="Wahyu Diansyah" userId="003346e95a27af5f" providerId="LiveId" clId="{72C6D863-787B-4473-8847-D0FAB5BB4D26}" dt="2026-07-03T04:11:35.593" v="75" actId="478"/>
          <ac:spMkLst>
            <pc:docMk/>
            <pc:sldMk cId="0" sldId="258"/>
            <ac:spMk id="129" creationId="{00000000-0000-0000-0000-000000000000}"/>
          </ac:spMkLst>
        </pc:spChg>
        <pc:grpChg chg="mod">
          <ac:chgData name="Wahyu Diansyah" userId="003346e95a27af5f" providerId="LiveId" clId="{72C6D863-787B-4473-8847-D0FAB5BB4D26}" dt="2026-07-03T04:12:20.744" v="84"/>
          <ac:grpSpMkLst>
            <pc:docMk/>
            <pc:sldMk cId="0" sldId="258"/>
            <ac:grpSpMk id="2" creationId="{36067F47-7E56-489F-AA14-CED0874BF8B6}"/>
          </ac:grpSpMkLst>
        </pc:grpChg>
        <pc:grpChg chg="mod">
          <ac:chgData name="Wahyu Diansyah" userId="003346e95a27af5f" providerId="LiveId" clId="{72C6D863-787B-4473-8847-D0FAB5BB4D26}" dt="2026-07-03T04:14:00.464" v="131" actId="1076"/>
          <ac:grpSpMkLst>
            <pc:docMk/>
            <pc:sldMk cId="0" sldId="258"/>
            <ac:grpSpMk id="4" creationId="{FAF0FA0F-062A-488F-89AA-DBAFD037232F}"/>
          </ac:grpSpMkLst>
        </pc:grpChg>
        <pc:grpChg chg="mod">
          <ac:chgData name="Wahyu Diansyah" userId="003346e95a27af5f" providerId="LiveId" clId="{72C6D863-787B-4473-8847-D0FAB5BB4D26}" dt="2026-07-03T04:11:55.204" v="79" actId="1076"/>
          <ac:grpSpMkLst>
            <pc:docMk/>
            <pc:sldMk cId="0" sldId="258"/>
            <ac:grpSpMk id="119" creationId="{00000000-0000-0000-0000-000000000000}"/>
          </ac:grpSpMkLst>
        </pc:grpChg>
        <pc:grpChg chg="del">
          <ac:chgData name="Wahyu Diansyah" userId="003346e95a27af5f" providerId="LiveId" clId="{72C6D863-787B-4473-8847-D0FAB5BB4D26}" dt="2026-07-03T04:11:35.593" v="75" actId="478"/>
          <ac:grpSpMkLst>
            <pc:docMk/>
            <pc:sldMk cId="0" sldId="258"/>
            <ac:grpSpMk id="127" creationId="{00000000-0000-0000-0000-000000000000}"/>
          </ac:grpSpMkLst>
        </pc:grpChg>
      </pc:sldChg>
      <pc:sldChg chg="addSp delSp modSp mod">
        <pc:chgData name="Wahyu Diansyah" userId="003346e95a27af5f" providerId="LiveId" clId="{72C6D863-787B-4473-8847-D0FAB5BB4D26}" dt="2026-07-03T04:11:09.789" v="74" actId="20577"/>
        <pc:sldMkLst>
          <pc:docMk/>
          <pc:sldMk cId="0" sldId="259"/>
        </pc:sldMkLst>
        <pc:spChg chg="add del">
          <ac:chgData name="Wahyu Diansyah" userId="003346e95a27af5f" providerId="LiveId" clId="{72C6D863-787B-4473-8847-D0FAB5BB4D26}" dt="2026-07-03T04:10:26.312" v="67" actId="478"/>
          <ac:spMkLst>
            <pc:docMk/>
            <pc:sldMk cId="0" sldId="259"/>
            <ac:spMk id="15" creationId="{E0CF9AF3-6447-4BB8-94EB-13C631988F13}"/>
          </ac:spMkLst>
        </pc:spChg>
        <pc:spChg chg="mod">
          <ac:chgData name="Wahyu Diansyah" userId="003346e95a27af5f" providerId="LiveId" clId="{72C6D863-787B-4473-8847-D0FAB5BB4D26}" dt="2026-07-03T04:09:28.752" v="1" actId="1076"/>
          <ac:spMkLst>
            <pc:docMk/>
            <pc:sldMk cId="0" sldId="259"/>
            <ac:spMk id="143" creationId="{00000000-0000-0000-0000-000000000000}"/>
          </ac:spMkLst>
        </pc:spChg>
        <pc:spChg chg="add del mod">
          <ac:chgData name="Wahyu Diansyah" userId="003346e95a27af5f" providerId="LiveId" clId="{72C6D863-787B-4473-8847-D0FAB5BB4D26}" dt="2026-07-03T04:10:05.472" v="48" actId="20577"/>
          <ac:spMkLst>
            <pc:docMk/>
            <pc:sldMk cId="0" sldId="259"/>
            <ac:spMk id="146" creationId="{00000000-0000-0000-0000-000000000000}"/>
          </ac:spMkLst>
        </pc:spChg>
        <pc:spChg chg="mod">
          <ac:chgData name="Wahyu Diansyah" userId="003346e95a27af5f" providerId="LiveId" clId="{72C6D863-787B-4473-8847-D0FAB5BB4D26}" dt="2026-07-03T04:09:56.942" v="25" actId="20577"/>
          <ac:spMkLst>
            <pc:docMk/>
            <pc:sldMk cId="0" sldId="259"/>
            <ac:spMk id="147" creationId="{00000000-0000-0000-0000-000000000000}"/>
          </ac:spMkLst>
        </pc:spChg>
        <pc:spChg chg="mod">
          <ac:chgData name="Wahyu Diansyah" userId="003346e95a27af5f" providerId="LiveId" clId="{72C6D863-787B-4473-8847-D0FAB5BB4D26}" dt="2026-07-03T04:11:09.789" v="74" actId="20577"/>
          <ac:spMkLst>
            <pc:docMk/>
            <pc:sldMk cId="0" sldId="259"/>
            <ac:spMk id="148" creationId="{00000000-0000-0000-0000-000000000000}"/>
          </ac:spMkLst>
        </pc:spChg>
        <pc:spChg chg="mod">
          <ac:chgData name="Wahyu Diansyah" userId="003346e95a27af5f" providerId="LiveId" clId="{72C6D863-787B-4473-8847-D0FAB5BB4D26}" dt="2026-07-03T04:09:53.022" v="22" actId="20577"/>
          <ac:spMkLst>
            <pc:docMk/>
            <pc:sldMk cId="0" sldId="259"/>
            <ac:spMk id="149" creationId="{00000000-0000-0000-0000-000000000000}"/>
          </ac:spMkLst>
        </pc:spChg>
        <pc:spChg chg="del">
          <ac:chgData name="Wahyu Diansyah" userId="003346e95a27af5f" providerId="LiveId" clId="{72C6D863-787B-4473-8847-D0FAB5BB4D26}" dt="2026-07-03T04:10:18.831" v="65" actId="478"/>
          <ac:spMkLst>
            <pc:docMk/>
            <pc:sldMk cId="0" sldId="259"/>
            <ac:spMk id="150" creationId="{00000000-0000-0000-0000-000000000000}"/>
          </ac:spMkLst>
        </pc:spChg>
        <pc:spChg chg="add del mod">
          <ac:chgData name="Wahyu Diansyah" userId="003346e95a27af5f" providerId="LiveId" clId="{72C6D863-787B-4473-8847-D0FAB5BB4D26}" dt="2026-07-03T04:10:12.358" v="64" actId="20577"/>
          <ac:spMkLst>
            <pc:docMk/>
            <pc:sldMk cId="0" sldId="259"/>
            <ac:spMk id="152" creationId="{00000000-0000-0000-0000-000000000000}"/>
          </ac:spMkLst>
        </pc:spChg>
        <pc:spChg chg="add del mod">
          <ac:chgData name="Wahyu Diansyah" userId="003346e95a27af5f" providerId="LiveId" clId="{72C6D863-787B-4473-8847-D0FAB5BB4D26}" dt="2026-07-03T04:10:38.650" v="70" actId="1076"/>
          <ac:spMkLst>
            <pc:docMk/>
            <pc:sldMk cId="0" sldId="259"/>
            <ac:spMk id="153" creationId="{00000000-0000-0000-0000-000000000000}"/>
          </ac:spMkLst>
        </pc:spChg>
        <pc:grpChg chg="mod">
          <ac:chgData name="Wahyu Diansyah" userId="003346e95a27af5f" providerId="LiveId" clId="{72C6D863-787B-4473-8847-D0FAB5BB4D26}" dt="2026-07-03T04:10:30.683" v="69" actId="1076"/>
          <ac:grpSpMkLst>
            <pc:docMk/>
            <pc:sldMk cId="0" sldId="259"/>
            <ac:grpSpMk id="141" creationId="{00000000-0000-0000-0000-000000000000}"/>
          </ac:grpSpMkLst>
        </pc:grpChg>
      </pc:sldChg>
      <pc:sldChg chg="modSp mod">
        <pc:chgData name="Wahyu Diansyah" userId="003346e95a27af5f" providerId="LiveId" clId="{72C6D863-787B-4473-8847-D0FAB5BB4D26}" dt="2026-07-03T04:14:34.482" v="136" actId="20577"/>
        <pc:sldMkLst>
          <pc:docMk/>
          <pc:sldMk cId="0" sldId="263"/>
        </pc:sldMkLst>
        <pc:spChg chg="mod">
          <ac:chgData name="Wahyu Diansyah" userId="003346e95a27af5f" providerId="LiveId" clId="{72C6D863-787B-4473-8847-D0FAB5BB4D26}" dt="2026-07-03T04:14:34.482" v="136" actId="20577"/>
          <ac:spMkLst>
            <pc:docMk/>
            <pc:sldMk cId="0" sldId="263"/>
            <ac:spMk id="217" creationId="{00000000-0000-0000-0000-000000000000}"/>
          </ac:spMkLst>
        </pc:spChg>
      </pc:sldChg>
      <pc:sldChg chg="modSp mod">
        <pc:chgData name="Wahyu Diansyah" userId="003346e95a27af5f" providerId="LiveId" clId="{72C6D863-787B-4473-8847-D0FAB5BB4D26}" dt="2026-07-03T04:15:17.971" v="177" actId="20577"/>
        <pc:sldMkLst>
          <pc:docMk/>
          <pc:sldMk cId="0" sldId="267"/>
        </pc:sldMkLst>
        <pc:spChg chg="mod">
          <ac:chgData name="Wahyu Diansyah" userId="003346e95a27af5f" providerId="LiveId" clId="{72C6D863-787B-4473-8847-D0FAB5BB4D26}" dt="2026-07-03T04:15:17.971" v="177" actId="20577"/>
          <ac:spMkLst>
            <pc:docMk/>
            <pc:sldMk cId="0" sldId="267"/>
            <ac:spMk id="24" creationId="{CAB667FB-609D-47D3-BB04-9A101C545654}"/>
          </ac:spMkLst>
        </pc:spChg>
      </pc:sldChg>
      <pc:sldChg chg="modSp mod">
        <pc:chgData name="Wahyu Diansyah" userId="003346e95a27af5f" providerId="LiveId" clId="{72C6D863-787B-4473-8847-D0FAB5BB4D26}" dt="2026-07-03T04:14:56.911" v="164" actId="20577"/>
        <pc:sldMkLst>
          <pc:docMk/>
          <pc:sldMk cId="3513765119" sldId="278"/>
        </pc:sldMkLst>
        <pc:spChg chg="mod">
          <ac:chgData name="Wahyu Diansyah" userId="003346e95a27af5f" providerId="LiveId" clId="{72C6D863-787B-4473-8847-D0FAB5BB4D26}" dt="2026-07-03T04:14:56.911" v="164" actId="20577"/>
          <ac:spMkLst>
            <pc:docMk/>
            <pc:sldMk cId="3513765119" sldId="278"/>
            <ac:spMk id="28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82" name="Google Shape;82;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96" name="Google Shape;96;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114" name="Google Shape;11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139" name="Google Shape;139;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160" name="Google Shape;160;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195" name="Google Shape;195;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212" name="Google Shape;212;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273" name="Google Shape;273;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90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273" name="Google Shape;273;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252" name="Google Shape;252;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234" name="Google Shape;234;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01" name="Google Shape;301;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15" name="Google Shape;315;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15" name="Google Shape;315;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863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29" name="Google Shape;329;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46" name="Google Shape;346;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46" name="Google Shape;346;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5280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46" name="Google Shape;346;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2468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46" name="Google Shape;346;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461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346" name="Google Shape;346;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9111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
        <p:nvSpPr>
          <p:cNvPr id="483" name="Google Shape;483;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1792288" y="612775"/>
            <a:ext cx="5486400" cy="4114800"/>
          </a:xfrm>
          <a:prstGeom prst="rect">
            <a:avLst/>
          </a:prstGeom>
          <a:noFill/>
          <a:ln>
            <a:noFill/>
          </a:ln>
        </p:spPr>
      </p:sp>
      <p:sp>
        <p:nvSpPr>
          <p:cNvPr id="64" name="Google Shape;64;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ocs.google.com/spreadsheets/d/1WBd1s4a8V97GSIL2gd-VDpkwzNzM8bGd/edit?gid=1222431208#gid=1222431208"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83"/>
        <p:cNvGrpSpPr/>
        <p:nvPr/>
      </p:nvGrpSpPr>
      <p:grpSpPr>
        <a:xfrm>
          <a:off x="0" y="0"/>
          <a:ext cx="0" cy="0"/>
          <a:chOff x="0" y="0"/>
          <a:chExt cx="0" cy="0"/>
        </a:xfrm>
      </p:grpSpPr>
      <p:sp>
        <p:nvSpPr>
          <p:cNvPr id="84" name="Google Shape;84;p1"/>
          <p:cNvSpPr/>
          <p:nvPr/>
        </p:nvSpPr>
        <p:spPr>
          <a:xfrm rot="5400000">
            <a:off x="1285875" y="-1285875"/>
            <a:ext cx="10287000" cy="12858750"/>
          </a:xfrm>
          <a:custGeom>
            <a:avLst/>
            <a:gdLst/>
            <a:ahLst/>
            <a:cxnLst/>
            <a:rect l="l" t="t" r="r" b="b"/>
            <a:pathLst>
              <a:path w="10287000" h="12858750" extrusionOk="0">
                <a:moveTo>
                  <a:pt x="0" y="0"/>
                </a:moveTo>
                <a:lnTo>
                  <a:pt x="10287000" y="0"/>
                </a:lnTo>
                <a:lnTo>
                  <a:pt x="10287000" y="12858750"/>
                </a:lnTo>
                <a:lnTo>
                  <a:pt x="0" y="12858750"/>
                </a:lnTo>
                <a:lnTo>
                  <a:pt x="0" y="0"/>
                </a:lnTo>
                <a:close/>
              </a:path>
            </a:pathLst>
          </a:custGeom>
          <a:blipFill rotWithShape="1">
            <a:blip r:embed="rId3">
              <a:alphaModFix amt="20999"/>
            </a:blip>
            <a:stretch>
              <a:fillRect/>
            </a:stretch>
          </a:blipFill>
          <a:ln>
            <a:noFill/>
          </a:ln>
        </p:spPr>
      </p:sp>
      <p:sp>
        <p:nvSpPr>
          <p:cNvPr id="85" name="Google Shape;85;p1"/>
          <p:cNvSpPr/>
          <p:nvPr/>
        </p:nvSpPr>
        <p:spPr>
          <a:xfrm>
            <a:off x="12667297" y="3583305"/>
            <a:ext cx="88583" cy="91440"/>
          </a:xfrm>
          <a:custGeom>
            <a:avLst/>
            <a:gdLst/>
            <a:ahLst/>
            <a:cxnLst/>
            <a:rect l="l" t="t" r="r" b="b"/>
            <a:pathLst>
              <a:path w="78740" h="81280" extrusionOk="0">
                <a:moveTo>
                  <a:pt x="78740" y="41910"/>
                </a:moveTo>
                <a:cubicBezTo>
                  <a:pt x="53340" y="80010"/>
                  <a:pt x="35560" y="81280"/>
                  <a:pt x="25400" y="77470"/>
                </a:cubicBezTo>
                <a:cubicBezTo>
                  <a:pt x="16510" y="73660"/>
                  <a:pt x="5080" y="60960"/>
                  <a:pt x="2540" y="50800"/>
                </a:cubicBezTo>
                <a:cubicBezTo>
                  <a:pt x="0" y="40640"/>
                  <a:pt x="5080" y="24130"/>
                  <a:pt x="12700" y="16510"/>
                </a:cubicBezTo>
                <a:cubicBezTo>
                  <a:pt x="19050" y="8890"/>
                  <a:pt x="35560" y="2540"/>
                  <a:pt x="45720" y="5080"/>
                </a:cubicBezTo>
                <a:cubicBezTo>
                  <a:pt x="57150" y="6350"/>
                  <a:pt x="69850" y="16510"/>
                  <a:pt x="74930" y="26670"/>
                </a:cubicBezTo>
                <a:cubicBezTo>
                  <a:pt x="78740" y="35560"/>
                  <a:pt x="78740" y="53340"/>
                  <a:pt x="72390" y="62230"/>
                </a:cubicBezTo>
                <a:cubicBezTo>
                  <a:pt x="67310" y="71120"/>
                  <a:pt x="52070" y="78740"/>
                  <a:pt x="41910" y="80010"/>
                </a:cubicBezTo>
                <a:cubicBezTo>
                  <a:pt x="34290" y="81280"/>
                  <a:pt x="25400" y="78740"/>
                  <a:pt x="19050" y="73660"/>
                </a:cubicBezTo>
                <a:cubicBezTo>
                  <a:pt x="11430" y="67310"/>
                  <a:pt x="2540" y="53340"/>
                  <a:pt x="1270" y="41910"/>
                </a:cubicBezTo>
                <a:cubicBezTo>
                  <a:pt x="1270" y="31750"/>
                  <a:pt x="7620" y="16510"/>
                  <a:pt x="15240" y="8890"/>
                </a:cubicBezTo>
                <a:cubicBezTo>
                  <a:pt x="21590" y="3810"/>
                  <a:pt x="33020" y="0"/>
                  <a:pt x="40640" y="0"/>
                </a:cubicBezTo>
                <a:cubicBezTo>
                  <a:pt x="49530" y="0"/>
                  <a:pt x="59690" y="5080"/>
                  <a:pt x="66040" y="10160"/>
                </a:cubicBezTo>
                <a:cubicBezTo>
                  <a:pt x="72390" y="16510"/>
                  <a:pt x="78740" y="35560"/>
                  <a:pt x="78740" y="35560"/>
                </a:cubicBezTo>
              </a:path>
            </a:pathLst>
          </a:custGeom>
          <a:solidFill>
            <a:srgbClr val="E71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txBox="1"/>
          <p:nvPr/>
        </p:nvSpPr>
        <p:spPr>
          <a:xfrm>
            <a:off x="1028700" y="1730619"/>
            <a:ext cx="15683082" cy="3189463"/>
          </a:xfrm>
          <a:prstGeom prst="rect">
            <a:avLst/>
          </a:prstGeom>
          <a:noFill/>
          <a:ln>
            <a:noFill/>
          </a:ln>
        </p:spPr>
        <p:txBody>
          <a:bodyPr spcFirstLastPara="1" wrap="square" lIns="0" tIns="0" rIns="0" bIns="0" anchor="t" anchorCtr="0">
            <a:spAutoFit/>
          </a:bodyPr>
          <a:lstStyle/>
          <a:p>
            <a:pPr marL="0" marR="0" lvl="0" indent="0" algn="l" rtl="0">
              <a:lnSpc>
                <a:spcPct val="119997"/>
              </a:lnSpc>
              <a:spcBef>
                <a:spcPts val="0"/>
              </a:spcBef>
              <a:spcAft>
                <a:spcPts val="0"/>
              </a:spcAft>
              <a:buNone/>
            </a:pPr>
            <a:r>
              <a:rPr lang="en-US" sz="8636" b="1" i="0" u="none" strike="noStrike" cap="none" dirty="0">
                <a:solidFill>
                  <a:srgbClr val="FFFFFF"/>
                </a:solidFill>
                <a:latin typeface="Inter"/>
                <a:ea typeface="Inter"/>
                <a:cs typeface="Inter"/>
                <a:sym typeface="Inter"/>
              </a:rPr>
              <a:t>PORTOFOLIO PROJECT HRFT</a:t>
            </a:r>
            <a:endParaRPr dirty="0"/>
          </a:p>
          <a:p>
            <a:pPr marL="0" marR="0" lvl="0" indent="0" algn="l" rtl="0">
              <a:lnSpc>
                <a:spcPct val="119997"/>
              </a:lnSpc>
              <a:spcBef>
                <a:spcPts val="0"/>
              </a:spcBef>
              <a:spcAft>
                <a:spcPts val="0"/>
              </a:spcAft>
              <a:buNone/>
            </a:pPr>
            <a:r>
              <a:rPr lang="en-US" sz="8636" b="1" i="0" u="none" strike="noStrike" cap="none">
                <a:solidFill>
                  <a:srgbClr val="FFFFFF"/>
                </a:solidFill>
                <a:latin typeface="Inter"/>
                <a:ea typeface="Inter"/>
                <a:cs typeface="Inter"/>
                <a:sym typeface="Inter"/>
              </a:rPr>
              <a:t>JOB </a:t>
            </a:r>
            <a:r>
              <a:rPr lang="en-US" sz="8636" b="1" i="0" u="none" strike="noStrike" cap="none" dirty="0">
                <a:solidFill>
                  <a:srgbClr val="FFFFFF"/>
                </a:solidFill>
                <a:latin typeface="Inter"/>
                <a:ea typeface="Inter"/>
                <a:cs typeface="Inter"/>
                <a:sym typeface="Inter"/>
              </a:rPr>
              <a:t>GUARANTEE 2025</a:t>
            </a:r>
            <a:endParaRPr dirty="0"/>
          </a:p>
        </p:txBody>
      </p:sp>
      <p:grpSp>
        <p:nvGrpSpPr>
          <p:cNvPr id="87" name="Google Shape;87;p1"/>
          <p:cNvGrpSpPr/>
          <p:nvPr/>
        </p:nvGrpSpPr>
        <p:grpSpPr>
          <a:xfrm>
            <a:off x="0" y="8695526"/>
            <a:ext cx="18288000" cy="3286565"/>
            <a:chOff x="0" y="-76200"/>
            <a:chExt cx="6020741" cy="1081997"/>
          </a:xfrm>
        </p:grpSpPr>
        <p:sp>
          <p:nvSpPr>
            <p:cNvPr id="88" name="Google Shape;88;p1"/>
            <p:cNvSpPr/>
            <p:nvPr/>
          </p:nvSpPr>
          <p:spPr>
            <a:xfrm>
              <a:off x="0" y="0"/>
              <a:ext cx="6020741" cy="1005797"/>
            </a:xfrm>
            <a:custGeom>
              <a:avLst/>
              <a:gdLst/>
              <a:ahLst/>
              <a:cxnLst/>
              <a:rect l="l" t="t" r="r" b="b"/>
              <a:pathLst>
                <a:path w="6020741" h="1005797" extrusionOk="0">
                  <a:moveTo>
                    <a:pt x="17357" y="0"/>
                  </a:moveTo>
                  <a:lnTo>
                    <a:pt x="6003384" y="0"/>
                  </a:lnTo>
                  <a:cubicBezTo>
                    <a:pt x="6012970" y="0"/>
                    <a:pt x="6020741" y="7771"/>
                    <a:pt x="6020741" y="17357"/>
                  </a:cubicBezTo>
                  <a:lnTo>
                    <a:pt x="6020741" y="988440"/>
                  </a:lnTo>
                  <a:cubicBezTo>
                    <a:pt x="6020741" y="998026"/>
                    <a:pt x="6012970" y="1005797"/>
                    <a:pt x="6003384" y="1005797"/>
                  </a:cubicBezTo>
                  <a:lnTo>
                    <a:pt x="17357" y="1005797"/>
                  </a:lnTo>
                  <a:cubicBezTo>
                    <a:pt x="7771" y="1005797"/>
                    <a:pt x="0" y="998026"/>
                    <a:pt x="0" y="988440"/>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txBox="1"/>
            <p:nvPr/>
          </p:nvSpPr>
          <p:spPr>
            <a:xfrm>
              <a:off x="0" y="-76200"/>
              <a:ext cx="6020741" cy="1081997"/>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0" name="Google Shape;90;p1"/>
          <p:cNvSpPr/>
          <p:nvPr/>
        </p:nvSpPr>
        <p:spPr>
          <a:xfrm>
            <a:off x="292178" y="8401786"/>
            <a:ext cx="2397600" cy="2397600"/>
          </a:xfrm>
          <a:custGeom>
            <a:avLst/>
            <a:gdLst/>
            <a:ahLst/>
            <a:cxnLst/>
            <a:rect l="l" t="t" r="r" b="b"/>
            <a:pathLst>
              <a:path w="2397600" h="2397600" extrusionOk="0">
                <a:moveTo>
                  <a:pt x="0" y="0"/>
                </a:moveTo>
                <a:lnTo>
                  <a:pt x="2397601" y="0"/>
                </a:lnTo>
                <a:lnTo>
                  <a:pt x="2397601" y="2397600"/>
                </a:lnTo>
                <a:lnTo>
                  <a:pt x="0" y="2397600"/>
                </a:lnTo>
                <a:lnTo>
                  <a:pt x="0" y="0"/>
                </a:lnTo>
                <a:close/>
              </a:path>
            </a:pathLst>
          </a:custGeom>
          <a:blipFill rotWithShape="1">
            <a:blip r:embed="rId4">
              <a:alphaModFix/>
            </a:blip>
            <a:stretch>
              <a:fillRect/>
            </a:stretch>
          </a:blipFill>
          <a:ln>
            <a:noFill/>
          </a:ln>
        </p:spPr>
      </p:sp>
      <p:grpSp>
        <p:nvGrpSpPr>
          <p:cNvPr id="91" name="Google Shape;91;p1"/>
          <p:cNvGrpSpPr/>
          <p:nvPr/>
        </p:nvGrpSpPr>
        <p:grpSpPr>
          <a:xfrm>
            <a:off x="10431952" y="5855202"/>
            <a:ext cx="6969941" cy="1008730"/>
            <a:chOff x="0" y="-85725"/>
            <a:chExt cx="9293255" cy="1344973"/>
          </a:xfrm>
        </p:grpSpPr>
        <p:sp>
          <p:nvSpPr>
            <p:cNvPr id="92" name="Google Shape;92;p1"/>
            <p:cNvSpPr/>
            <p:nvPr/>
          </p:nvSpPr>
          <p:spPr>
            <a:xfrm>
              <a:off x="0" y="0"/>
              <a:ext cx="9293254" cy="1259248"/>
            </a:xfrm>
            <a:custGeom>
              <a:avLst/>
              <a:gdLst/>
              <a:ahLst/>
              <a:cxnLst/>
              <a:rect l="l" t="t" r="r" b="b"/>
              <a:pathLst>
                <a:path w="9293254" h="1259248" extrusionOk="0">
                  <a:moveTo>
                    <a:pt x="0" y="0"/>
                  </a:moveTo>
                  <a:lnTo>
                    <a:pt x="9293254" y="0"/>
                  </a:lnTo>
                  <a:lnTo>
                    <a:pt x="9293254" y="1259248"/>
                  </a:lnTo>
                  <a:lnTo>
                    <a:pt x="0" y="1259248"/>
                  </a:lnTo>
                  <a:close/>
                </a:path>
              </a:pathLst>
            </a:custGeom>
            <a:solidFill>
              <a:srgbClr val="000000">
                <a:alpha val="0"/>
              </a:srgbClr>
            </a:solidFill>
            <a:ln>
              <a:noFill/>
            </a:ln>
          </p:spPr>
        </p:sp>
        <p:sp>
          <p:nvSpPr>
            <p:cNvPr id="93" name="Google Shape;93;p1"/>
            <p:cNvSpPr txBox="1"/>
            <p:nvPr/>
          </p:nvSpPr>
          <p:spPr>
            <a:xfrm>
              <a:off x="0" y="-85725"/>
              <a:ext cx="9293255" cy="1344973"/>
            </a:xfrm>
            <a:prstGeom prst="rect">
              <a:avLst/>
            </a:prstGeom>
            <a:noFill/>
            <a:ln>
              <a:noFill/>
            </a:ln>
          </p:spPr>
          <p:txBody>
            <a:bodyPr spcFirstLastPara="1" wrap="square" lIns="0" tIns="0" rIns="0" bIns="0" anchor="t" anchorCtr="0">
              <a:noAutofit/>
            </a:bodyPr>
            <a:lstStyle/>
            <a:p>
              <a:pPr marL="0" marR="0" lvl="0" indent="0" algn="l" rtl="0">
                <a:lnSpc>
                  <a:spcPct val="140009"/>
                </a:lnSpc>
                <a:spcBef>
                  <a:spcPts val="0"/>
                </a:spcBef>
                <a:spcAft>
                  <a:spcPts val="0"/>
                </a:spcAft>
                <a:buNone/>
              </a:pPr>
              <a:r>
                <a:rPr lang="en-US" sz="4374" b="1" dirty="0">
                  <a:solidFill>
                    <a:srgbClr val="FFFCFC"/>
                  </a:solidFill>
                  <a:latin typeface="Inter"/>
                  <a:ea typeface="Inter"/>
                  <a:sym typeface="Inter"/>
                </a:rPr>
                <a:t>WAHYDIANSYAH</a:t>
              </a: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97"/>
        <p:cNvGrpSpPr/>
        <p:nvPr/>
      </p:nvGrpSpPr>
      <p:grpSpPr>
        <a:xfrm>
          <a:off x="0" y="0"/>
          <a:ext cx="0" cy="0"/>
          <a:chOff x="0" y="0"/>
          <a:chExt cx="0" cy="0"/>
        </a:xfrm>
      </p:grpSpPr>
      <p:sp>
        <p:nvSpPr>
          <p:cNvPr id="98" name="Google Shape;98;p2"/>
          <p:cNvSpPr txBox="1"/>
          <p:nvPr/>
        </p:nvSpPr>
        <p:spPr>
          <a:xfrm>
            <a:off x="1096369" y="3765215"/>
            <a:ext cx="4252959" cy="996328"/>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5816" b="1" i="0" u="none" strike="noStrike" cap="none">
                <a:solidFill>
                  <a:srgbClr val="FFFFFF"/>
                </a:solidFill>
                <a:latin typeface="Montserrat"/>
                <a:ea typeface="Montserrat"/>
                <a:cs typeface="Montserrat"/>
                <a:sym typeface="Montserrat"/>
              </a:rPr>
              <a:t>TABLE OF</a:t>
            </a:r>
            <a:endParaRPr/>
          </a:p>
        </p:txBody>
      </p:sp>
      <p:sp>
        <p:nvSpPr>
          <p:cNvPr id="99" name="Google Shape;99;p2"/>
          <p:cNvSpPr txBox="1"/>
          <p:nvPr/>
        </p:nvSpPr>
        <p:spPr>
          <a:xfrm>
            <a:off x="8100975" y="809855"/>
            <a:ext cx="933714"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01</a:t>
            </a:r>
            <a:endParaRPr/>
          </a:p>
        </p:txBody>
      </p:sp>
      <p:sp>
        <p:nvSpPr>
          <p:cNvPr id="100" name="Google Shape;100;p2"/>
          <p:cNvSpPr txBox="1"/>
          <p:nvPr/>
        </p:nvSpPr>
        <p:spPr>
          <a:xfrm>
            <a:off x="13746906" y="888118"/>
            <a:ext cx="1107682"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04</a:t>
            </a:r>
            <a:endParaRPr/>
          </a:p>
        </p:txBody>
      </p:sp>
      <p:sp>
        <p:nvSpPr>
          <p:cNvPr id="101" name="Google Shape;101;p2"/>
          <p:cNvSpPr txBox="1"/>
          <p:nvPr/>
        </p:nvSpPr>
        <p:spPr>
          <a:xfrm>
            <a:off x="13737381" y="3460477"/>
            <a:ext cx="1405914"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05</a:t>
            </a:r>
            <a:endParaRPr/>
          </a:p>
        </p:txBody>
      </p:sp>
      <p:sp>
        <p:nvSpPr>
          <p:cNvPr id="102" name="Google Shape;102;p2"/>
          <p:cNvSpPr txBox="1"/>
          <p:nvPr/>
        </p:nvSpPr>
        <p:spPr>
          <a:xfrm>
            <a:off x="13737381" y="5922804"/>
            <a:ext cx="1521275"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06</a:t>
            </a:r>
            <a:endParaRPr/>
          </a:p>
        </p:txBody>
      </p:sp>
      <p:sp>
        <p:nvSpPr>
          <p:cNvPr id="103" name="Google Shape;103;p2"/>
          <p:cNvSpPr txBox="1"/>
          <p:nvPr/>
        </p:nvSpPr>
        <p:spPr>
          <a:xfrm>
            <a:off x="8100975" y="3472566"/>
            <a:ext cx="1047513" cy="1072926"/>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02</a:t>
            </a:r>
            <a:endParaRPr/>
          </a:p>
        </p:txBody>
      </p:sp>
      <p:sp>
        <p:nvSpPr>
          <p:cNvPr id="104" name="Google Shape;104;p2"/>
          <p:cNvSpPr txBox="1"/>
          <p:nvPr/>
        </p:nvSpPr>
        <p:spPr>
          <a:xfrm>
            <a:off x="8100215" y="5896748"/>
            <a:ext cx="1317926" cy="1072926"/>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FFFFFF"/>
                </a:solidFill>
                <a:latin typeface="Montserrat"/>
                <a:ea typeface="Montserrat"/>
                <a:cs typeface="Montserrat"/>
                <a:sym typeface="Montserrat"/>
              </a:rPr>
              <a:t>03</a:t>
            </a:r>
            <a:endParaRPr/>
          </a:p>
        </p:txBody>
      </p:sp>
      <p:sp>
        <p:nvSpPr>
          <p:cNvPr id="105" name="Google Shape;105;p2"/>
          <p:cNvSpPr txBox="1"/>
          <p:nvPr/>
        </p:nvSpPr>
        <p:spPr>
          <a:xfrm>
            <a:off x="1096369" y="4647243"/>
            <a:ext cx="4252959" cy="99525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5816" b="0" i="0" u="none" strike="noStrike" cap="none">
                <a:solidFill>
                  <a:srgbClr val="FFFFFF"/>
                </a:solidFill>
                <a:latin typeface="Montserrat"/>
                <a:ea typeface="Montserrat"/>
                <a:cs typeface="Montserrat"/>
                <a:sym typeface="Montserrat"/>
              </a:rPr>
              <a:t>CONTENT</a:t>
            </a:r>
            <a:endParaRPr/>
          </a:p>
        </p:txBody>
      </p:sp>
      <p:sp>
        <p:nvSpPr>
          <p:cNvPr id="106" name="Google Shape;106;p2"/>
          <p:cNvSpPr txBox="1"/>
          <p:nvPr/>
        </p:nvSpPr>
        <p:spPr>
          <a:xfrm>
            <a:off x="9297717" y="1070174"/>
            <a:ext cx="2717976" cy="714240"/>
          </a:xfrm>
          <a:prstGeom prst="rect">
            <a:avLst/>
          </a:prstGeom>
          <a:noFill/>
          <a:ln>
            <a:noFill/>
          </a:ln>
        </p:spPr>
        <p:txBody>
          <a:bodyPr spcFirstLastPara="1" wrap="square" lIns="0" tIns="0" rIns="0" bIns="0" anchor="t" anchorCtr="0">
            <a:spAutoFit/>
          </a:bodyPr>
          <a:lstStyle/>
          <a:p>
            <a:pPr marL="0" marR="0" lvl="0" indent="0" algn="l" rtl="0">
              <a:lnSpc>
                <a:spcPct val="105015"/>
              </a:lnSpc>
              <a:spcBef>
                <a:spcPts val="0"/>
              </a:spcBef>
              <a:spcAft>
                <a:spcPts val="0"/>
              </a:spcAft>
              <a:buNone/>
            </a:pPr>
            <a:r>
              <a:rPr lang="en-US" sz="2632" b="1" i="0" u="none" strike="noStrike" cap="none">
                <a:solidFill>
                  <a:srgbClr val="FFFFFF"/>
                </a:solidFill>
                <a:latin typeface="Montserrat"/>
                <a:ea typeface="Montserrat"/>
                <a:cs typeface="Montserrat"/>
                <a:sym typeface="Montserrat"/>
              </a:rPr>
              <a:t>Identitas</a:t>
            </a:r>
            <a:endParaRPr/>
          </a:p>
          <a:p>
            <a:pPr marL="0" marR="0" lvl="0" indent="0" algn="l" rtl="0">
              <a:lnSpc>
                <a:spcPct val="105015"/>
              </a:lnSpc>
              <a:spcBef>
                <a:spcPts val="0"/>
              </a:spcBef>
              <a:spcAft>
                <a:spcPts val="0"/>
              </a:spcAft>
              <a:buNone/>
            </a:pPr>
            <a:r>
              <a:rPr lang="en-US" sz="2632" b="1" i="0" u="none" strike="noStrike" cap="none">
                <a:solidFill>
                  <a:srgbClr val="FFFFFF"/>
                </a:solidFill>
                <a:latin typeface="Montserrat"/>
                <a:ea typeface="Montserrat"/>
                <a:cs typeface="Montserrat"/>
                <a:sym typeface="Montserrat"/>
              </a:rPr>
              <a:t>Diri</a:t>
            </a:r>
            <a:endParaRPr/>
          </a:p>
        </p:txBody>
      </p:sp>
      <p:sp>
        <p:nvSpPr>
          <p:cNvPr id="107" name="Google Shape;107;p2"/>
          <p:cNvSpPr txBox="1"/>
          <p:nvPr/>
        </p:nvSpPr>
        <p:spPr>
          <a:xfrm>
            <a:off x="9374318" y="3732950"/>
            <a:ext cx="1849865" cy="714240"/>
          </a:xfrm>
          <a:prstGeom prst="rect">
            <a:avLst/>
          </a:prstGeom>
          <a:noFill/>
          <a:ln>
            <a:noFill/>
          </a:ln>
        </p:spPr>
        <p:txBody>
          <a:bodyPr spcFirstLastPara="1" wrap="square" lIns="0" tIns="0" rIns="0" bIns="0" anchor="t" anchorCtr="0">
            <a:spAutoFit/>
          </a:bodyPr>
          <a:lstStyle/>
          <a:p>
            <a:pPr marL="0" marR="0" lvl="0" indent="0" algn="l" rtl="0">
              <a:lnSpc>
                <a:spcPct val="105015"/>
              </a:lnSpc>
              <a:spcBef>
                <a:spcPts val="0"/>
              </a:spcBef>
              <a:spcAft>
                <a:spcPts val="0"/>
              </a:spcAft>
              <a:buNone/>
            </a:pPr>
            <a:r>
              <a:rPr lang="en-US" sz="2632" b="1" i="0" u="none" strike="noStrike" cap="none">
                <a:solidFill>
                  <a:srgbClr val="FFFFFF"/>
                </a:solidFill>
                <a:latin typeface="Montserrat"/>
                <a:ea typeface="Montserrat"/>
                <a:cs typeface="Montserrat"/>
                <a:sym typeface="Montserrat"/>
              </a:rPr>
              <a:t>Skill &amp; Sertifikasi</a:t>
            </a:r>
            <a:endParaRPr/>
          </a:p>
        </p:txBody>
      </p:sp>
      <p:sp>
        <p:nvSpPr>
          <p:cNvPr id="108" name="Google Shape;108;p2"/>
          <p:cNvSpPr txBox="1"/>
          <p:nvPr/>
        </p:nvSpPr>
        <p:spPr>
          <a:xfrm>
            <a:off x="9387819" y="6139312"/>
            <a:ext cx="3804504"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FFFFFF"/>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FFFFFF"/>
                </a:solidFill>
                <a:latin typeface="Montserrat"/>
                <a:ea typeface="Montserrat"/>
                <a:cs typeface="Montserrat"/>
                <a:sym typeface="Montserrat"/>
              </a:rPr>
              <a:t>Recruitment</a:t>
            </a:r>
            <a:endParaRPr/>
          </a:p>
        </p:txBody>
      </p:sp>
      <p:sp>
        <p:nvSpPr>
          <p:cNvPr id="109" name="Google Shape;109;p2"/>
          <p:cNvSpPr txBox="1"/>
          <p:nvPr/>
        </p:nvSpPr>
        <p:spPr>
          <a:xfrm>
            <a:off x="15491568" y="1135640"/>
            <a:ext cx="1767732" cy="915379"/>
          </a:xfrm>
          <a:prstGeom prst="rect">
            <a:avLst/>
          </a:prstGeom>
          <a:noFill/>
          <a:ln>
            <a:noFill/>
          </a:ln>
        </p:spPr>
        <p:txBody>
          <a:bodyPr spcFirstLastPara="1" wrap="square" lIns="0" tIns="0" rIns="0" bIns="0" anchor="t" anchorCtr="0">
            <a:spAutoFit/>
          </a:bodyPr>
          <a:lstStyle/>
          <a:p>
            <a:pPr marL="0" marR="0" lvl="0" indent="0" algn="l" rtl="0">
              <a:lnSpc>
                <a:spcPct val="113031"/>
              </a:lnSpc>
              <a:spcBef>
                <a:spcPts val="0"/>
              </a:spcBef>
              <a:spcAft>
                <a:spcPts val="0"/>
              </a:spcAft>
              <a:buNone/>
            </a:pPr>
            <a:r>
              <a:rPr lang="en-US" sz="2632" b="1" i="0" u="none" strike="noStrike" cap="none" dirty="0">
                <a:solidFill>
                  <a:srgbClr val="FFFFFF"/>
                </a:solidFill>
                <a:latin typeface="Montserrat"/>
                <a:ea typeface="Montserrat"/>
                <a:cs typeface="Montserrat"/>
                <a:sym typeface="Montserrat"/>
              </a:rPr>
              <a:t>Project II</a:t>
            </a:r>
            <a:endParaRPr dirty="0"/>
          </a:p>
          <a:p>
            <a:pPr marL="0" marR="0" lvl="0" indent="0" algn="l" rtl="0">
              <a:lnSpc>
                <a:spcPct val="113031"/>
              </a:lnSpc>
              <a:spcBef>
                <a:spcPts val="0"/>
              </a:spcBef>
              <a:spcAft>
                <a:spcPts val="0"/>
              </a:spcAft>
              <a:buNone/>
            </a:pPr>
            <a:r>
              <a:rPr lang="en-US" sz="2632" b="0" i="0" u="none" strike="noStrike" cap="none" dirty="0">
                <a:solidFill>
                  <a:srgbClr val="FFFFFF"/>
                </a:solidFill>
                <a:latin typeface="Montserrat"/>
                <a:ea typeface="Montserrat"/>
                <a:cs typeface="Montserrat"/>
                <a:sym typeface="Montserrat"/>
              </a:rPr>
              <a:t>Contract </a:t>
            </a:r>
            <a:endParaRPr dirty="0"/>
          </a:p>
        </p:txBody>
      </p:sp>
      <p:sp>
        <p:nvSpPr>
          <p:cNvPr id="110" name="Google Shape;110;p2"/>
          <p:cNvSpPr txBox="1"/>
          <p:nvPr/>
        </p:nvSpPr>
        <p:spPr>
          <a:xfrm>
            <a:off x="15482043" y="3725276"/>
            <a:ext cx="2289634" cy="850617"/>
          </a:xfrm>
          <a:prstGeom prst="rect">
            <a:avLst/>
          </a:prstGeom>
          <a:noFill/>
          <a:ln>
            <a:noFill/>
          </a:ln>
        </p:spPr>
        <p:txBody>
          <a:bodyPr spcFirstLastPara="1" wrap="square" lIns="0" tIns="0" rIns="0" bIns="0" anchor="t" anchorCtr="0">
            <a:spAutoFit/>
          </a:bodyPr>
          <a:lstStyle/>
          <a:p>
            <a:pPr marL="0" marR="0" lvl="0" indent="0" algn="l" rtl="0">
              <a:lnSpc>
                <a:spcPct val="105015"/>
              </a:lnSpc>
              <a:spcBef>
                <a:spcPts val="0"/>
              </a:spcBef>
              <a:spcAft>
                <a:spcPts val="0"/>
              </a:spcAft>
              <a:buNone/>
            </a:pPr>
            <a:r>
              <a:rPr lang="en-US" sz="2632" b="1" i="0" u="none" strike="noStrike" cap="none" dirty="0">
                <a:solidFill>
                  <a:srgbClr val="FFFFFF"/>
                </a:solidFill>
                <a:latin typeface="Montserrat"/>
                <a:ea typeface="Montserrat"/>
                <a:cs typeface="Montserrat"/>
                <a:sym typeface="Montserrat"/>
              </a:rPr>
              <a:t>Project III</a:t>
            </a:r>
          </a:p>
          <a:p>
            <a:pPr marL="0" marR="0" lvl="0" indent="0" algn="l" rtl="0">
              <a:lnSpc>
                <a:spcPct val="105015"/>
              </a:lnSpc>
              <a:spcBef>
                <a:spcPts val="0"/>
              </a:spcBef>
              <a:spcAft>
                <a:spcPts val="0"/>
              </a:spcAft>
              <a:buNone/>
            </a:pPr>
            <a:r>
              <a:rPr lang="en-US" sz="2632" dirty="0">
                <a:solidFill>
                  <a:srgbClr val="FFFFFF"/>
                </a:solidFill>
                <a:latin typeface="Montserrat"/>
                <a:sym typeface="Montserrat"/>
              </a:rPr>
              <a:t>Payroll</a:t>
            </a:r>
            <a:endParaRPr lang="en-US" dirty="0"/>
          </a:p>
        </p:txBody>
      </p:sp>
      <p:sp>
        <p:nvSpPr>
          <p:cNvPr id="111" name="Google Shape;111;p2"/>
          <p:cNvSpPr txBox="1"/>
          <p:nvPr/>
        </p:nvSpPr>
        <p:spPr>
          <a:xfrm>
            <a:off x="15423435" y="6195100"/>
            <a:ext cx="2698325" cy="1336713"/>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dirty="0">
                <a:solidFill>
                  <a:srgbClr val="FFFFFF"/>
                </a:solidFill>
                <a:latin typeface="Montserrat"/>
                <a:ea typeface="Montserrat"/>
                <a:cs typeface="Montserrat"/>
                <a:sym typeface="Montserrat"/>
              </a:rPr>
              <a:t>Project IV</a:t>
            </a:r>
            <a:endParaRPr lang="en-US" sz="2632" b="1" i="0" u="none" strike="noStrike" cap="none" dirty="0">
              <a:solidFill>
                <a:srgbClr val="FFFFFF"/>
              </a:solidFill>
              <a:latin typeface="Montserrat"/>
              <a:ea typeface="Montserrat"/>
              <a:cs typeface="Montserrat"/>
              <a:sym typeface="Montserrat"/>
            </a:endParaRPr>
          </a:p>
          <a:p>
            <a:pPr marL="0" marR="0" lvl="0" indent="0" algn="l" rtl="0">
              <a:lnSpc>
                <a:spcPct val="110030"/>
              </a:lnSpc>
              <a:spcBef>
                <a:spcPts val="0"/>
              </a:spcBef>
              <a:spcAft>
                <a:spcPts val="0"/>
              </a:spcAft>
              <a:buNone/>
            </a:pPr>
            <a:r>
              <a:rPr lang="en-US" sz="2632" dirty="0">
                <a:solidFill>
                  <a:srgbClr val="FFFFFF"/>
                </a:solidFill>
                <a:latin typeface="Montserrat"/>
                <a:sym typeface="Montserrat"/>
              </a:rPr>
              <a:t>Man Power Planning</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115"/>
        <p:cNvGrpSpPr/>
        <p:nvPr/>
      </p:nvGrpSpPr>
      <p:grpSpPr>
        <a:xfrm>
          <a:off x="0" y="0"/>
          <a:ext cx="0" cy="0"/>
          <a:chOff x="0" y="0"/>
          <a:chExt cx="0" cy="0"/>
        </a:xfrm>
      </p:grpSpPr>
      <p:grpSp>
        <p:nvGrpSpPr>
          <p:cNvPr id="116" name="Google Shape;116;p3"/>
          <p:cNvGrpSpPr/>
          <p:nvPr/>
        </p:nvGrpSpPr>
        <p:grpSpPr>
          <a:xfrm>
            <a:off x="14060678" y="-1638139"/>
            <a:ext cx="6126305" cy="3493908"/>
            <a:chOff x="0" y="-57150"/>
            <a:chExt cx="812800" cy="463550"/>
          </a:xfrm>
        </p:grpSpPr>
        <p:sp>
          <p:nvSpPr>
            <p:cNvPr id="117" name="Google Shape;117;p3"/>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9" name="Google Shape;119;p3"/>
          <p:cNvGrpSpPr/>
          <p:nvPr/>
        </p:nvGrpSpPr>
        <p:grpSpPr>
          <a:xfrm>
            <a:off x="11792392" y="7398422"/>
            <a:ext cx="5128508" cy="1427361"/>
            <a:chOff x="0" y="-38100"/>
            <a:chExt cx="1779463" cy="375930"/>
          </a:xfrm>
        </p:grpSpPr>
        <p:sp>
          <p:nvSpPr>
            <p:cNvPr id="120" name="Google Shape;120;p3"/>
            <p:cNvSpPr/>
            <p:nvPr/>
          </p:nvSpPr>
          <p:spPr>
            <a:xfrm>
              <a:off x="0" y="0"/>
              <a:ext cx="1779463" cy="337830"/>
            </a:xfrm>
            <a:custGeom>
              <a:avLst/>
              <a:gdLst/>
              <a:ahLst/>
              <a:cxnLst/>
              <a:rect l="l" t="t" r="r" b="b"/>
              <a:pathLst>
                <a:path w="1779463" h="337830" extrusionOk="0">
                  <a:moveTo>
                    <a:pt x="0" y="0"/>
                  </a:moveTo>
                  <a:lnTo>
                    <a:pt x="1779463" y="0"/>
                  </a:lnTo>
                  <a:lnTo>
                    <a:pt x="1779463" y="337830"/>
                  </a:lnTo>
                  <a:lnTo>
                    <a:pt x="0" y="337830"/>
                  </a:lnTo>
                  <a:close/>
                </a:path>
              </a:pathLst>
            </a:custGeom>
            <a:solidFill>
              <a:srgbClr val="FFF6E3"/>
            </a:solidFill>
            <a:ln>
              <a:noFill/>
            </a:ln>
          </p:spPr>
        </p:sp>
        <p:sp>
          <p:nvSpPr>
            <p:cNvPr id="121" name="Google Shape;121;p3"/>
            <p:cNvSpPr txBox="1"/>
            <p:nvPr/>
          </p:nvSpPr>
          <p:spPr>
            <a:xfrm>
              <a:off x="0" y="-38100"/>
              <a:ext cx="1779463" cy="37593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3" name="Google Shape;123;p3"/>
          <p:cNvSpPr txBox="1"/>
          <p:nvPr/>
        </p:nvSpPr>
        <p:spPr>
          <a:xfrm>
            <a:off x="890541" y="4615400"/>
            <a:ext cx="10616901" cy="4210383"/>
          </a:xfrm>
          <a:prstGeom prst="rect">
            <a:avLst/>
          </a:prstGeom>
          <a:noFill/>
          <a:ln>
            <a:noFill/>
          </a:ln>
        </p:spPr>
        <p:txBody>
          <a:bodyPr spcFirstLastPara="1" wrap="square" lIns="0" tIns="0" rIns="0" bIns="0" anchor="t" anchorCtr="0">
            <a:spAutoFit/>
          </a:bodyPr>
          <a:lstStyle/>
          <a:p>
            <a:pPr marL="0" marR="0" lvl="0" indent="0" algn="just" rtl="0">
              <a:lnSpc>
                <a:spcPct val="171000"/>
              </a:lnSpc>
              <a:spcBef>
                <a:spcPts val="0"/>
              </a:spcBef>
              <a:spcAft>
                <a:spcPts val="0"/>
              </a:spcAft>
              <a:buNone/>
            </a:pPr>
            <a:r>
              <a:rPr lang="en-US" sz="2000" dirty="0">
                <a:solidFill>
                  <a:schemeClr val="bg1"/>
                </a:solidFill>
              </a:rPr>
              <a:t>Human Resources Staff with experience in end-to-end recruitment and HR administration.</a:t>
            </a:r>
          </a:p>
          <a:p>
            <a:pPr marL="0" marR="0" lvl="0" indent="0" algn="just" rtl="0">
              <a:lnSpc>
                <a:spcPct val="171000"/>
              </a:lnSpc>
              <a:spcBef>
                <a:spcPts val="0"/>
              </a:spcBef>
              <a:spcAft>
                <a:spcPts val="0"/>
              </a:spcAft>
              <a:buNone/>
            </a:pPr>
            <a:r>
              <a:rPr lang="en-US" sz="2000" dirty="0">
                <a:solidFill>
                  <a:schemeClr val="bg1"/>
                </a:solidFill>
              </a:rPr>
              <a:t>I am experienced in sourcing candidates, handling high-volume CV screening, and supporting recruitment processes through to the onboarding stage. I also have a strong attention to detail in managing data and documentation to ensure recruitment processes run effectively and in an organized manner.</a:t>
            </a:r>
            <a:r>
              <a:rPr lang="id-ID" sz="2000" dirty="0">
                <a:solidFill>
                  <a:schemeClr val="bg1"/>
                </a:solidFill>
              </a:rPr>
              <a:t> </a:t>
            </a:r>
            <a:r>
              <a:rPr lang="en-US" sz="2000" dirty="0">
                <a:solidFill>
                  <a:schemeClr val="bg1"/>
                </a:solidFill>
              </a:rPr>
              <a:t>In addition, I have good communication and coordination skills, allowing me to work well with teams and stakeholders in a dynamic work environment.</a:t>
            </a:r>
          </a:p>
          <a:p>
            <a:pPr marL="0" marR="0" lvl="0" indent="0" algn="just" rtl="0">
              <a:lnSpc>
                <a:spcPct val="171000"/>
              </a:lnSpc>
              <a:spcBef>
                <a:spcPts val="0"/>
              </a:spcBef>
              <a:spcAft>
                <a:spcPts val="0"/>
              </a:spcAft>
              <a:buNone/>
            </a:pPr>
            <a:r>
              <a:rPr lang="en-US" sz="2000" dirty="0">
                <a:solidFill>
                  <a:schemeClr val="bg1"/>
                </a:solidFill>
              </a:rPr>
              <a:t>I am currently open to opportunities in Talent Acquisition, Recruitment, HR Operations, and HR Administration.</a:t>
            </a:r>
          </a:p>
        </p:txBody>
      </p:sp>
      <p:sp>
        <p:nvSpPr>
          <p:cNvPr id="128" name="Google Shape;128;p3"/>
          <p:cNvSpPr txBox="1"/>
          <p:nvPr/>
        </p:nvSpPr>
        <p:spPr>
          <a:xfrm>
            <a:off x="11383991" y="8242517"/>
            <a:ext cx="5945310" cy="51706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00" b="1" dirty="0">
                <a:latin typeface="Montserrat"/>
                <a:sym typeface="Montserrat"/>
              </a:rPr>
              <a:t>Human Resources</a:t>
            </a:r>
            <a:endParaRPr sz="1200" b="1" dirty="0"/>
          </a:p>
        </p:txBody>
      </p:sp>
      <p:sp>
        <p:nvSpPr>
          <p:cNvPr id="130" name="Google Shape;130;p3"/>
          <p:cNvSpPr txBox="1"/>
          <p:nvPr/>
        </p:nvSpPr>
        <p:spPr>
          <a:xfrm>
            <a:off x="14951318" y="184379"/>
            <a:ext cx="933714"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01</a:t>
            </a:r>
            <a:endParaRPr/>
          </a:p>
        </p:txBody>
      </p:sp>
      <p:sp>
        <p:nvSpPr>
          <p:cNvPr id="131" name="Google Shape;131;p3"/>
          <p:cNvSpPr txBox="1"/>
          <p:nvPr/>
        </p:nvSpPr>
        <p:spPr>
          <a:xfrm>
            <a:off x="16148061" y="444697"/>
            <a:ext cx="2717976" cy="714240"/>
          </a:xfrm>
          <a:prstGeom prst="rect">
            <a:avLst/>
          </a:prstGeom>
          <a:noFill/>
          <a:ln>
            <a:noFill/>
          </a:ln>
        </p:spPr>
        <p:txBody>
          <a:bodyPr spcFirstLastPara="1" wrap="square" lIns="0" tIns="0" rIns="0" bIns="0" anchor="t" anchorCtr="0">
            <a:spAutoFit/>
          </a:bodyPr>
          <a:lstStyle/>
          <a:p>
            <a:pPr marL="0" marR="0" lvl="0" indent="0" algn="l" rtl="0">
              <a:lnSpc>
                <a:spcPct val="105015"/>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Identitas</a:t>
            </a:r>
            <a:endParaRPr/>
          </a:p>
          <a:p>
            <a:pPr marL="0" marR="0" lvl="0" indent="0" algn="l" rtl="0">
              <a:lnSpc>
                <a:spcPct val="105015"/>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Diri</a:t>
            </a:r>
            <a:endParaRPr/>
          </a:p>
        </p:txBody>
      </p:sp>
      <p:pic>
        <p:nvPicPr>
          <p:cNvPr id="3" name="Picture 2">
            <a:extLst>
              <a:ext uri="{FF2B5EF4-FFF2-40B4-BE49-F238E27FC236}">
                <a16:creationId xmlns:a16="http://schemas.microsoft.com/office/drawing/2014/main" id="{AB7F723A-9791-468B-AA59-E5D8F4CD32A7}"/>
              </a:ext>
            </a:extLst>
          </p:cNvPr>
          <p:cNvPicPr>
            <a:picLocks noChangeAspect="1"/>
          </p:cNvPicPr>
          <p:nvPr/>
        </p:nvPicPr>
        <p:blipFill>
          <a:blip r:embed="rId3"/>
          <a:stretch>
            <a:fillRect/>
          </a:stretch>
        </p:blipFill>
        <p:spPr>
          <a:xfrm>
            <a:off x="11792392" y="3805404"/>
            <a:ext cx="5128508" cy="4292452"/>
          </a:xfrm>
          <a:prstGeom prst="rect">
            <a:avLst/>
          </a:prstGeom>
        </p:spPr>
      </p:pic>
      <p:grpSp>
        <p:nvGrpSpPr>
          <p:cNvPr id="4" name="Group 3">
            <a:extLst>
              <a:ext uri="{FF2B5EF4-FFF2-40B4-BE49-F238E27FC236}">
                <a16:creationId xmlns:a16="http://schemas.microsoft.com/office/drawing/2014/main" id="{FAF0FA0F-062A-488F-89AA-DBAFD037232F}"/>
              </a:ext>
            </a:extLst>
          </p:cNvPr>
          <p:cNvGrpSpPr/>
          <p:nvPr/>
        </p:nvGrpSpPr>
        <p:grpSpPr>
          <a:xfrm>
            <a:off x="890541" y="1257330"/>
            <a:ext cx="9228819" cy="3050881"/>
            <a:chOff x="890541" y="1283322"/>
            <a:chExt cx="9228819" cy="3050881"/>
          </a:xfrm>
        </p:grpSpPr>
        <p:grpSp>
          <p:nvGrpSpPr>
            <p:cNvPr id="2" name="Group 1">
              <a:extLst>
                <a:ext uri="{FF2B5EF4-FFF2-40B4-BE49-F238E27FC236}">
                  <a16:creationId xmlns:a16="http://schemas.microsoft.com/office/drawing/2014/main" id="{36067F47-7E56-489F-AA14-CED0874BF8B6}"/>
                </a:ext>
              </a:extLst>
            </p:cNvPr>
            <p:cNvGrpSpPr/>
            <p:nvPr/>
          </p:nvGrpSpPr>
          <p:grpSpPr>
            <a:xfrm>
              <a:off x="890541" y="1283322"/>
              <a:ext cx="9228819" cy="2685625"/>
              <a:chOff x="2296045" y="1434727"/>
              <a:chExt cx="9228819" cy="2685625"/>
            </a:xfrm>
          </p:grpSpPr>
          <p:sp>
            <p:nvSpPr>
              <p:cNvPr id="124" name="Google Shape;124;p3"/>
              <p:cNvSpPr txBox="1"/>
              <p:nvPr/>
            </p:nvSpPr>
            <p:spPr>
              <a:xfrm>
                <a:off x="2296045" y="1434727"/>
                <a:ext cx="9228819" cy="2149563"/>
              </a:xfrm>
              <a:prstGeom prst="rect">
                <a:avLst/>
              </a:prstGeom>
              <a:noFill/>
              <a:ln>
                <a:noFill/>
              </a:ln>
            </p:spPr>
            <p:txBody>
              <a:bodyPr spcFirstLastPara="1" wrap="square" lIns="0" tIns="0" rIns="0" bIns="0" anchor="t" anchorCtr="0">
                <a:spAutoFit/>
              </a:bodyPr>
              <a:lstStyle/>
              <a:p>
                <a:pPr marL="0" marR="0" lvl="0" indent="0" algn="l" rtl="0">
                  <a:lnSpc>
                    <a:spcPct val="96999"/>
                  </a:lnSpc>
                  <a:spcBef>
                    <a:spcPts val="0"/>
                  </a:spcBef>
                  <a:spcAft>
                    <a:spcPts val="0"/>
                  </a:spcAft>
                  <a:buNone/>
                </a:pPr>
                <a:r>
                  <a:rPr lang="en-US" sz="7200" b="1" i="0" u="none" strike="noStrike" cap="none" dirty="0">
                    <a:solidFill>
                      <a:srgbClr val="FFFFFF"/>
                    </a:solidFill>
                    <a:latin typeface="Montserrat"/>
                    <a:ea typeface="Montserrat"/>
                    <a:cs typeface="Montserrat"/>
                    <a:sym typeface="Montserrat"/>
                  </a:rPr>
                  <a:t>Hello,</a:t>
                </a:r>
                <a:r>
                  <a:rPr lang="id-ID" sz="7200" b="1" i="0" u="none" strike="noStrike" cap="none" dirty="0">
                    <a:solidFill>
                      <a:srgbClr val="FFFFFF"/>
                    </a:solidFill>
                    <a:latin typeface="Montserrat"/>
                    <a:ea typeface="Montserrat"/>
                    <a:cs typeface="Montserrat"/>
                    <a:sym typeface="Montserrat"/>
                  </a:rPr>
                  <a:t> I </a:t>
                </a:r>
                <a:r>
                  <a:rPr lang="id-ID" sz="7200" b="1" i="0" u="none" strike="noStrike" cap="none" dirty="0" err="1">
                    <a:solidFill>
                      <a:srgbClr val="FFFFFF"/>
                    </a:solidFill>
                    <a:latin typeface="Montserrat"/>
                    <a:ea typeface="Montserrat"/>
                    <a:cs typeface="Montserrat"/>
                    <a:sym typeface="Montserrat"/>
                  </a:rPr>
                  <a:t>am</a:t>
                </a:r>
                <a:r>
                  <a:rPr lang="id-ID" sz="7200" b="1" i="0" u="none" strike="noStrike" cap="none" dirty="0">
                    <a:solidFill>
                      <a:srgbClr val="FFFFFF"/>
                    </a:solidFill>
                    <a:latin typeface="Montserrat"/>
                    <a:ea typeface="Montserrat"/>
                    <a:cs typeface="Montserrat"/>
                    <a:sym typeface="Montserrat"/>
                  </a:rPr>
                  <a:t> </a:t>
                </a:r>
                <a:r>
                  <a:rPr lang="id-ID" sz="7200" b="1" i="0" u="none" strike="noStrike" cap="none" dirty="0" err="1">
                    <a:solidFill>
                      <a:srgbClr val="FFFFFF"/>
                    </a:solidFill>
                    <a:latin typeface="Montserrat"/>
                    <a:ea typeface="Montserrat"/>
                    <a:cs typeface="Montserrat"/>
                    <a:sym typeface="Montserrat"/>
                  </a:rPr>
                  <a:t>Wahyudiansyah</a:t>
                </a:r>
                <a:r>
                  <a:rPr lang="id-ID" sz="7200" b="1" i="0" u="none" strike="noStrike" cap="none" dirty="0">
                    <a:solidFill>
                      <a:srgbClr val="FFFFFF"/>
                    </a:solidFill>
                    <a:latin typeface="Montserrat"/>
                    <a:ea typeface="Montserrat"/>
                    <a:cs typeface="Montserrat"/>
                    <a:sym typeface="Montserrat"/>
                  </a:rPr>
                  <a:t> </a:t>
                </a:r>
                <a:endParaRPr sz="1000" dirty="0"/>
              </a:p>
            </p:txBody>
          </p:sp>
          <p:sp>
            <p:nvSpPr>
              <p:cNvPr id="126" name="Google Shape;126;p3"/>
              <p:cNvSpPr txBox="1"/>
              <p:nvPr/>
            </p:nvSpPr>
            <p:spPr>
              <a:xfrm>
                <a:off x="2296046" y="3603287"/>
                <a:ext cx="4564725"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2400" i="1" dirty="0">
                    <a:solidFill>
                      <a:srgbClr val="FFFFFF"/>
                    </a:solidFill>
                  </a:rPr>
                  <a:t>Bachelor of Communication</a:t>
                </a:r>
                <a:endParaRPr sz="1800" dirty="0"/>
              </a:p>
            </p:txBody>
          </p:sp>
        </p:grpSp>
        <p:sp>
          <p:nvSpPr>
            <p:cNvPr id="18" name="Google Shape;126;p3">
              <a:extLst>
                <a:ext uri="{FF2B5EF4-FFF2-40B4-BE49-F238E27FC236}">
                  <a16:creationId xmlns:a16="http://schemas.microsoft.com/office/drawing/2014/main" id="{E351F6E6-5435-456F-96E4-BE51B5178B73}"/>
                </a:ext>
              </a:extLst>
            </p:cNvPr>
            <p:cNvSpPr txBox="1"/>
            <p:nvPr/>
          </p:nvSpPr>
          <p:spPr>
            <a:xfrm>
              <a:off x="890541" y="3817138"/>
              <a:ext cx="4564725"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2400" dirty="0">
                  <a:solidFill>
                    <a:srgbClr val="FFFFFF"/>
                  </a:solidFill>
                </a:rPr>
                <a:t>Universitas Subang</a:t>
              </a:r>
              <a:endParaRPr sz="18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140"/>
        <p:cNvGrpSpPr/>
        <p:nvPr/>
      </p:nvGrpSpPr>
      <p:grpSpPr>
        <a:xfrm>
          <a:off x="0" y="0"/>
          <a:ext cx="0" cy="0"/>
          <a:chOff x="0" y="0"/>
          <a:chExt cx="0" cy="0"/>
        </a:xfrm>
      </p:grpSpPr>
      <p:grpSp>
        <p:nvGrpSpPr>
          <p:cNvPr id="141" name="Google Shape;141;p4"/>
          <p:cNvGrpSpPr/>
          <p:nvPr/>
        </p:nvGrpSpPr>
        <p:grpSpPr>
          <a:xfrm>
            <a:off x="-38658" y="1012381"/>
            <a:ext cx="18288000" cy="10671511"/>
            <a:chOff x="0" y="-76200"/>
            <a:chExt cx="6020741" cy="3513255"/>
          </a:xfrm>
        </p:grpSpPr>
        <p:sp>
          <p:nvSpPr>
            <p:cNvPr id="142" name="Google Shape;142;p4"/>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4" name="Google Shape;144;p4"/>
          <p:cNvSpPr/>
          <p:nvPr/>
        </p:nvSpPr>
        <p:spPr>
          <a:xfrm>
            <a:off x="1888941" y="651159"/>
            <a:ext cx="1847963" cy="1847963"/>
          </a:xfrm>
          <a:custGeom>
            <a:avLst/>
            <a:gdLst/>
            <a:ahLst/>
            <a:cxnLst/>
            <a:rect l="l" t="t" r="r" b="b"/>
            <a:pathLst>
              <a:path w="1847963" h="1847963" extrusionOk="0">
                <a:moveTo>
                  <a:pt x="0" y="0"/>
                </a:moveTo>
                <a:lnTo>
                  <a:pt x="1847963" y="0"/>
                </a:lnTo>
                <a:lnTo>
                  <a:pt x="1847963" y="1847963"/>
                </a:lnTo>
                <a:lnTo>
                  <a:pt x="0" y="1847963"/>
                </a:lnTo>
                <a:lnTo>
                  <a:pt x="0" y="0"/>
                </a:lnTo>
                <a:close/>
              </a:path>
            </a:pathLst>
          </a:custGeom>
          <a:blipFill rotWithShape="1">
            <a:blip r:embed="rId3">
              <a:alphaModFix/>
            </a:blip>
            <a:stretch>
              <a:fillRect/>
            </a:stretch>
          </a:blipFill>
          <a:ln>
            <a:noFill/>
          </a:ln>
        </p:spPr>
      </p:sp>
      <p:sp>
        <p:nvSpPr>
          <p:cNvPr id="145" name="Google Shape;145;p4"/>
          <p:cNvSpPr txBox="1"/>
          <p:nvPr/>
        </p:nvSpPr>
        <p:spPr>
          <a:xfrm>
            <a:off x="2116241" y="754217"/>
            <a:ext cx="6989101" cy="1269365"/>
          </a:xfrm>
          <a:prstGeom prst="rect">
            <a:avLst/>
          </a:prstGeom>
          <a:noFill/>
          <a:ln>
            <a:noFill/>
          </a:ln>
        </p:spPr>
        <p:txBody>
          <a:bodyPr spcFirstLastPara="1" wrap="square" lIns="0" tIns="0" rIns="0" bIns="0" anchor="t" anchorCtr="0">
            <a:spAutoFit/>
          </a:bodyPr>
          <a:lstStyle/>
          <a:p>
            <a:pPr marL="0" marR="0" lvl="0" indent="0" algn="l" rtl="0">
              <a:lnSpc>
                <a:spcPct val="140005"/>
              </a:lnSpc>
              <a:spcBef>
                <a:spcPts val="0"/>
              </a:spcBef>
              <a:spcAft>
                <a:spcPts val="0"/>
              </a:spcAft>
              <a:buNone/>
            </a:pPr>
            <a:r>
              <a:rPr lang="en-US" sz="7399" b="1" i="0" u="none" strike="noStrike" cap="none">
                <a:solidFill>
                  <a:srgbClr val="191919"/>
                </a:solidFill>
                <a:latin typeface="Montserrat"/>
                <a:ea typeface="Montserrat"/>
                <a:cs typeface="Montserrat"/>
                <a:sym typeface="Montserrat"/>
              </a:rPr>
              <a:t>Experience</a:t>
            </a:r>
            <a:endParaRPr/>
          </a:p>
        </p:txBody>
      </p:sp>
      <p:sp>
        <p:nvSpPr>
          <p:cNvPr id="146" name="Google Shape;146;p4"/>
          <p:cNvSpPr txBox="1"/>
          <p:nvPr/>
        </p:nvSpPr>
        <p:spPr>
          <a:xfrm>
            <a:off x="9715136" y="2622444"/>
            <a:ext cx="6989101" cy="61401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id-ID" sz="2850" b="0" i="0" u="none" strike="noStrike" cap="none" dirty="0">
                <a:solidFill>
                  <a:srgbClr val="191919"/>
                </a:solidFill>
                <a:latin typeface="Arial"/>
                <a:ea typeface="Arial"/>
                <a:cs typeface="Arial"/>
                <a:sym typeface="Arial"/>
              </a:rPr>
              <a:t>HR </a:t>
            </a:r>
            <a:r>
              <a:rPr lang="id-ID" sz="2850" b="0" i="0" u="none" strike="noStrike" cap="none" dirty="0" err="1">
                <a:solidFill>
                  <a:srgbClr val="191919"/>
                </a:solidFill>
                <a:latin typeface="Arial"/>
                <a:ea typeface="Arial"/>
                <a:cs typeface="Arial"/>
                <a:sym typeface="Arial"/>
              </a:rPr>
              <a:t>Operation</a:t>
            </a:r>
            <a:endParaRPr dirty="0"/>
          </a:p>
        </p:txBody>
      </p:sp>
      <p:grpSp>
        <p:nvGrpSpPr>
          <p:cNvPr id="2" name="Group 1">
            <a:extLst>
              <a:ext uri="{FF2B5EF4-FFF2-40B4-BE49-F238E27FC236}">
                <a16:creationId xmlns:a16="http://schemas.microsoft.com/office/drawing/2014/main" id="{01D0B78D-5DA7-45AB-B1F4-55A013CB6BEC}"/>
              </a:ext>
            </a:extLst>
          </p:cNvPr>
          <p:cNvGrpSpPr/>
          <p:nvPr/>
        </p:nvGrpSpPr>
        <p:grpSpPr>
          <a:xfrm>
            <a:off x="922932" y="2680831"/>
            <a:ext cx="8373468" cy="4373651"/>
            <a:chOff x="1116336" y="2632041"/>
            <a:chExt cx="7408852" cy="4373651"/>
          </a:xfrm>
        </p:grpSpPr>
        <p:sp>
          <p:nvSpPr>
            <p:cNvPr id="147" name="Google Shape;147;p4"/>
            <p:cNvSpPr txBox="1"/>
            <p:nvPr/>
          </p:nvSpPr>
          <p:spPr>
            <a:xfrm>
              <a:off x="1181571" y="2632041"/>
              <a:ext cx="5213387" cy="61401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id-ID" sz="2850" b="0" i="0" u="none" strike="noStrike" cap="none" dirty="0">
                  <a:solidFill>
                    <a:srgbClr val="191919"/>
                  </a:solidFill>
                  <a:latin typeface="Arial"/>
                  <a:ea typeface="Arial"/>
                  <a:cs typeface="Arial"/>
                  <a:sym typeface="Arial"/>
                </a:rPr>
                <a:t>HRD</a:t>
              </a:r>
              <a:endParaRPr dirty="0"/>
            </a:p>
          </p:txBody>
        </p:sp>
        <p:sp>
          <p:nvSpPr>
            <p:cNvPr id="148" name="Google Shape;148;p4"/>
            <p:cNvSpPr txBox="1"/>
            <p:nvPr/>
          </p:nvSpPr>
          <p:spPr>
            <a:xfrm>
              <a:off x="1116336" y="3903304"/>
              <a:ext cx="7408852" cy="3102388"/>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1800" b="1" i="0" u="none" strike="noStrike" cap="none" dirty="0">
                  <a:solidFill>
                    <a:srgbClr val="191919"/>
                  </a:solidFill>
                  <a:latin typeface="Montserrat"/>
                  <a:ea typeface="Montserrat"/>
                  <a:cs typeface="Montserrat"/>
                  <a:sym typeface="Montserrat"/>
                </a:rPr>
                <a:t>Job Description:</a:t>
              </a:r>
              <a:endParaRPr sz="1800" dirty="0"/>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Collaborated with hiring managers to define candidate qualifications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Sourced candidates through job portals, LinkedIn, and other platforms to build a strong talent pipeline</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Screened 500+ CVs per week based on role requirements and SLA targets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Coordinated interview schedules and ensured timely recruitment processes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Assisted onboarding process and maintained candidate database using HRIS</a:t>
              </a:r>
              <a:endParaRPr lang="en-US" sz="1800" b="0" i="0" u="none" strike="noStrike" cap="none" dirty="0">
                <a:solidFill>
                  <a:srgbClr val="191919"/>
                </a:solidFill>
                <a:latin typeface="Arial"/>
                <a:ea typeface="Arial"/>
                <a:cs typeface="Arial"/>
                <a:sym typeface="Arial"/>
              </a:endParaRPr>
            </a:p>
            <a:p>
              <a:pPr marL="350911" marR="0" lvl="1" indent="-175454" algn="just" rtl="0">
                <a:lnSpc>
                  <a:spcPct val="140000"/>
                </a:lnSpc>
                <a:spcBef>
                  <a:spcPts val="0"/>
                </a:spcBef>
                <a:spcAft>
                  <a:spcPts val="0"/>
                </a:spcAft>
                <a:buClr>
                  <a:srgbClr val="191919"/>
                </a:buClr>
                <a:buSzPts val="1625"/>
                <a:buFont typeface="Arial"/>
                <a:buChar char="•"/>
              </a:pPr>
              <a:endParaRPr sz="1800" dirty="0"/>
            </a:p>
          </p:txBody>
        </p:sp>
        <p:sp>
          <p:nvSpPr>
            <p:cNvPr id="149" name="Google Shape;149;p4"/>
            <p:cNvSpPr txBox="1"/>
            <p:nvPr/>
          </p:nvSpPr>
          <p:spPr>
            <a:xfrm>
              <a:off x="1181571" y="3214985"/>
              <a:ext cx="6058213" cy="44165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50" b="0" i="1" u="none" strike="noStrike" cap="none" dirty="0">
                  <a:solidFill>
                    <a:srgbClr val="191919"/>
                  </a:solidFill>
                  <a:latin typeface="Arial"/>
                  <a:ea typeface="Arial"/>
                  <a:cs typeface="Arial"/>
                  <a:sym typeface="Arial"/>
                </a:rPr>
                <a:t>PT. </a:t>
              </a:r>
              <a:r>
                <a:rPr lang="id-ID" sz="2050" b="0" i="1" u="none" strike="noStrike" cap="none" dirty="0" err="1">
                  <a:solidFill>
                    <a:srgbClr val="191919"/>
                  </a:solidFill>
                  <a:latin typeface="Arial"/>
                  <a:ea typeface="Arial"/>
                  <a:cs typeface="Arial"/>
                  <a:sym typeface="Arial"/>
                </a:rPr>
                <a:t>Ekno</a:t>
              </a:r>
              <a:r>
                <a:rPr lang="id-ID" sz="2050" b="0" i="1" u="none" strike="noStrike" cap="none" dirty="0">
                  <a:solidFill>
                    <a:srgbClr val="191919"/>
                  </a:solidFill>
                  <a:latin typeface="Arial"/>
                  <a:ea typeface="Arial"/>
                  <a:cs typeface="Arial"/>
                  <a:sym typeface="Arial"/>
                </a:rPr>
                <a:t> </a:t>
              </a:r>
              <a:r>
                <a:rPr lang="id-ID" sz="2050" b="0" i="1" u="none" strike="noStrike" cap="none" dirty="0" err="1">
                  <a:solidFill>
                    <a:srgbClr val="191919"/>
                  </a:solidFill>
                  <a:latin typeface="Arial"/>
                  <a:ea typeface="Arial"/>
                  <a:cs typeface="Arial"/>
                  <a:sym typeface="Arial"/>
                </a:rPr>
                <a:t>Yuag</a:t>
              </a:r>
              <a:r>
                <a:rPr lang="id-ID" sz="2050" b="0" i="1" u="none" strike="noStrike" cap="none" dirty="0">
                  <a:solidFill>
                    <a:srgbClr val="191919"/>
                  </a:solidFill>
                  <a:latin typeface="Arial"/>
                  <a:ea typeface="Arial"/>
                  <a:cs typeface="Arial"/>
                  <a:sym typeface="Arial"/>
                </a:rPr>
                <a:t> Indonesia</a:t>
              </a:r>
              <a:endParaRPr dirty="0"/>
            </a:p>
          </p:txBody>
        </p:sp>
      </p:grpSp>
      <p:sp>
        <p:nvSpPr>
          <p:cNvPr id="151" name="Google Shape;151;p4"/>
          <p:cNvSpPr txBox="1"/>
          <p:nvPr/>
        </p:nvSpPr>
        <p:spPr>
          <a:xfrm>
            <a:off x="9521482" y="2499122"/>
            <a:ext cx="7610953" cy="258532"/>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endParaRPr sz="1200" dirty="0"/>
          </a:p>
        </p:txBody>
      </p:sp>
      <p:sp>
        <p:nvSpPr>
          <p:cNvPr id="152" name="Google Shape;152;p4"/>
          <p:cNvSpPr txBox="1"/>
          <p:nvPr/>
        </p:nvSpPr>
        <p:spPr>
          <a:xfrm>
            <a:off x="9715136" y="3138950"/>
            <a:ext cx="7242828" cy="44165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id-ID" sz="2050" b="0" i="1" u="none" strike="noStrike" cap="none" dirty="0">
                <a:solidFill>
                  <a:srgbClr val="191919"/>
                </a:solidFill>
                <a:latin typeface="Arial"/>
                <a:ea typeface="Arial"/>
                <a:cs typeface="Arial"/>
                <a:sym typeface="Arial"/>
              </a:rPr>
              <a:t>PT. Trans Burger</a:t>
            </a:r>
            <a:endParaRPr dirty="0"/>
          </a:p>
        </p:txBody>
      </p:sp>
      <p:sp>
        <p:nvSpPr>
          <p:cNvPr id="153" name="Google Shape;153;p4"/>
          <p:cNvSpPr txBox="1"/>
          <p:nvPr/>
        </p:nvSpPr>
        <p:spPr>
          <a:xfrm>
            <a:off x="9660830" y="3812066"/>
            <a:ext cx="7097712" cy="422808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i="0" u="none" strike="noStrike" cap="none" dirty="0">
                <a:solidFill>
                  <a:srgbClr val="191919"/>
                </a:solidFill>
                <a:latin typeface="Montserrat"/>
                <a:ea typeface="Montserrat"/>
                <a:cs typeface="Montserrat"/>
                <a:sym typeface="Montserrat"/>
              </a:rPr>
              <a:t>Job Description:</a:t>
            </a:r>
            <a:endParaRPr lang="en-US" sz="1625" b="1" i="0" u="none" strike="noStrike" cap="none" dirty="0">
              <a:solidFill>
                <a:srgbClr val="191919"/>
              </a:solidFill>
              <a:latin typeface="Montserrat"/>
              <a:ea typeface="Montserrat"/>
              <a:cs typeface="Montserrat"/>
              <a:sym typeface="Montserrat"/>
            </a:endParaRP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Assisted in promoting registration through social media and distributing promotional materials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Supported the initial selection process by verifying participant data and managing registration records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Assisted in organizing orientation sessions and supporting selected participants</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Managed administrative tasks and logistical needs to support program implementation</a:t>
            </a:r>
          </a:p>
          <a:p>
            <a:pPr marL="350911" marR="0" lvl="1" indent="-175454" algn="just" rtl="0">
              <a:lnSpc>
                <a:spcPct val="140000"/>
              </a:lnSpc>
              <a:spcBef>
                <a:spcPts val="0"/>
              </a:spcBef>
              <a:spcAft>
                <a:spcPts val="0"/>
              </a:spcAft>
              <a:buClr>
                <a:srgbClr val="191919"/>
              </a:buClr>
              <a:buSzPts val="1625"/>
              <a:buFont typeface="Arial"/>
              <a:buChar char="•"/>
            </a:pPr>
            <a:r>
              <a:rPr lang="en-US" sz="1800" dirty="0">
                <a:effectLst/>
                <a:latin typeface="Arial" panose="020B0604020202020204" pitchFamily="34" charset="0"/>
                <a:ea typeface="Calibri" panose="020F0502020204030204" pitchFamily="34" charset="0"/>
              </a:rPr>
              <a:t>Created content and publications to increase program awareness and audience engagement</a:t>
            </a:r>
            <a:endParaRPr lang="en-US" sz="1625" b="0" i="0" u="none" strike="noStrike" cap="none" dirty="0">
              <a:solidFill>
                <a:srgbClr val="19191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161"/>
        <p:cNvGrpSpPr/>
        <p:nvPr/>
      </p:nvGrpSpPr>
      <p:grpSpPr>
        <a:xfrm>
          <a:off x="0" y="0"/>
          <a:ext cx="0" cy="0"/>
          <a:chOff x="0" y="0"/>
          <a:chExt cx="0" cy="0"/>
        </a:xfrm>
      </p:grpSpPr>
      <p:grpSp>
        <p:nvGrpSpPr>
          <p:cNvPr id="162" name="Google Shape;162;p5"/>
          <p:cNvGrpSpPr/>
          <p:nvPr/>
        </p:nvGrpSpPr>
        <p:grpSpPr>
          <a:xfrm>
            <a:off x="13845525" y="-1638139"/>
            <a:ext cx="6126305" cy="3493908"/>
            <a:chOff x="0" y="-57150"/>
            <a:chExt cx="812800" cy="463550"/>
          </a:xfrm>
        </p:grpSpPr>
        <p:sp>
          <p:nvSpPr>
            <p:cNvPr id="163" name="Google Shape;163;p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5" name="Google Shape;165;p5"/>
          <p:cNvGrpSpPr/>
          <p:nvPr/>
        </p:nvGrpSpPr>
        <p:grpSpPr>
          <a:xfrm>
            <a:off x="0" y="1273294"/>
            <a:ext cx="18288000" cy="10671511"/>
            <a:chOff x="0" y="-76200"/>
            <a:chExt cx="6020741" cy="3513255"/>
          </a:xfrm>
        </p:grpSpPr>
        <p:sp>
          <p:nvSpPr>
            <p:cNvPr id="166" name="Google Shape;166;p5"/>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9" name="Google Shape;169;p5"/>
          <p:cNvSpPr txBox="1"/>
          <p:nvPr/>
        </p:nvSpPr>
        <p:spPr>
          <a:xfrm>
            <a:off x="14806393" y="200368"/>
            <a:ext cx="1047513" cy="1072926"/>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02</a:t>
            </a:r>
            <a:endParaRPr/>
          </a:p>
        </p:txBody>
      </p:sp>
      <p:sp>
        <p:nvSpPr>
          <p:cNvPr id="170" name="Google Shape;170;p5"/>
          <p:cNvSpPr txBox="1"/>
          <p:nvPr/>
        </p:nvSpPr>
        <p:spPr>
          <a:xfrm>
            <a:off x="16079736" y="460752"/>
            <a:ext cx="1849865" cy="714240"/>
          </a:xfrm>
          <a:prstGeom prst="rect">
            <a:avLst/>
          </a:prstGeom>
          <a:noFill/>
          <a:ln>
            <a:noFill/>
          </a:ln>
        </p:spPr>
        <p:txBody>
          <a:bodyPr spcFirstLastPara="1" wrap="square" lIns="0" tIns="0" rIns="0" bIns="0" anchor="t" anchorCtr="0">
            <a:spAutoFit/>
          </a:bodyPr>
          <a:lstStyle/>
          <a:p>
            <a:pPr marL="0" marR="0" lvl="0" indent="0" algn="l" rtl="0">
              <a:lnSpc>
                <a:spcPct val="105015"/>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Skill &amp; Sertifikasi</a:t>
            </a:r>
            <a:endParaRPr/>
          </a:p>
        </p:txBody>
      </p:sp>
      <p:pic>
        <p:nvPicPr>
          <p:cNvPr id="4" name="Picture 3">
            <a:extLst>
              <a:ext uri="{FF2B5EF4-FFF2-40B4-BE49-F238E27FC236}">
                <a16:creationId xmlns:a16="http://schemas.microsoft.com/office/drawing/2014/main" id="{3B82076C-A61F-4742-9685-C6A35FB46C41}"/>
              </a:ext>
            </a:extLst>
          </p:cNvPr>
          <p:cNvPicPr>
            <a:picLocks noChangeAspect="1"/>
          </p:cNvPicPr>
          <p:nvPr/>
        </p:nvPicPr>
        <p:blipFill>
          <a:blip r:embed="rId3"/>
          <a:stretch>
            <a:fillRect/>
          </a:stretch>
        </p:blipFill>
        <p:spPr>
          <a:xfrm>
            <a:off x="747491" y="6236810"/>
            <a:ext cx="5468233" cy="3633290"/>
          </a:xfrm>
          <a:prstGeom prst="rect">
            <a:avLst/>
          </a:prstGeom>
        </p:spPr>
      </p:pic>
      <p:pic>
        <p:nvPicPr>
          <p:cNvPr id="6" name="Picture 5">
            <a:extLst>
              <a:ext uri="{FF2B5EF4-FFF2-40B4-BE49-F238E27FC236}">
                <a16:creationId xmlns:a16="http://schemas.microsoft.com/office/drawing/2014/main" id="{2C78EB47-37C4-4DEE-885F-627364C8C242}"/>
              </a:ext>
            </a:extLst>
          </p:cNvPr>
          <p:cNvPicPr>
            <a:picLocks noChangeAspect="1"/>
          </p:cNvPicPr>
          <p:nvPr/>
        </p:nvPicPr>
        <p:blipFill>
          <a:blip r:embed="rId4"/>
          <a:stretch>
            <a:fillRect/>
          </a:stretch>
        </p:blipFill>
        <p:spPr>
          <a:xfrm>
            <a:off x="6409883" y="6260484"/>
            <a:ext cx="5468233" cy="3609616"/>
          </a:xfrm>
          <a:prstGeom prst="rect">
            <a:avLst/>
          </a:prstGeom>
        </p:spPr>
      </p:pic>
      <p:pic>
        <p:nvPicPr>
          <p:cNvPr id="8" name="Picture 7">
            <a:extLst>
              <a:ext uri="{FF2B5EF4-FFF2-40B4-BE49-F238E27FC236}">
                <a16:creationId xmlns:a16="http://schemas.microsoft.com/office/drawing/2014/main" id="{1CE29FBA-E70E-4AA8-BA45-CE83649C7669}"/>
              </a:ext>
            </a:extLst>
          </p:cNvPr>
          <p:cNvPicPr>
            <a:picLocks noChangeAspect="1"/>
          </p:cNvPicPr>
          <p:nvPr/>
        </p:nvPicPr>
        <p:blipFill>
          <a:blip r:embed="rId5"/>
          <a:stretch>
            <a:fillRect/>
          </a:stretch>
        </p:blipFill>
        <p:spPr>
          <a:xfrm>
            <a:off x="12072276" y="6236810"/>
            <a:ext cx="5468233" cy="3609978"/>
          </a:xfrm>
          <a:prstGeom prst="rect">
            <a:avLst/>
          </a:prstGeom>
        </p:spPr>
      </p:pic>
      <p:pic>
        <p:nvPicPr>
          <p:cNvPr id="10" name="Picture 9">
            <a:extLst>
              <a:ext uri="{FF2B5EF4-FFF2-40B4-BE49-F238E27FC236}">
                <a16:creationId xmlns:a16="http://schemas.microsoft.com/office/drawing/2014/main" id="{6D3EC2AB-C4F1-4AD9-B078-BC5816E44E7A}"/>
              </a:ext>
            </a:extLst>
          </p:cNvPr>
          <p:cNvPicPr>
            <a:picLocks noChangeAspect="1"/>
          </p:cNvPicPr>
          <p:nvPr/>
        </p:nvPicPr>
        <p:blipFill>
          <a:blip r:embed="rId6"/>
          <a:stretch>
            <a:fillRect/>
          </a:stretch>
        </p:blipFill>
        <p:spPr>
          <a:xfrm>
            <a:off x="12072276" y="2247919"/>
            <a:ext cx="5468233" cy="3782568"/>
          </a:xfrm>
          <a:prstGeom prst="rect">
            <a:avLst/>
          </a:prstGeom>
        </p:spPr>
      </p:pic>
      <p:pic>
        <p:nvPicPr>
          <p:cNvPr id="12" name="Picture 11">
            <a:extLst>
              <a:ext uri="{FF2B5EF4-FFF2-40B4-BE49-F238E27FC236}">
                <a16:creationId xmlns:a16="http://schemas.microsoft.com/office/drawing/2014/main" id="{E6F63746-89DE-4758-A12C-E427772B5DE8}"/>
              </a:ext>
            </a:extLst>
          </p:cNvPr>
          <p:cNvPicPr>
            <a:picLocks noChangeAspect="1"/>
          </p:cNvPicPr>
          <p:nvPr/>
        </p:nvPicPr>
        <p:blipFill>
          <a:blip r:embed="rId7"/>
          <a:stretch>
            <a:fillRect/>
          </a:stretch>
        </p:blipFill>
        <p:spPr>
          <a:xfrm>
            <a:off x="6409882" y="2247919"/>
            <a:ext cx="5468233" cy="3782568"/>
          </a:xfrm>
          <a:prstGeom prst="rect">
            <a:avLst/>
          </a:prstGeom>
        </p:spPr>
      </p:pic>
      <p:pic>
        <p:nvPicPr>
          <p:cNvPr id="14" name="Picture 13">
            <a:extLst>
              <a:ext uri="{FF2B5EF4-FFF2-40B4-BE49-F238E27FC236}">
                <a16:creationId xmlns:a16="http://schemas.microsoft.com/office/drawing/2014/main" id="{FA48681C-6D18-4981-8889-8FCBAFEBDE6C}"/>
              </a:ext>
            </a:extLst>
          </p:cNvPr>
          <p:cNvPicPr>
            <a:picLocks noChangeAspect="1"/>
          </p:cNvPicPr>
          <p:nvPr/>
        </p:nvPicPr>
        <p:blipFill>
          <a:blip r:embed="rId8"/>
          <a:stretch>
            <a:fillRect/>
          </a:stretch>
        </p:blipFill>
        <p:spPr>
          <a:xfrm>
            <a:off x="747492" y="2247918"/>
            <a:ext cx="5468230" cy="37825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196"/>
        <p:cNvGrpSpPr/>
        <p:nvPr/>
      </p:nvGrpSpPr>
      <p:grpSpPr>
        <a:xfrm>
          <a:off x="0" y="0"/>
          <a:ext cx="0" cy="0"/>
          <a:chOff x="0" y="0"/>
          <a:chExt cx="0" cy="0"/>
        </a:xfrm>
      </p:grpSpPr>
      <p:grpSp>
        <p:nvGrpSpPr>
          <p:cNvPr id="197" name="Google Shape;197;p7"/>
          <p:cNvGrpSpPr/>
          <p:nvPr/>
        </p:nvGrpSpPr>
        <p:grpSpPr>
          <a:xfrm>
            <a:off x="0" y="1310580"/>
            <a:ext cx="18288000" cy="10671511"/>
            <a:chOff x="0" y="-76200"/>
            <a:chExt cx="6020741" cy="3513255"/>
          </a:xfrm>
        </p:grpSpPr>
        <p:sp>
          <p:nvSpPr>
            <p:cNvPr id="198" name="Google Shape;198;p7"/>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0" name="Google Shape;200;p7"/>
          <p:cNvSpPr/>
          <p:nvPr/>
        </p:nvSpPr>
        <p:spPr>
          <a:xfrm>
            <a:off x="596330" y="1689218"/>
            <a:ext cx="1847963" cy="1847963"/>
          </a:xfrm>
          <a:custGeom>
            <a:avLst/>
            <a:gdLst/>
            <a:ahLst/>
            <a:cxnLst/>
            <a:rect l="l" t="t" r="r" b="b"/>
            <a:pathLst>
              <a:path w="1847963" h="1847963" extrusionOk="0">
                <a:moveTo>
                  <a:pt x="0" y="0"/>
                </a:moveTo>
                <a:lnTo>
                  <a:pt x="1847964" y="0"/>
                </a:lnTo>
                <a:lnTo>
                  <a:pt x="1847964" y="1847963"/>
                </a:lnTo>
                <a:lnTo>
                  <a:pt x="0" y="1847963"/>
                </a:lnTo>
                <a:lnTo>
                  <a:pt x="0" y="0"/>
                </a:lnTo>
                <a:close/>
              </a:path>
            </a:pathLst>
          </a:custGeom>
          <a:blipFill rotWithShape="1">
            <a:blip r:embed="rId3">
              <a:alphaModFix/>
            </a:blip>
            <a:stretch>
              <a:fillRect/>
            </a:stretch>
          </a:blipFill>
          <a:ln>
            <a:noFill/>
          </a:ln>
        </p:spPr>
      </p:sp>
      <p:sp>
        <p:nvSpPr>
          <p:cNvPr id="202" name="Google Shape;202;p7"/>
          <p:cNvSpPr txBox="1"/>
          <p:nvPr/>
        </p:nvSpPr>
        <p:spPr>
          <a:xfrm>
            <a:off x="913973" y="2103823"/>
            <a:ext cx="4174739" cy="1643816"/>
          </a:xfrm>
          <a:prstGeom prst="rect">
            <a:avLst/>
          </a:prstGeom>
          <a:noFill/>
          <a:ln>
            <a:noFill/>
          </a:ln>
        </p:spPr>
        <p:txBody>
          <a:bodyPr spcFirstLastPara="1" wrap="square" lIns="0" tIns="0" rIns="0" bIns="0" anchor="t" anchorCtr="0">
            <a:spAutoFit/>
          </a:bodyPr>
          <a:lstStyle/>
          <a:p>
            <a:pPr marL="0" marR="0" lvl="0" indent="0" algn="l" rtl="0">
              <a:lnSpc>
                <a:spcPct val="103009"/>
              </a:lnSpc>
              <a:spcBef>
                <a:spcPts val="0"/>
              </a:spcBef>
              <a:spcAft>
                <a:spcPts val="0"/>
              </a:spcAft>
              <a:buNone/>
            </a:pPr>
            <a:r>
              <a:rPr lang="en-US" sz="6214" b="1" i="0" u="none" strike="noStrike" cap="none" dirty="0">
                <a:solidFill>
                  <a:srgbClr val="000000"/>
                </a:solidFill>
                <a:latin typeface="Arial"/>
                <a:ea typeface="Arial"/>
                <a:cs typeface="Arial"/>
                <a:sym typeface="Arial"/>
              </a:rPr>
              <a:t>About </a:t>
            </a:r>
            <a:r>
              <a:rPr lang="en-US" sz="6214" b="0" i="0" u="none" strike="noStrike" cap="none" dirty="0">
                <a:solidFill>
                  <a:srgbClr val="000000"/>
                </a:solidFill>
                <a:latin typeface="Arial"/>
                <a:ea typeface="Arial"/>
                <a:cs typeface="Arial"/>
                <a:sym typeface="Arial"/>
              </a:rPr>
              <a:t>Company</a:t>
            </a:r>
            <a:endParaRPr dirty="0"/>
          </a:p>
        </p:txBody>
      </p:sp>
      <p:sp>
        <p:nvSpPr>
          <p:cNvPr id="203" name="Google Shape;203;p7"/>
          <p:cNvSpPr txBox="1"/>
          <p:nvPr/>
        </p:nvSpPr>
        <p:spPr>
          <a:xfrm>
            <a:off x="913973" y="4162244"/>
            <a:ext cx="9799320" cy="5539978"/>
          </a:xfrm>
          <a:prstGeom prst="rect">
            <a:avLst/>
          </a:prstGeom>
          <a:noFill/>
          <a:ln>
            <a:noFill/>
          </a:ln>
        </p:spPr>
        <p:txBody>
          <a:bodyPr spcFirstLastPara="1" wrap="square" lIns="0" tIns="0" rIns="0" bIns="0" anchor="t" anchorCtr="0">
            <a:spAutoFit/>
          </a:bodyPr>
          <a:lstStyle/>
          <a:p>
            <a:pPr algn="just"/>
            <a:r>
              <a:rPr lang="en-US" sz="2400" i="0" dirty="0">
                <a:solidFill>
                  <a:srgbClr val="000000"/>
                </a:solidFill>
                <a:effectLst/>
                <a:latin typeface="+mj-lt"/>
              </a:rPr>
              <a:t>PT </a:t>
            </a:r>
            <a:r>
              <a:rPr lang="en-US" sz="2400" i="0" dirty="0" err="1">
                <a:solidFill>
                  <a:srgbClr val="000000"/>
                </a:solidFill>
                <a:effectLst/>
                <a:latin typeface="+mj-lt"/>
              </a:rPr>
              <a:t>Greshindo</a:t>
            </a:r>
            <a:r>
              <a:rPr lang="en-US" sz="2400" i="0" dirty="0">
                <a:solidFill>
                  <a:srgbClr val="000000"/>
                </a:solidFill>
                <a:effectLst/>
                <a:latin typeface="+mj-lt"/>
              </a:rPr>
              <a:t> Aroma is a Fast-Moving Consumer Goods (FMCG) company based in Pantai Indah </a:t>
            </a:r>
            <a:r>
              <a:rPr lang="en-US" sz="2400" i="0" dirty="0" err="1">
                <a:solidFill>
                  <a:srgbClr val="000000"/>
                </a:solidFill>
                <a:effectLst/>
                <a:latin typeface="+mj-lt"/>
              </a:rPr>
              <a:t>Kapuk</a:t>
            </a:r>
            <a:r>
              <a:rPr lang="en-US" sz="2400" i="0" dirty="0">
                <a:solidFill>
                  <a:srgbClr val="000000"/>
                </a:solidFill>
                <a:effectLst/>
                <a:latin typeface="+mj-lt"/>
              </a:rPr>
              <a:t>, North Jakarta, Indonesia, established in 2003, focusing on the production and distribution of packaged beverages, including fruit juice products with nata de coco that are distributed nationwide across Indonesia, and is one of the clients of PT Persona </a:t>
            </a:r>
            <a:r>
              <a:rPr lang="en-US" sz="2400" i="0" dirty="0" err="1">
                <a:solidFill>
                  <a:srgbClr val="000000"/>
                </a:solidFill>
                <a:effectLst/>
                <a:latin typeface="+mj-lt"/>
              </a:rPr>
              <a:t>Analitika</a:t>
            </a:r>
            <a:r>
              <a:rPr lang="en-US" sz="2400" i="0" dirty="0">
                <a:solidFill>
                  <a:srgbClr val="000000"/>
                </a:solidFill>
                <a:effectLst/>
                <a:latin typeface="+mj-lt"/>
              </a:rPr>
              <a:t> Asia in recruitment projects.</a:t>
            </a:r>
            <a:r>
              <a:rPr lang="en-US" sz="2400" dirty="0">
                <a:latin typeface="+mj-lt"/>
              </a:rPr>
              <a:t> with key products such as:</a:t>
            </a:r>
            <a:endParaRPr lang="en-US" sz="2400" b="0" i="0" dirty="0">
              <a:solidFill>
                <a:srgbClr val="000000"/>
              </a:solidFill>
              <a:effectLst/>
              <a:latin typeface="+mj-lt"/>
            </a:endParaRPr>
          </a:p>
          <a:p>
            <a:pPr algn="just" rtl="0"/>
            <a:endParaRPr lang="en-US" sz="2400" b="1" i="0" dirty="0">
              <a:solidFill>
                <a:srgbClr val="000000"/>
              </a:solidFill>
              <a:effectLst/>
            </a:endParaRPr>
          </a:p>
          <a:p>
            <a:pPr algn="just" rtl="0"/>
            <a:r>
              <a:rPr lang="en-US" sz="2400" b="1" i="0" dirty="0" err="1">
                <a:solidFill>
                  <a:srgbClr val="000000"/>
                </a:solidFill>
                <a:effectLst/>
              </a:rPr>
              <a:t>Puru</a:t>
            </a:r>
            <a:r>
              <a:rPr lang="en-US" sz="2400" b="1" i="0" dirty="0">
                <a:solidFill>
                  <a:srgbClr val="000000"/>
                </a:solidFill>
                <a:effectLst/>
              </a:rPr>
              <a:t> </a:t>
            </a:r>
            <a:r>
              <a:rPr lang="en-US" sz="2400" b="1" i="0" dirty="0" err="1">
                <a:solidFill>
                  <a:srgbClr val="000000"/>
                </a:solidFill>
                <a:effectLst/>
              </a:rPr>
              <a:t>Puru</a:t>
            </a:r>
            <a:r>
              <a:rPr lang="en-US" sz="2400" b="1" i="0" dirty="0">
                <a:solidFill>
                  <a:srgbClr val="000000"/>
                </a:solidFill>
                <a:effectLst/>
              </a:rPr>
              <a:t> Ko~</a:t>
            </a:r>
            <a:endParaRPr lang="en-US" sz="2400" b="1" dirty="0">
              <a:effectLst/>
            </a:endParaRPr>
          </a:p>
          <a:p>
            <a:pPr marL="457200" lvl="1" algn="just" rtl="0"/>
            <a:r>
              <a:rPr lang="en-US" sz="2400" b="0" i="0" dirty="0">
                <a:solidFill>
                  <a:srgbClr val="000000"/>
                </a:solidFill>
                <a:effectLst/>
              </a:rPr>
              <a:t>a fruit juice drink with nata de coco available in flavors like orange, grape, mango, and lychee.</a:t>
            </a:r>
            <a:endParaRPr lang="en-US" sz="2400" dirty="0">
              <a:effectLst/>
            </a:endParaRPr>
          </a:p>
          <a:p>
            <a:pPr algn="just" rtl="0"/>
            <a:r>
              <a:rPr lang="en-US" sz="2400" b="1" i="0" dirty="0" err="1">
                <a:solidFill>
                  <a:srgbClr val="000000"/>
                </a:solidFill>
                <a:effectLst/>
              </a:rPr>
              <a:t>Gresh</a:t>
            </a:r>
            <a:endParaRPr lang="en-US" sz="2400" b="1" dirty="0">
              <a:effectLst/>
            </a:endParaRPr>
          </a:p>
          <a:p>
            <a:pPr marL="457200" lvl="1" algn="just" rtl="0"/>
            <a:r>
              <a:rPr lang="en-US" sz="2400" b="0" i="0" dirty="0">
                <a:solidFill>
                  <a:srgbClr val="000000"/>
                </a:solidFill>
                <a:effectLst/>
              </a:rPr>
              <a:t>a signature orange juice product known for its tagline</a:t>
            </a:r>
            <a:endParaRPr lang="en-US" sz="2400" dirty="0">
              <a:effectLst/>
            </a:endParaRPr>
          </a:p>
          <a:p>
            <a:pPr marL="457200" lvl="1" algn="just" rtl="0"/>
            <a:r>
              <a:rPr lang="en-US" sz="2400" b="0" i="0" dirty="0">
                <a:solidFill>
                  <a:srgbClr val="000000"/>
                </a:solidFill>
                <a:effectLst/>
              </a:rPr>
              <a:t>"</a:t>
            </a:r>
            <a:r>
              <a:rPr lang="en-US" sz="2400" b="0" i="0" dirty="0" err="1">
                <a:solidFill>
                  <a:srgbClr val="000000"/>
                </a:solidFill>
                <a:effectLst/>
              </a:rPr>
              <a:t>Gresh</a:t>
            </a:r>
            <a:r>
              <a:rPr lang="en-US" sz="2400" b="0" i="0" dirty="0">
                <a:solidFill>
                  <a:srgbClr val="000000"/>
                </a:solidFill>
                <a:effectLst/>
              </a:rPr>
              <a:t>, </a:t>
            </a:r>
            <a:r>
              <a:rPr lang="en-US" sz="2400" b="0" i="0" dirty="0" err="1">
                <a:solidFill>
                  <a:srgbClr val="000000"/>
                </a:solidFill>
                <a:effectLst/>
              </a:rPr>
              <a:t>Lebih</a:t>
            </a:r>
            <a:r>
              <a:rPr lang="en-US" sz="2400" b="0" i="0" dirty="0">
                <a:solidFill>
                  <a:srgbClr val="000000"/>
                </a:solidFill>
                <a:effectLst/>
              </a:rPr>
              <a:t> </a:t>
            </a:r>
            <a:r>
              <a:rPr lang="en-US" sz="2400" b="0" i="0" dirty="0" err="1">
                <a:solidFill>
                  <a:srgbClr val="000000"/>
                </a:solidFill>
                <a:effectLst/>
              </a:rPr>
              <a:t>Jeruk</a:t>
            </a:r>
            <a:r>
              <a:rPr lang="en-US" sz="2400" b="0" i="0" dirty="0">
                <a:solidFill>
                  <a:srgbClr val="000000"/>
                </a:solidFill>
                <a:effectLst/>
              </a:rPr>
              <a:t>, </a:t>
            </a:r>
            <a:r>
              <a:rPr lang="en-US" sz="2400" b="0" i="0" dirty="0" err="1">
                <a:solidFill>
                  <a:srgbClr val="000000"/>
                </a:solidFill>
                <a:effectLst/>
              </a:rPr>
              <a:t>Lebih</a:t>
            </a:r>
            <a:r>
              <a:rPr lang="en-US" sz="2400" b="0" i="0" dirty="0">
                <a:solidFill>
                  <a:srgbClr val="000000"/>
                </a:solidFill>
                <a:effectLst/>
              </a:rPr>
              <a:t> </a:t>
            </a:r>
            <a:r>
              <a:rPr lang="en-US" sz="2400" b="0" i="0" dirty="0" err="1">
                <a:solidFill>
                  <a:srgbClr val="000000"/>
                </a:solidFill>
                <a:effectLst/>
              </a:rPr>
              <a:t>Memasyarakat</a:t>
            </a:r>
            <a:r>
              <a:rPr lang="en-US" sz="2400" b="0" i="0" dirty="0">
                <a:solidFill>
                  <a:srgbClr val="000000"/>
                </a:solidFill>
                <a:effectLst/>
              </a:rPr>
              <a:t>."</a:t>
            </a:r>
            <a:endParaRPr lang="en-US" sz="2400" dirty="0">
              <a:effectLst/>
            </a:endParaRPr>
          </a:p>
          <a:p>
            <a:pPr algn="just"/>
            <a:endParaRPr lang="en-US" sz="2400" dirty="0">
              <a:solidFill>
                <a:srgbClr val="000000"/>
              </a:solidFill>
              <a:effectLst/>
              <a:latin typeface="+mj-lt"/>
            </a:endParaRPr>
          </a:p>
        </p:txBody>
      </p:sp>
      <p:grpSp>
        <p:nvGrpSpPr>
          <p:cNvPr id="205" name="Google Shape;205;p7"/>
          <p:cNvGrpSpPr/>
          <p:nvPr/>
        </p:nvGrpSpPr>
        <p:grpSpPr>
          <a:xfrm>
            <a:off x="13226149" y="-1408183"/>
            <a:ext cx="6126305" cy="3493908"/>
            <a:chOff x="0" y="-57150"/>
            <a:chExt cx="812800" cy="463550"/>
          </a:xfrm>
        </p:grpSpPr>
        <p:sp>
          <p:nvSpPr>
            <p:cNvPr id="206" name="Google Shape;206;p7"/>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8" name="Google Shape;208;p7"/>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09" name="Google Shape;209;p7"/>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pic>
        <p:nvPicPr>
          <p:cNvPr id="4" name="Picture 3">
            <a:extLst>
              <a:ext uri="{FF2B5EF4-FFF2-40B4-BE49-F238E27FC236}">
                <a16:creationId xmlns:a16="http://schemas.microsoft.com/office/drawing/2014/main" id="{367F5B35-69B1-49FC-A6BF-215AC7AD5893}"/>
              </a:ext>
            </a:extLst>
          </p:cNvPr>
          <p:cNvPicPr>
            <a:picLocks noChangeAspect="1"/>
          </p:cNvPicPr>
          <p:nvPr/>
        </p:nvPicPr>
        <p:blipFill>
          <a:blip r:embed="rId4"/>
          <a:stretch>
            <a:fillRect/>
          </a:stretch>
        </p:blipFill>
        <p:spPr>
          <a:xfrm>
            <a:off x="11506340" y="3412368"/>
            <a:ext cx="5402580" cy="540258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213"/>
        <p:cNvGrpSpPr/>
        <p:nvPr/>
      </p:nvGrpSpPr>
      <p:grpSpPr>
        <a:xfrm>
          <a:off x="0" y="0"/>
          <a:ext cx="0" cy="0"/>
          <a:chOff x="0" y="0"/>
          <a:chExt cx="0" cy="0"/>
        </a:xfrm>
      </p:grpSpPr>
      <p:grpSp>
        <p:nvGrpSpPr>
          <p:cNvPr id="214" name="Google Shape;214;p8"/>
          <p:cNvGrpSpPr/>
          <p:nvPr/>
        </p:nvGrpSpPr>
        <p:grpSpPr>
          <a:xfrm>
            <a:off x="0" y="1311487"/>
            <a:ext cx="18288000" cy="10671511"/>
            <a:chOff x="0" y="-76200"/>
            <a:chExt cx="6020741" cy="3513255"/>
          </a:xfrm>
        </p:grpSpPr>
        <p:sp>
          <p:nvSpPr>
            <p:cNvPr id="215" name="Google Shape;215;p8"/>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17" name="Google Shape;217;p8"/>
          <p:cNvSpPr txBox="1"/>
          <p:nvPr/>
        </p:nvSpPr>
        <p:spPr>
          <a:xfrm>
            <a:off x="1028700" y="500174"/>
            <a:ext cx="10062555" cy="713913"/>
          </a:xfrm>
          <a:prstGeom prst="rect">
            <a:avLst/>
          </a:prstGeom>
          <a:noFill/>
          <a:ln>
            <a:noFill/>
          </a:ln>
        </p:spPr>
        <p:txBody>
          <a:bodyPr spcFirstLastPara="1" wrap="square" lIns="0" tIns="0" rIns="0" bIns="0" anchor="t" anchorCtr="0">
            <a:spAutoFit/>
          </a:bodyPr>
          <a:lstStyle/>
          <a:p>
            <a:pPr marL="0" marR="0" lvl="0" indent="0" algn="l" rtl="0">
              <a:lnSpc>
                <a:spcPct val="102997"/>
              </a:lnSpc>
              <a:spcBef>
                <a:spcPts val="0"/>
              </a:spcBef>
              <a:spcAft>
                <a:spcPts val="0"/>
              </a:spcAft>
              <a:buNone/>
            </a:pPr>
            <a:r>
              <a:rPr lang="en-US" sz="4504" b="1" i="0" u="none" strike="noStrike" cap="none" dirty="0">
                <a:solidFill>
                  <a:srgbClr val="FFFFFF"/>
                </a:solidFill>
                <a:latin typeface="Arial"/>
                <a:ea typeface="Arial"/>
                <a:cs typeface="Arial"/>
                <a:sym typeface="Arial"/>
              </a:rPr>
              <a:t>Job </a:t>
            </a:r>
            <a:r>
              <a:rPr lang="en-US" sz="4504" b="1" i="0" u="none" strike="noStrike" cap="none" dirty="0" err="1">
                <a:solidFill>
                  <a:srgbClr val="FFFFFF"/>
                </a:solidFill>
                <a:latin typeface="Arial"/>
                <a:ea typeface="Arial"/>
                <a:cs typeface="Arial"/>
                <a:sym typeface="Arial"/>
              </a:rPr>
              <a:t>Desriptio</a:t>
            </a:r>
            <a:r>
              <a:rPr lang="id-ID" sz="4504" b="1" i="0" u="none" strike="noStrike" cap="none" dirty="0">
                <a:solidFill>
                  <a:srgbClr val="FFFFFF"/>
                </a:solidFill>
                <a:latin typeface="Arial"/>
                <a:ea typeface="Arial"/>
                <a:cs typeface="Arial"/>
                <a:sym typeface="Arial"/>
              </a:rPr>
              <a:t>n</a:t>
            </a:r>
            <a:endParaRPr dirty="0"/>
          </a:p>
        </p:txBody>
      </p:sp>
      <p:grpSp>
        <p:nvGrpSpPr>
          <p:cNvPr id="218" name="Google Shape;218;p8"/>
          <p:cNvGrpSpPr/>
          <p:nvPr/>
        </p:nvGrpSpPr>
        <p:grpSpPr>
          <a:xfrm>
            <a:off x="1028700" y="3364815"/>
            <a:ext cx="7771814" cy="5428957"/>
            <a:chOff x="0" y="0"/>
            <a:chExt cx="2046897" cy="1429849"/>
          </a:xfrm>
        </p:grpSpPr>
        <p:sp>
          <p:nvSpPr>
            <p:cNvPr id="219" name="Google Shape;219;p8"/>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20" name="Google Shape;220;p8"/>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1" name="Google Shape;221;p8"/>
          <p:cNvSpPr txBox="1"/>
          <p:nvPr/>
        </p:nvSpPr>
        <p:spPr>
          <a:xfrm>
            <a:off x="1197835" y="3473311"/>
            <a:ext cx="7488965" cy="5318379"/>
          </a:xfrm>
          <a:prstGeom prst="rect">
            <a:avLst/>
          </a:prstGeom>
          <a:noFill/>
          <a:ln>
            <a:noFill/>
          </a:ln>
        </p:spPr>
        <p:txBody>
          <a:bodyPr spcFirstLastPara="1" wrap="square" lIns="0" tIns="0" rIns="0" bIns="0" anchor="t" anchorCtr="0">
            <a:spAutoFit/>
          </a:bodyPr>
          <a:lstStyle/>
          <a:p>
            <a:pPr marL="0" marR="0" lvl="0" indent="0" algn="just" rtl="0">
              <a:lnSpc>
                <a:spcPct val="120012"/>
              </a:lnSpc>
              <a:spcBef>
                <a:spcPts val="0"/>
              </a:spcBef>
              <a:spcAft>
                <a:spcPts val="0"/>
              </a:spcAft>
              <a:buNone/>
            </a:pPr>
            <a:r>
              <a:rPr lang="en-US" sz="2400" b="1" i="0" u="none" strike="noStrike" cap="none" dirty="0" err="1">
                <a:solidFill>
                  <a:srgbClr val="202729"/>
                </a:solidFill>
                <a:latin typeface="Arial"/>
                <a:ea typeface="Arial"/>
                <a:cs typeface="Arial"/>
                <a:sym typeface="Arial"/>
              </a:rPr>
              <a:t>Deskripsi</a:t>
            </a:r>
            <a:r>
              <a:rPr lang="en-US" sz="2400" b="1" i="0" u="none" strike="noStrike" cap="none" dirty="0">
                <a:solidFill>
                  <a:srgbClr val="202729"/>
                </a:solidFill>
                <a:latin typeface="Arial"/>
                <a:ea typeface="Arial"/>
                <a:cs typeface="Arial"/>
                <a:sym typeface="Arial"/>
              </a:rPr>
              <a:t> </a:t>
            </a:r>
            <a:r>
              <a:rPr lang="en-US" sz="2400" b="1" i="0" u="none" strike="noStrike" cap="none" dirty="0" err="1">
                <a:solidFill>
                  <a:srgbClr val="202729"/>
                </a:solidFill>
                <a:latin typeface="Arial"/>
                <a:ea typeface="Arial"/>
                <a:cs typeface="Arial"/>
                <a:sym typeface="Arial"/>
              </a:rPr>
              <a:t>Pekerjaan</a:t>
            </a:r>
            <a:r>
              <a:rPr lang="en-US" sz="2400" b="1" i="0" u="none" strike="noStrike" cap="none" dirty="0">
                <a:solidFill>
                  <a:srgbClr val="202729"/>
                </a:solidFill>
                <a:latin typeface="Arial"/>
                <a:ea typeface="Arial"/>
                <a:cs typeface="Arial"/>
                <a:sym typeface="Arial"/>
              </a:rPr>
              <a:t>:</a:t>
            </a:r>
          </a:p>
          <a:p>
            <a:pPr marL="285750" marR="0" lvl="0" indent="-285750" algn="just" rtl="0">
              <a:lnSpc>
                <a:spcPct val="120012"/>
              </a:lnSpc>
              <a:spcBef>
                <a:spcPts val="0"/>
              </a:spcBef>
              <a:spcAft>
                <a:spcPts val="0"/>
              </a:spcAft>
              <a:buFont typeface="Arial" panose="020B0604020202020204" pitchFamily="34" charset="0"/>
              <a:buChar char="•"/>
            </a:pPr>
            <a:r>
              <a:rPr lang="en-US" sz="2400" i="0" u="none" strike="noStrike" cap="none" dirty="0">
                <a:solidFill>
                  <a:srgbClr val="202729"/>
                </a:solidFill>
                <a:latin typeface="Arial"/>
                <a:ea typeface="Arial"/>
                <a:cs typeface="Arial"/>
                <a:sym typeface="Arial"/>
              </a:rPr>
              <a:t>Menyusun dan </a:t>
            </a:r>
            <a:r>
              <a:rPr lang="en-US" sz="2400" i="0" u="none" strike="noStrike" cap="none" dirty="0" err="1">
                <a:solidFill>
                  <a:srgbClr val="202729"/>
                </a:solidFill>
                <a:latin typeface="Arial"/>
                <a:ea typeface="Arial"/>
                <a:cs typeface="Arial"/>
                <a:sym typeface="Arial"/>
              </a:rPr>
              <a:t>mengeksekusi</a:t>
            </a:r>
            <a:r>
              <a:rPr lang="en-US" sz="2400" i="0" u="none" strike="noStrike" cap="none" dirty="0">
                <a:solidFill>
                  <a:srgbClr val="202729"/>
                </a:solidFill>
                <a:latin typeface="Arial"/>
                <a:ea typeface="Arial"/>
                <a:cs typeface="Arial"/>
                <a:sym typeface="Arial"/>
              </a:rPr>
              <a:t> strategi </a:t>
            </a:r>
            <a:r>
              <a:rPr lang="en-US" sz="2400" i="0" u="none" strike="noStrike" cap="none" dirty="0" err="1">
                <a:solidFill>
                  <a:srgbClr val="202729"/>
                </a:solidFill>
                <a:latin typeface="Arial"/>
                <a:ea typeface="Arial"/>
                <a:cs typeface="Arial"/>
                <a:sym typeface="Arial"/>
              </a:rPr>
              <a:t>komunikasi</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pemasaran</a:t>
            </a:r>
            <a:r>
              <a:rPr lang="en-US" sz="2400" i="0" u="none" strike="noStrike" cap="none" dirty="0">
                <a:solidFill>
                  <a:srgbClr val="202729"/>
                </a:solidFill>
                <a:latin typeface="Arial"/>
                <a:ea typeface="Arial"/>
                <a:cs typeface="Arial"/>
                <a:sym typeface="Arial"/>
              </a:rPr>
              <a:t> yang </a:t>
            </a:r>
            <a:r>
              <a:rPr lang="en-US" sz="2400" i="0" u="none" strike="noStrike" cap="none" dirty="0" err="1">
                <a:solidFill>
                  <a:srgbClr val="202729"/>
                </a:solidFill>
                <a:latin typeface="Arial"/>
                <a:ea typeface="Arial"/>
                <a:cs typeface="Arial"/>
                <a:sym typeface="Arial"/>
              </a:rPr>
              <a:t>selaras</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dengan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budaya</a:t>
            </a:r>
            <a:r>
              <a:rPr lang="en-US" sz="2400" i="0" u="none" strike="noStrike" cap="none" dirty="0">
                <a:solidFill>
                  <a:srgbClr val="202729"/>
                </a:solidFill>
                <a:latin typeface="Arial"/>
                <a:ea typeface="Arial"/>
                <a:cs typeface="Arial"/>
                <a:sym typeface="Arial"/>
              </a:rPr>
              <a:t> dan </a:t>
            </a:r>
            <a:r>
              <a:rPr lang="en-US" sz="2400" i="0" u="none" strike="noStrike" cap="none" dirty="0" err="1">
                <a:solidFill>
                  <a:srgbClr val="202729"/>
                </a:solidFill>
                <a:latin typeface="Arial"/>
                <a:ea typeface="Arial"/>
                <a:cs typeface="Arial"/>
                <a:sym typeface="Arial"/>
              </a:rPr>
              <a:t>nilai</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perusahaan</a:t>
            </a:r>
            <a:r>
              <a:rPr lang="en-US" sz="2400" i="0" u="none" strike="noStrike" cap="none" dirty="0">
                <a:solidFill>
                  <a:srgbClr val="202729"/>
                </a:solidFill>
                <a:latin typeface="Arial"/>
                <a:ea typeface="Arial"/>
                <a:cs typeface="Arial"/>
                <a:sym typeface="Arial"/>
              </a:rPr>
              <a:t>.</a:t>
            </a:r>
          </a:p>
          <a:p>
            <a:pPr marL="285750" marR="0" lvl="0" indent="-285750" algn="just" rtl="0">
              <a:lnSpc>
                <a:spcPct val="120012"/>
              </a:lnSpc>
              <a:spcBef>
                <a:spcPts val="0"/>
              </a:spcBef>
              <a:spcAft>
                <a:spcPts val="0"/>
              </a:spcAft>
              <a:buFont typeface="Arial" panose="020B0604020202020204" pitchFamily="34" charset="0"/>
              <a:buChar char="•"/>
            </a:pPr>
            <a:r>
              <a:rPr lang="en-US" sz="2400" i="0" u="none" strike="noStrike" cap="none" dirty="0" err="1">
                <a:solidFill>
                  <a:srgbClr val="202729"/>
                </a:solidFill>
                <a:latin typeface="Arial"/>
                <a:ea typeface="Arial"/>
                <a:cs typeface="Arial"/>
                <a:sym typeface="Arial"/>
              </a:rPr>
              <a:t>Menganalisis</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tren</a:t>
            </a:r>
            <a:r>
              <a:rPr lang="en-US" sz="2400" i="0" u="none" strike="noStrike" cap="none" dirty="0">
                <a:solidFill>
                  <a:srgbClr val="202729"/>
                </a:solidFill>
                <a:latin typeface="Arial"/>
                <a:ea typeface="Arial"/>
                <a:cs typeface="Arial"/>
                <a:sym typeface="Arial"/>
              </a:rPr>
              <a:t> pasar </a:t>
            </a:r>
            <a:r>
              <a:rPr lang="en-US" sz="2400" i="0" u="none" strike="noStrike" cap="none" dirty="0" err="1">
                <a:solidFill>
                  <a:srgbClr val="202729"/>
                </a:solidFill>
                <a:latin typeface="Arial"/>
                <a:ea typeface="Arial"/>
                <a:cs typeface="Arial"/>
                <a:sym typeface="Arial"/>
              </a:rPr>
              <a:t>untuk</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memberikan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masukan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kreatif</a:t>
            </a:r>
            <a:r>
              <a:rPr lang="en-US" sz="2400" i="0" u="none" strike="noStrike" cap="none" dirty="0">
                <a:solidFill>
                  <a:srgbClr val="202729"/>
                </a:solidFill>
                <a:latin typeface="Arial"/>
                <a:ea typeface="Arial"/>
                <a:cs typeface="Arial"/>
                <a:sym typeface="Arial"/>
              </a:rPr>
              <a:t> dan </a:t>
            </a:r>
            <a:r>
              <a:rPr lang="en-US" sz="2400" i="0" u="none" strike="noStrike" cap="none" dirty="0" err="1">
                <a:solidFill>
                  <a:srgbClr val="202729"/>
                </a:solidFill>
                <a:latin typeface="Arial"/>
                <a:ea typeface="Arial"/>
                <a:cs typeface="Arial"/>
                <a:sym typeface="Arial"/>
              </a:rPr>
              <a:t>inovatif</a:t>
            </a:r>
            <a:r>
              <a:rPr lang="en-US" sz="2400" i="0" u="none" strike="noStrike" cap="none" dirty="0">
                <a:solidFill>
                  <a:srgbClr val="202729"/>
                </a:solidFill>
                <a:latin typeface="Arial"/>
                <a:ea typeface="Arial"/>
                <a:cs typeface="Arial"/>
                <a:sym typeface="Arial"/>
              </a:rPr>
              <a:t> pada </a:t>
            </a:r>
            <a:r>
              <a:rPr lang="en-US" sz="2400" i="0" u="none" strike="noStrike" cap="none" dirty="0" err="1">
                <a:solidFill>
                  <a:srgbClr val="202729"/>
                </a:solidFill>
                <a:latin typeface="Arial"/>
                <a:ea typeface="Arial"/>
                <a:cs typeface="Arial"/>
                <a:sym typeface="Arial"/>
              </a:rPr>
              <a:t>pengembangan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produk</a:t>
            </a:r>
            <a:r>
              <a:rPr lang="en-US" sz="2400" i="0" u="none" strike="noStrike" cap="none" dirty="0">
                <a:solidFill>
                  <a:srgbClr val="202729"/>
                </a:solidFill>
                <a:latin typeface="Arial"/>
                <a:ea typeface="Arial"/>
                <a:cs typeface="Arial"/>
                <a:sym typeface="Arial"/>
              </a:rPr>
              <a:t>.</a:t>
            </a:r>
          </a:p>
          <a:p>
            <a:pPr marL="285750" marR="0" lvl="0" indent="-285750" algn="just" rtl="0">
              <a:lnSpc>
                <a:spcPct val="120012"/>
              </a:lnSpc>
              <a:spcBef>
                <a:spcPts val="0"/>
              </a:spcBef>
              <a:spcAft>
                <a:spcPts val="0"/>
              </a:spcAft>
              <a:buFont typeface="Arial" panose="020B0604020202020204" pitchFamily="34" charset="0"/>
              <a:buChar char="•"/>
            </a:pPr>
            <a:r>
              <a:rPr lang="en-US" sz="2400" i="0" u="none" strike="noStrike" cap="none" dirty="0" err="1">
                <a:solidFill>
                  <a:srgbClr val="202729"/>
                </a:solidFill>
                <a:latin typeface="Arial"/>
                <a:ea typeface="Arial"/>
                <a:cs typeface="Arial"/>
                <a:sym typeface="Arial"/>
              </a:rPr>
              <a:t>Mengelola</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kampanye</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merek</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secara</a:t>
            </a:r>
            <a:r>
              <a:rPr lang="en-US" sz="2400" i="0" u="none" strike="noStrike" cap="none" dirty="0">
                <a:solidFill>
                  <a:srgbClr val="202729"/>
                </a:solidFill>
                <a:latin typeface="Arial"/>
                <a:ea typeface="Arial"/>
                <a:cs typeface="Arial"/>
                <a:sym typeface="Arial"/>
              </a:rPr>
              <a:t> end-to-end, </a:t>
            </a:r>
            <a:r>
              <a:rPr lang="en-US" sz="2400" i="0" u="none" strike="noStrike" cap="none" dirty="0" err="1">
                <a:solidFill>
                  <a:srgbClr val="202729"/>
                </a:solidFill>
                <a:latin typeface="Arial"/>
                <a:ea typeface="Arial"/>
                <a:cs typeface="Arial"/>
                <a:sym typeface="Arial"/>
              </a:rPr>
              <a:t>memastikan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pesan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tersampaikan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konsisten</a:t>
            </a:r>
            <a:r>
              <a:rPr lang="en-US" sz="2400" i="0" u="none" strike="noStrike" cap="none" dirty="0">
                <a:solidFill>
                  <a:srgbClr val="202729"/>
                </a:solidFill>
                <a:latin typeface="Arial"/>
                <a:ea typeface="Arial"/>
                <a:cs typeface="Arial"/>
                <a:sym typeface="Arial"/>
              </a:rPr>
              <a:t> dan </a:t>
            </a:r>
            <a:r>
              <a:rPr lang="en-US" sz="2400" i="0" u="none" strike="noStrike" cap="none" dirty="0" err="1">
                <a:solidFill>
                  <a:srgbClr val="202729"/>
                </a:solidFill>
                <a:latin typeface="Arial"/>
                <a:ea typeface="Arial"/>
                <a:cs typeface="Arial"/>
                <a:sym typeface="Arial"/>
              </a:rPr>
              <a:t>tepat</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sasaran</a:t>
            </a:r>
            <a:r>
              <a:rPr lang="en-US" sz="2400" i="0" u="none" strike="noStrike" cap="none" dirty="0">
                <a:solidFill>
                  <a:srgbClr val="202729"/>
                </a:solidFill>
                <a:latin typeface="Arial"/>
                <a:ea typeface="Arial"/>
                <a:cs typeface="Arial"/>
                <a:sym typeface="Arial"/>
              </a:rPr>
              <a:t>.</a:t>
            </a:r>
          </a:p>
          <a:p>
            <a:pPr marL="285750" marR="0" lvl="0" indent="-285750" algn="just" rtl="0">
              <a:lnSpc>
                <a:spcPct val="120012"/>
              </a:lnSpc>
              <a:spcBef>
                <a:spcPts val="0"/>
              </a:spcBef>
              <a:spcAft>
                <a:spcPts val="0"/>
              </a:spcAft>
              <a:buFont typeface="Arial" panose="020B0604020202020204" pitchFamily="34" charset="0"/>
              <a:buChar char="•"/>
            </a:pPr>
            <a:r>
              <a:rPr lang="en-US" sz="2400" i="0" u="none" strike="noStrike" cap="none" dirty="0" err="1">
                <a:solidFill>
                  <a:srgbClr val="202729"/>
                </a:solidFill>
                <a:latin typeface="Arial"/>
                <a:ea typeface="Arial"/>
                <a:cs typeface="Arial"/>
                <a:sym typeface="Arial"/>
              </a:rPr>
              <a:t>Memantau</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tren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pemasaran</a:t>
            </a:r>
            <a:r>
              <a:rPr lang="en-US" sz="2400" i="0" u="none" strike="noStrike" cap="none" dirty="0">
                <a:solidFill>
                  <a:srgbClr val="202729"/>
                </a:solidFill>
                <a:latin typeface="Arial"/>
                <a:ea typeface="Arial"/>
                <a:cs typeface="Arial"/>
                <a:sym typeface="Arial"/>
              </a:rPr>
              <a:t> digital, </a:t>
            </a:r>
            <a:r>
              <a:rPr lang="en-US" sz="2400" i="0" u="none" strike="noStrike" cap="none" dirty="0" err="1">
                <a:solidFill>
                  <a:srgbClr val="202729"/>
                </a:solidFill>
                <a:latin typeface="Arial"/>
                <a:ea typeface="Arial"/>
                <a:cs typeface="Arial"/>
                <a:sym typeface="Arial"/>
              </a:rPr>
              <a:t>termasuk</a:t>
            </a:r>
            <a:r>
              <a:rPr lang="en-US" sz="2400" i="0" u="none" strike="noStrike" cap="none" dirty="0">
                <a:solidFill>
                  <a:srgbClr val="202729"/>
                </a:solidFill>
                <a:latin typeface="Arial"/>
                <a:ea typeface="Arial"/>
                <a:cs typeface="Arial"/>
                <a:sym typeface="Arial"/>
              </a:rPr>
              <a:t> strategi B2B, </a:t>
            </a:r>
            <a:r>
              <a:rPr lang="en-US" sz="2400" i="0" u="none" strike="noStrike" cap="none" dirty="0" err="1">
                <a:solidFill>
                  <a:srgbClr val="202729"/>
                </a:solidFill>
                <a:latin typeface="Arial"/>
                <a:ea typeface="Arial"/>
                <a:cs typeface="Arial"/>
                <a:sym typeface="Arial"/>
              </a:rPr>
              <a:t>serta</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menjalin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komunikasi</a:t>
            </a:r>
            <a:r>
              <a:rPr lang="en-US" sz="2400" i="0" u="none" strike="noStrike" cap="none" dirty="0">
                <a:solidFill>
                  <a:srgbClr val="202729"/>
                </a:solidFill>
                <a:latin typeface="Arial"/>
                <a:ea typeface="Arial"/>
                <a:cs typeface="Arial"/>
                <a:sym typeface="Arial"/>
              </a:rPr>
              <a:t> yang </a:t>
            </a:r>
            <a:r>
              <a:rPr lang="en-US" sz="2400" i="0" u="none" strike="noStrike" cap="none" dirty="0" err="1">
                <a:solidFill>
                  <a:srgbClr val="202729"/>
                </a:solidFill>
                <a:latin typeface="Arial"/>
                <a:ea typeface="Arial"/>
                <a:cs typeface="Arial"/>
                <a:sym typeface="Arial"/>
              </a:rPr>
              <a:t>efektif</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dengan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pihak</a:t>
            </a:r>
            <a:r>
              <a:rPr lang="en-US" sz="2400" i="0" u="none" strike="noStrike" cap="none" dirty="0">
                <a:solidFill>
                  <a:srgbClr val="202729"/>
                </a:solidFill>
                <a:latin typeface="Arial"/>
                <a:ea typeface="Arial"/>
                <a:cs typeface="Arial"/>
                <a:sym typeface="Arial"/>
              </a:rPr>
              <a:t> internal </a:t>
            </a:r>
            <a:r>
              <a:rPr lang="en-US" sz="2400" i="0" u="none" strike="noStrike" cap="none" dirty="0" err="1">
                <a:solidFill>
                  <a:srgbClr val="202729"/>
                </a:solidFill>
                <a:latin typeface="Arial"/>
                <a:ea typeface="Arial"/>
                <a:cs typeface="Arial"/>
                <a:sym typeface="Arial"/>
              </a:rPr>
              <a:t>maupun</a:t>
            </a:r>
            <a:r>
              <a:rPr lang="en-US" sz="2400" i="0" u="none" strike="noStrike" cap="none" dirty="0">
                <a:solidFill>
                  <a:srgbClr val="202729"/>
                </a:solidFill>
                <a:latin typeface="Arial"/>
                <a:ea typeface="Arial"/>
                <a:cs typeface="Arial"/>
                <a:sym typeface="Arial"/>
              </a:rPr>
              <a:t> </a:t>
            </a:r>
            <a:r>
              <a:rPr lang="en-US" sz="2400" i="0" u="none" strike="noStrike" cap="none" dirty="0" err="1">
                <a:solidFill>
                  <a:srgbClr val="202729"/>
                </a:solidFill>
                <a:latin typeface="Arial"/>
                <a:ea typeface="Arial"/>
                <a:cs typeface="Arial"/>
                <a:sym typeface="Arial"/>
              </a:rPr>
              <a:t>eksternal</a:t>
            </a:r>
            <a:r>
              <a:rPr lang="en-US" sz="2400" i="0" u="none" strike="noStrike" cap="none" dirty="0">
                <a:solidFill>
                  <a:srgbClr val="202729"/>
                </a:solidFill>
                <a:latin typeface="Arial"/>
                <a:ea typeface="Arial"/>
                <a:cs typeface="Arial"/>
                <a:sym typeface="Arial"/>
              </a:rPr>
              <a:t>.</a:t>
            </a:r>
            <a:endParaRPr sz="2400" dirty="0"/>
          </a:p>
        </p:txBody>
      </p:sp>
      <p:grpSp>
        <p:nvGrpSpPr>
          <p:cNvPr id="222" name="Google Shape;222;p8"/>
          <p:cNvGrpSpPr/>
          <p:nvPr/>
        </p:nvGrpSpPr>
        <p:grpSpPr>
          <a:xfrm>
            <a:off x="9487486" y="3364815"/>
            <a:ext cx="7771814" cy="5428957"/>
            <a:chOff x="0" y="0"/>
            <a:chExt cx="2046897" cy="1429849"/>
          </a:xfrm>
        </p:grpSpPr>
        <p:sp>
          <p:nvSpPr>
            <p:cNvPr id="223" name="Google Shape;223;p8"/>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24" name="Google Shape;224;p8"/>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7" name="Google Shape;227;p8"/>
          <p:cNvGrpSpPr/>
          <p:nvPr/>
        </p:nvGrpSpPr>
        <p:grpSpPr>
          <a:xfrm>
            <a:off x="13226149" y="-1408183"/>
            <a:ext cx="6126305" cy="3493908"/>
            <a:chOff x="0" y="-57150"/>
            <a:chExt cx="812800" cy="463550"/>
          </a:xfrm>
        </p:grpSpPr>
        <p:sp>
          <p:nvSpPr>
            <p:cNvPr id="228" name="Google Shape;228;p8"/>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0" name="Google Shape;230;p8"/>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31" name="Google Shape;231;p8"/>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sp>
        <p:nvSpPr>
          <p:cNvPr id="23" name="Google Shape;221;p8">
            <a:extLst>
              <a:ext uri="{FF2B5EF4-FFF2-40B4-BE49-F238E27FC236}">
                <a16:creationId xmlns:a16="http://schemas.microsoft.com/office/drawing/2014/main" id="{C97D56C2-55BB-4DB0-B28A-9E27232303AA}"/>
              </a:ext>
            </a:extLst>
          </p:cNvPr>
          <p:cNvSpPr txBox="1"/>
          <p:nvPr/>
        </p:nvSpPr>
        <p:spPr>
          <a:xfrm>
            <a:off x="9601200" y="3437426"/>
            <a:ext cx="7488965" cy="2954655"/>
          </a:xfrm>
          <a:prstGeom prst="rect">
            <a:avLst/>
          </a:prstGeom>
          <a:noFill/>
          <a:ln>
            <a:noFill/>
          </a:ln>
        </p:spPr>
        <p:txBody>
          <a:bodyPr spcFirstLastPara="1" wrap="square" lIns="0" tIns="0" rIns="0" bIns="0" anchor="t" anchorCtr="0">
            <a:spAutoFit/>
          </a:bodyPr>
          <a:lstStyle/>
          <a:p>
            <a:pPr algn="just"/>
            <a:r>
              <a:rPr lang="en-US" sz="2400" b="1" i="0" dirty="0" err="1">
                <a:solidFill>
                  <a:srgbClr val="202729"/>
                </a:solidFill>
                <a:effectLst/>
                <a:latin typeface="+mj-lt"/>
              </a:rPr>
              <a:t>Kualifikasi</a:t>
            </a:r>
            <a:r>
              <a:rPr lang="en-US" sz="2400" b="1" i="0" dirty="0">
                <a:solidFill>
                  <a:srgbClr val="202729"/>
                </a:solidFill>
                <a:effectLst/>
                <a:latin typeface="+mj-lt"/>
              </a:rPr>
              <a:t>:</a:t>
            </a:r>
            <a:endParaRPr lang="en-US" sz="2400" dirty="0">
              <a:solidFill>
                <a:srgbClr val="202729"/>
              </a:solidFill>
              <a:effectLst/>
              <a:latin typeface="+mj-lt"/>
            </a:endParaRPr>
          </a:p>
          <a:p>
            <a:pPr marL="342900" indent="-342900" algn="just">
              <a:buFont typeface="Arial" panose="020B0604020202020204" pitchFamily="34" charset="0"/>
              <a:buChar char="•"/>
            </a:pPr>
            <a:r>
              <a:rPr lang="en-US" sz="2400" b="0" i="0" dirty="0">
                <a:solidFill>
                  <a:srgbClr val="202729"/>
                </a:solidFill>
                <a:effectLst/>
                <a:latin typeface="+mj-lt"/>
              </a:rPr>
              <a:t>Pendidikan minimal S1 </a:t>
            </a:r>
            <a:r>
              <a:rPr lang="en-US" sz="2400" b="0" i="0" dirty="0" err="1">
                <a:solidFill>
                  <a:srgbClr val="202729"/>
                </a:solidFill>
                <a:effectLst/>
                <a:latin typeface="+mj-lt"/>
              </a:rPr>
              <a:t>semua</a:t>
            </a:r>
            <a:r>
              <a:rPr lang="en-US" sz="2400" b="0" i="0" dirty="0">
                <a:solidFill>
                  <a:srgbClr val="202729"/>
                </a:solidFill>
                <a:effectLst/>
                <a:latin typeface="+mj-lt"/>
              </a:rPr>
              <a:t> </a:t>
            </a:r>
            <a:r>
              <a:rPr lang="en-US" sz="2400" b="0" i="0" dirty="0" err="1">
                <a:solidFill>
                  <a:srgbClr val="202729"/>
                </a:solidFill>
                <a:effectLst/>
                <a:latin typeface="+mj-lt"/>
              </a:rPr>
              <a:t>jurusan</a:t>
            </a:r>
            <a:r>
              <a:rPr lang="en-US" sz="2400" b="0" i="0" dirty="0">
                <a:solidFill>
                  <a:srgbClr val="202729"/>
                </a:solidFill>
                <a:effectLst/>
                <a:latin typeface="+mj-lt"/>
              </a:rPr>
              <a:t>.</a:t>
            </a:r>
            <a:endParaRPr lang="en-US" sz="2400" dirty="0">
              <a:latin typeface="+mj-lt"/>
            </a:endParaRPr>
          </a:p>
          <a:p>
            <a:pPr marL="342900" indent="-342900" algn="just">
              <a:buFont typeface="Arial" panose="020B0604020202020204" pitchFamily="34" charset="0"/>
              <a:buChar char="•"/>
            </a:pPr>
            <a:r>
              <a:rPr lang="en-US" sz="2400" b="0" i="0" dirty="0" err="1">
                <a:solidFill>
                  <a:srgbClr val="202729"/>
                </a:solidFill>
                <a:effectLst/>
                <a:latin typeface="+mj-lt"/>
              </a:rPr>
              <a:t>Pengalaman</a:t>
            </a:r>
            <a:r>
              <a:rPr lang="en-US" sz="2400" b="0" i="0" dirty="0">
                <a:solidFill>
                  <a:srgbClr val="202729"/>
                </a:solidFill>
                <a:effectLst/>
                <a:latin typeface="+mj-lt"/>
              </a:rPr>
              <a:t> di </a:t>
            </a:r>
            <a:r>
              <a:rPr lang="en-US" sz="2400" b="0" i="0" dirty="0" err="1">
                <a:solidFill>
                  <a:srgbClr val="202729"/>
                </a:solidFill>
                <a:effectLst/>
                <a:latin typeface="+mj-lt"/>
              </a:rPr>
              <a:t>bidang</a:t>
            </a:r>
            <a:r>
              <a:rPr lang="en-US" sz="2400" b="0" i="0" dirty="0">
                <a:solidFill>
                  <a:srgbClr val="202729"/>
                </a:solidFill>
                <a:effectLst/>
                <a:latin typeface="+mj-lt"/>
              </a:rPr>
              <a:t> marketing B2B </a:t>
            </a:r>
            <a:r>
              <a:rPr lang="en-US" sz="2400" b="0" i="0" dirty="0" err="1">
                <a:solidFill>
                  <a:srgbClr val="202729"/>
                </a:solidFill>
                <a:effectLst/>
                <a:latin typeface="+mj-lt"/>
              </a:rPr>
              <a:t>atau</a:t>
            </a:r>
            <a:r>
              <a:rPr lang="en-US" sz="2400" b="0" i="0" dirty="0">
                <a:solidFill>
                  <a:srgbClr val="202729"/>
                </a:solidFill>
                <a:effectLst/>
                <a:latin typeface="+mj-lt"/>
              </a:rPr>
              <a:t> FMCG </a:t>
            </a:r>
            <a:r>
              <a:rPr lang="en-US" sz="2400" b="0" i="0" dirty="0" err="1">
                <a:solidFill>
                  <a:srgbClr val="202729"/>
                </a:solidFill>
                <a:effectLst/>
                <a:latin typeface="+mj-lt"/>
              </a:rPr>
              <a:t>menjadi</a:t>
            </a:r>
            <a:r>
              <a:rPr lang="en-US" sz="2400" b="0" i="0" dirty="0">
                <a:solidFill>
                  <a:srgbClr val="202729"/>
                </a:solidFill>
                <a:effectLst/>
                <a:latin typeface="+mj-lt"/>
              </a:rPr>
              <a:t> </a:t>
            </a:r>
            <a:r>
              <a:rPr lang="en-US" sz="2400" b="0" i="0" dirty="0" err="1">
                <a:solidFill>
                  <a:srgbClr val="202729"/>
                </a:solidFill>
                <a:effectLst/>
                <a:latin typeface="+mj-lt"/>
              </a:rPr>
              <a:t>nilai</a:t>
            </a:r>
            <a:r>
              <a:rPr lang="en-US" sz="2400" b="0" i="0" dirty="0">
                <a:solidFill>
                  <a:srgbClr val="202729"/>
                </a:solidFill>
                <a:effectLst/>
                <a:latin typeface="+mj-lt"/>
              </a:rPr>
              <a:t> </a:t>
            </a:r>
            <a:r>
              <a:rPr lang="en-US" sz="2400" b="0" i="0" dirty="0" err="1">
                <a:solidFill>
                  <a:srgbClr val="202729"/>
                </a:solidFill>
                <a:effectLst/>
                <a:latin typeface="+mj-lt"/>
              </a:rPr>
              <a:t>tambah</a:t>
            </a:r>
            <a:r>
              <a:rPr lang="en-US" sz="2400" b="0" i="0" dirty="0">
                <a:solidFill>
                  <a:srgbClr val="202729"/>
                </a:solidFill>
                <a:effectLst/>
                <a:latin typeface="+mj-lt"/>
              </a:rPr>
              <a:t>.</a:t>
            </a:r>
            <a:endParaRPr lang="en-US" sz="2400" dirty="0">
              <a:latin typeface="+mj-lt"/>
            </a:endParaRPr>
          </a:p>
          <a:p>
            <a:pPr marL="342900" indent="-342900" algn="just">
              <a:buFont typeface="Arial" panose="020B0604020202020204" pitchFamily="34" charset="0"/>
              <a:buChar char="•"/>
            </a:pPr>
            <a:r>
              <a:rPr lang="en-US" sz="2400" b="0" i="0" dirty="0" err="1">
                <a:solidFill>
                  <a:srgbClr val="202729"/>
                </a:solidFill>
                <a:effectLst/>
                <a:latin typeface="+mj-lt"/>
              </a:rPr>
              <a:t>Mahir</a:t>
            </a:r>
            <a:r>
              <a:rPr lang="en-US" sz="2400" b="0" i="0" dirty="0">
                <a:solidFill>
                  <a:srgbClr val="202729"/>
                </a:solidFill>
                <a:effectLst/>
                <a:latin typeface="+mj-lt"/>
              </a:rPr>
              <a:t> </a:t>
            </a:r>
            <a:r>
              <a:rPr lang="en-US" sz="2400" b="0" i="0" dirty="0" err="1">
                <a:solidFill>
                  <a:srgbClr val="202729"/>
                </a:solidFill>
                <a:effectLst/>
                <a:latin typeface="+mj-lt"/>
              </a:rPr>
              <a:t>mengelola</a:t>
            </a:r>
            <a:r>
              <a:rPr lang="en-US" sz="2400" b="0" i="0" dirty="0">
                <a:solidFill>
                  <a:srgbClr val="202729"/>
                </a:solidFill>
                <a:effectLst/>
                <a:latin typeface="+mj-lt"/>
              </a:rPr>
              <a:t> media </a:t>
            </a:r>
            <a:r>
              <a:rPr lang="en-US" sz="2400" b="0" i="0" dirty="0" err="1">
                <a:solidFill>
                  <a:srgbClr val="202729"/>
                </a:solidFill>
                <a:effectLst/>
                <a:latin typeface="+mj-lt"/>
              </a:rPr>
              <a:t>sosial</a:t>
            </a:r>
            <a:r>
              <a:rPr lang="en-US" sz="2400" b="0" i="0" dirty="0">
                <a:solidFill>
                  <a:srgbClr val="202729"/>
                </a:solidFill>
                <a:effectLst/>
                <a:latin typeface="+mj-lt"/>
              </a:rPr>
              <a:t>, </a:t>
            </a:r>
            <a:r>
              <a:rPr lang="en-US" sz="2400" b="0" i="0" dirty="0" err="1">
                <a:solidFill>
                  <a:srgbClr val="202729"/>
                </a:solidFill>
                <a:effectLst/>
                <a:latin typeface="+mj-lt"/>
              </a:rPr>
              <a:t>pembuatan</a:t>
            </a:r>
            <a:r>
              <a:rPr lang="en-US" sz="2400" b="0" i="0" dirty="0">
                <a:solidFill>
                  <a:srgbClr val="202729"/>
                </a:solidFill>
                <a:effectLst/>
                <a:latin typeface="+mj-lt"/>
              </a:rPr>
              <a:t> </a:t>
            </a:r>
            <a:r>
              <a:rPr lang="en-US" sz="2400" b="0" i="0" dirty="0" err="1">
                <a:solidFill>
                  <a:srgbClr val="202729"/>
                </a:solidFill>
                <a:effectLst/>
                <a:latin typeface="+mj-lt"/>
              </a:rPr>
              <a:t>konten</a:t>
            </a:r>
            <a:r>
              <a:rPr lang="en-US" sz="2400" b="0" i="0" dirty="0">
                <a:solidFill>
                  <a:srgbClr val="202729"/>
                </a:solidFill>
                <a:effectLst/>
                <a:latin typeface="+mj-lt"/>
              </a:rPr>
              <a:t>, dan event management.</a:t>
            </a:r>
            <a:endParaRPr lang="en-US" sz="2400" dirty="0">
              <a:latin typeface="+mj-lt"/>
            </a:endParaRPr>
          </a:p>
          <a:p>
            <a:pPr marL="342900" indent="-342900" algn="just">
              <a:buFont typeface="Arial" panose="020B0604020202020204" pitchFamily="34" charset="0"/>
              <a:buChar char="•"/>
            </a:pPr>
            <a:r>
              <a:rPr lang="en-US" sz="2400" b="0" i="0" dirty="0" err="1">
                <a:solidFill>
                  <a:srgbClr val="202729"/>
                </a:solidFill>
                <a:effectLst/>
                <a:latin typeface="+mj-lt"/>
              </a:rPr>
              <a:t>Usia</a:t>
            </a:r>
            <a:r>
              <a:rPr lang="en-US" sz="2400" b="0" i="0" dirty="0">
                <a:solidFill>
                  <a:srgbClr val="202729"/>
                </a:solidFill>
                <a:effectLst/>
                <a:latin typeface="+mj-lt"/>
              </a:rPr>
              <a:t> max. 30 </a:t>
            </a:r>
            <a:r>
              <a:rPr lang="en-US" sz="2400" b="0" i="0" dirty="0" err="1">
                <a:solidFill>
                  <a:srgbClr val="202729"/>
                </a:solidFill>
                <a:effectLst/>
                <a:latin typeface="+mj-lt"/>
              </a:rPr>
              <a:t>tahun</a:t>
            </a:r>
            <a:r>
              <a:rPr lang="en-US" sz="2400" b="0" i="0" dirty="0">
                <a:solidFill>
                  <a:srgbClr val="202729"/>
                </a:solidFill>
                <a:effectLst/>
                <a:latin typeface="+mj-lt"/>
              </a:rPr>
              <a:t>, </a:t>
            </a:r>
            <a:r>
              <a:rPr lang="en-US" sz="2400" b="0" i="0" dirty="0" err="1">
                <a:solidFill>
                  <a:srgbClr val="202729"/>
                </a:solidFill>
                <a:effectLst/>
                <a:latin typeface="+mj-lt"/>
              </a:rPr>
              <a:t>memiliki</a:t>
            </a:r>
            <a:r>
              <a:rPr lang="en-US" sz="2400" b="0" i="0" dirty="0">
                <a:solidFill>
                  <a:srgbClr val="202729"/>
                </a:solidFill>
                <a:effectLst/>
                <a:latin typeface="+mj-lt"/>
              </a:rPr>
              <a:t> </a:t>
            </a:r>
            <a:r>
              <a:rPr lang="en-US" sz="2400" b="0" i="0" dirty="0" err="1">
                <a:solidFill>
                  <a:srgbClr val="202729"/>
                </a:solidFill>
                <a:effectLst/>
                <a:latin typeface="+mj-lt"/>
              </a:rPr>
              <a:t>karakter</a:t>
            </a:r>
            <a:r>
              <a:rPr lang="en-US" sz="2400" b="0" i="0" dirty="0">
                <a:solidFill>
                  <a:srgbClr val="202729"/>
                </a:solidFill>
                <a:effectLst/>
                <a:latin typeface="+mj-lt"/>
              </a:rPr>
              <a:t> </a:t>
            </a:r>
            <a:r>
              <a:rPr lang="en-US" sz="2400" b="0" i="0" dirty="0" err="1">
                <a:solidFill>
                  <a:srgbClr val="202729"/>
                </a:solidFill>
                <a:effectLst/>
                <a:latin typeface="+mj-lt"/>
              </a:rPr>
              <a:t>komunikatif</a:t>
            </a:r>
            <a:r>
              <a:rPr lang="en-US" sz="2400" b="0" i="0" dirty="0">
                <a:solidFill>
                  <a:srgbClr val="202729"/>
                </a:solidFill>
                <a:effectLst/>
                <a:latin typeface="+mj-lt"/>
              </a:rPr>
              <a:t>, </a:t>
            </a:r>
            <a:r>
              <a:rPr lang="en-US" sz="2400" b="0" i="0" dirty="0" err="1">
                <a:solidFill>
                  <a:srgbClr val="202729"/>
                </a:solidFill>
                <a:effectLst/>
                <a:latin typeface="+mj-lt"/>
              </a:rPr>
              <a:t>adaptif</a:t>
            </a:r>
            <a:r>
              <a:rPr lang="en-US" sz="2400" b="0" i="0" dirty="0">
                <a:solidFill>
                  <a:srgbClr val="202729"/>
                </a:solidFill>
                <a:effectLst/>
                <a:latin typeface="+mj-lt"/>
              </a:rPr>
              <a:t>, dan </a:t>
            </a:r>
            <a:r>
              <a:rPr lang="en-US" sz="2400" b="0" i="0" dirty="0" err="1">
                <a:solidFill>
                  <a:srgbClr val="202729"/>
                </a:solidFill>
                <a:effectLst/>
                <a:latin typeface="+mj-lt"/>
              </a:rPr>
              <a:t>menjunjung</a:t>
            </a:r>
            <a:r>
              <a:rPr lang="en-US" sz="2400" b="0" i="0" dirty="0">
                <a:solidFill>
                  <a:srgbClr val="202729"/>
                </a:solidFill>
                <a:effectLst/>
                <a:latin typeface="+mj-lt"/>
              </a:rPr>
              <a:t> </a:t>
            </a:r>
            <a:r>
              <a:rPr lang="en-US" sz="2400" b="0" i="0" dirty="0" err="1">
                <a:solidFill>
                  <a:srgbClr val="202729"/>
                </a:solidFill>
                <a:effectLst/>
                <a:latin typeface="+mj-lt"/>
              </a:rPr>
              <a:t>tinggi</a:t>
            </a:r>
            <a:r>
              <a:rPr lang="en-US" sz="2400" b="0" i="0" dirty="0">
                <a:solidFill>
                  <a:srgbClr val="202729"/>
                </a:solidFill>
                <a:effectLst/>
                <a:latin typeface="+mj-lt"/>
              </a:rPr>
              <a:t> </a:t>
            </a:r>
            <a:r>
              <a:rPr lang="en-US" sz="2400" b="0" i="0" dirty="0" err="1">
                <a:solidFill>
                  <a:srgbClr val="202729"/>
                </a:solidFill>
                <a:effectLst/>
                <a:latin typeface="+mj-lt"/>
              </a:rPr>
              <a:t>kolaborasi</a:t>
            </a:r>
            <a:r>
              <a:rPr lang="en-US" sz="2400" b="0" i="0" dirty="0">
                <a:solidFill>
                  <a:srgbClr val="202729"/>
                </a:solidFill>
                <a:effectLst/>
                <a:latin typeface="+mj-lt"/>
              </a:rPr>
              <a:t>.</a:t>
            </a:r>
            <a:endParaRPr lang="en-US" sz="2400" dirty="0">
              <a:latin typeface="+mj-lt"/>
            </a:endParaRPr>
          </a:p>
        </p:txBody>
      </p:sp>
      <p:sp>
        <p:nvSpPr>
          <p:cNvPr id="24" name="Google Shape;217;p8">
            <a:extLst>
              <a:ext uri="{FF2B5EF4-FFF2-40B4-BE49-F238E27FC236}">
                <a16:creationId xmlns:a16="http://schemas.microsoft.com/office/drawing/2014/main" id="{460E3D25-A679-4B17-B033-BA791BB1800B}"/>
              </a:ext>
            </a:extLst>
          </p:cNvPr>
          <p:cNvSpPr txBox="1"/>
          <p:nvPr/>
        </p:nvSpPr>
        <p:spPr>
          <a:xfrm>
            <a:off x="5128475" y="2129290"/>
            <a:ext cx="10062555" cy="713913"/>
          </a:xfrm>
          <a:prstGeom prst="rect">
            <a:avLst/>
          </a:prstGeom>
          <a:noFill/>
          <a:ln>
            <a:noFill/>
          </a:ln>
        </p:spPr>
        <p:txBody>
          <a:bodyPr spcFirstLastPara="1" wrap="square" lIns="0" tIns="0" rIns="0" bIns="0" anchor="t" anchorCtr="0">
            <a:spAutoFit/>
          </a:bodyPr>
          <a:lstStyle/>
          <a:p>
            <a:pPr marL="0" marR="0" lvl="0" indent="0" algn="l" rtl="0">
              <a:lnSpc>
                <a:spcPct val="102997"/>
              </a:lnSpc>
              <a:spcBef>
                <a:spcPts val="0"/>
              </a:spcBef>
              <a:spcAft>
                <a:spcPts val="0"/>
              </a:spcAft>
              <a:buNone/>
            </a:pPr>
            <a:r>
              <a:rPr lang="en-US" sz="4504" b="1" i="0" u="none" strike="noStrike" cap="none" dirty="0">
                <a:solidFill>
                  <a:schemeClr val="tx1"/>
                </a:solidFill>
                <a:latin typeface="Arial"/>
                <a:ea typeface="Arial"/>
                <a:cs typeface="Arial"/>
                <a:sym typeface="Arial"/>
              </a:rPr>
              <a:t>Marketing &amp; Communication</a:t>
            </a:r>
            <a:endParaRPr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274"/>
        <p:cNvGrpSpPr/>
        <p:nvPr/>
      </p:nvGrpSpPr>
      <p:grpSpPr>
        <a:xfrm>
          <a:off x="0" y="0"/>
          <a:ext cx="0" cy="0"/>
          <a:chOff x="0" y="0"/>
          <a:chExt cx="0" cy="0"/>
        </a:xfrm>
      </p:grpSpPr>
      <p:grpSp>
        <p:nvGrpSpPr>
          <p:cNvPr id="275" name="Google Shape;275;p11"/>
          <p:cNvGrpSpPr/>
          <p:nvPr/>
        </p:nvGrpSpPr>
        <p:grpSpPr>
          <a:xfrm>
            <a:off x="0" y="1310580"/>
            <a:ext cx="18288000" cy="10671511"/>
            <a:chOff x="0" y="-76200"/>
            <a:chExt cx="6020741" cy="3513255"/>
          </a:xfrm>
        </p:grpSpPr>
        <p:sp>
          <p:nvSpPr>
            <p:cNvPr id="276" name="Google Shape;276;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8" name="Google Shape;278;p11"/>
          <p:cNvGrpSpPr/>
          <p:nvPr/>
        </p:nvGrpSpPr>
        <p:grpSpPr>
          <a:xfrm>
            <a:off x="152400" y="1462980"/>
            <a:ext cx="18288000" cy="10671511"/>
            <a:chOff x="0" y="-76200"/>
            <a:chExt cx="6020741" cy="3513255"/>
          </a:xfrm>
        </p:grpSpPr>
        <p:sp>
          <p:nvSpPr>
            <p:cNvPr id="279" name="Google Shape;279;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11"/>
          <p:cNvGrpSpPr/>
          <p:nvPr/>
        </p:nvGrpSpPr>
        <p:grpSpPr>
          <a:xfrm>
            <a:off x="152400" y="1475172"/>
            <a:ext cx="18135600" cy="10671511"/>
            <a:chOff x="0" y="-76200"/>
            <a:chExt cx="6020741" cy="3513255"/>
          </a:xfrm>
        </p:grpSpPr>
        <p:sp>
          <p:nvSpPr>
            <p:cNvPr id="282" name="Google Shape;282;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84" name="Google Shape;284;p11"/>
          <p:cNvSpPr txBox="1"/>
          <p:nvPr/>
        </p:nvSpPr>
        <p:spPr>
          <a:xfrm>
            <a:off x="1018698" y="500174"/>
            <a:ext cx="10376051" cy="71327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dirty="0">
                <a:solidFill>
                  <a:srgbClr val="FFFFFF"/>
                </a:solidFill>
              </a:rPr>
              <a:t>Job</a:t>
            </a:r>
            <a:r>
              <a:rPr lang="id-ID" sz="4500" b="1" dirty="0">
                <a:solidFill>
                  <a:srgbClr val="FFFFFF"/>
                </a:solidFill>
              </a:rPr>
              <a:t> </a:t>
            </a:r>
            <a:r>
              <a:rPr lang="id-ID" sz="4500" b="1" dirty="0" err="1">
                <a:solidFill>
                  <a:srgbClr val="FFFFFF"/>
                </a:solidFill>
              </a:rPr>
              <a:t>Vacancy</a:t>
            </a:r>
            <a:endParaRPr dirty="0"/>
          </a:p>
        </p:txBody>
      </p:sp>
      <p:grpSp>
        <p:nvGrpSpPr>
          <p:cNvPr id="285" name="Google Shape;285;p11"/>
          <p:cNvGrpSpPr/>
          <p:nvPr/>
        </p:nvGrpSpPr>
        <p:grpSpPr>
          <a:xfrm>
            <a:off x="2688336" y="2181952"/>
            <a:ext cx="6048906" cy="7800673"/>
            <a:chOff x="0" y="0"/>
            <a:chExt cx="2046897" cy="1429849"/>
          </a:xfrm>
        </p:grpSpPr>
        <p:sp>
          <p:nvSpPr>
            <p:cNvPr id="286" name="Google Shape;286;p11"/>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87" name="Google Shape;287;p11"/>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4" name="Google Shape;294;p11"/>
          <p:cNvGrpSpPr/>
          <p:nvPr/>
        </p:nvGrpSpPr>
        <p:grpSpPr>
          <a:xfrm>
            <a:off x="13226149" y="-1409090"/>
            <a:ext cx="6126305" cy="3493908"/>
            <a:chOff x="0" y="-57150"/>
            <a:chExt cx="812800" cy="463550"/>
          </a:xfrm>
        </p:grpSpPr>
        <p:sp>
          <p:nvSpPr>
            <p:cNvPr id="295" name="Google Shape;295;p11"/>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7" name="Google Shape;297;p11"/>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98" name="Google Shape;298;p11"/>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 </a:t>
            </a:r>
            <a:endParaRPr dirty="0"/>
          </a:p>
          <a:p>
            <a:pPr marL="0" marR="0" lvl="0" indent="0" algn="l" rtl="0">
              <a:lnSpc>
                <a:spcPct val="110030"/>
              </a:lnSpc>
              <a:spcBef>
                <a:spcPts val="0"/>
              </a:spcBef>
              <a:spcAft>
                <a:spcPts val="0"/>
              </a:spcAft>
              <a:buNone/>
            </a:pPr>
            <a:r>
              <a:rPr lang="en-US" sz="2632" b="0" i="0" u="none" strike="noStrike" cap="none" dirty="0">
                <a:solidFill>
                  <a:srgbClr val="162F56"/>
                </a:solidFill>
                <a:latin typeface="Montserrat"/>
                <a:ea typeface="Montserrat"/>
                <a:cs typeface="Montserrat"/>
                <a:sym typeface="Montserrat"/>
              </a:rPr>
              <a:t>Recruitment</a:t>
            </a:r>
            <a:endParaRPr dirty="0"/>
          </a:p>
        </p:txBody>
      </p:sp>
      <p:pic>
        <p:nvPicPr>
          <p:cNvPr id="3" name="Picture 2">
            <a:extLst>
              <a:ext uri="{FF2B5EF4-FFF2-40B4-BE49-F238E27FC236}">
                <a16:creationId xmlns:a16="http://schemas.microsoft.com/office/drawing/2014/main" id="{609955FB-89BC-49BE-A271-0BA18FAFDF46}"/>
              </a:ext>
            </a:extLst>
          </p:cNvPr>
          <p:cNvPicPr>
            <a:picLocks noChangeAspect="1"/>
          </p:cNvPicPr>
          <p:nvPr/>
        </p:nvPicPr>
        <p:blipFill>
          <a:blip r:embed="rId3"/>
          <a:stretch>
            <a:fillRect/>
          </a:stretch>
        </p:blipFill>
        <p:spPr>
          <a:xfrm>
            <a:off x="3058004" y="2904618"/>
            <a:ext cx="5253734" cy="6681586"/>
          </a:xfrm>
          <a:prstGeom prst="rect">
            <a:avLst/>
          </a:prstGeom>
          <a:ln>
            <a:solidFill>
              <a:schemeClr val="tx1"/>
            </a:solidFill>
          </a:ln>
        </p:spPr>
      </p:pic>
      <p:grpSp>
        <p:nvGrpSpPr>
          <p:cNvPr id="23" name="Google Shape;285;p11">
            <a:extLst>
              <a:ext uri="{FF2B5EF4-FFF2-40B4-BE49-F238E27FC236}">
                <a16:creationId xmlns:a16="http://schemas.microsoft.com/office/drawing/2014/main" id="{142D4708-E88F-4884-A3A9-27683F79EC1D}"/>
              </a:ext>
            </a:extLst>
          </p:cNvPr>
          <p:cNvGrpSpPr/>
          <p:nvPr/>
        </p:nvGrpSpPr>
        <p:grpSpPr>
          <a:xfrm>
            <a:off x="9746822" y="2204307"/>
            <a:ext cx="6099737" cy="7800673"/>
            <a:chOff x="0" y="0"/>
            <a:chExt cx="2046897" cy="1429849"/>
          </a:xfrm>
        </p:grpSpPr>
        <p:sp>
          <p:nvSpPr>
            <p:cNvPr id="24" name="Google Shape;286;p11">
              <a:extLst>
                <a:ext uri="{FF2B5EF4-FFF2-40B4-BE49-F238E27FC236}">
                  <a16:creationId xmlns:a16="http://schemas.microsoft.com/office/drawing/2014/main" id="{569DE2A7-0685-4515-88B2-79A38B54F6EB}"/>
                </a:ext>
              </a:extLst>
            </p:cNvPr>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5" name="Google Shape;287;p11">
              <a:extLst>
                <a:ext uri="{FF2B5EF4-FFF2-40B4-BE49-F238E27FC236}">
                  <a16:creationId xmlns:a16="http://schemas.microsoft.com/office/drawing/2014/main" id="{4A1991BC-29AE-4C7E-9172-C03159E6B268}"/>
                </a:ext>
              </a:extLst>
            </p:cNvPr>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41EC261A-D28E-45E0-A5B9-00C91CC25A65}"/>
              </a:ext>
            </a:extLst>
          </p:cNvPr>
          <p:cNvPicPr>
            <a:picLocks noChangeAspect="1"/>
          </p:cNvPicPr>
          <p:nvPr/>
        </p:nvPicPr>
        <p:blipFill>
          <a:blip r:embed="rId4"/>
          <a:stretch>
            <a:fillRect/>
          </a:stretch>
        </p:blipFill>
        <p:spPr>
          <a:xfrm>
            <a:off x="10039932" y="2829642"/>
            <a:ext cx="5435636" cy="6681586"/>
          </a:xfrm>
          <a:prstGeom prst="rect">
            <a:avLst/>
          </a:prstGeom>
          <a:ln>
            <a:solidFill>
              <a:schemeClr val="tx1"/>
            </a:solidFill>
          </a:ln>
        </p:spPr>
      </p:pic>
    </p:spTree>
    <p:extLst>
      <p:ext uri="{BB962C8B-B14F-4D97-AF65-F5344CB8AC3E}">
        <p14:creationId xmlns:p14="http://schemas.microsoft.com/office/powerpoint/2010/main" val="3513765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274"/>
        <p:cNvGrpSpPr/>
        <p:nvPr/>
      </p:nvGrpSpPr>
      <p:grpSpPr>
        <a:xfrm>
          <a:off x="0" y="0"/>
          <a:ext cx="0" cy="0"/>
          <a:chOff x="0" y="0"/>
          <a:chExt cx="0" cy="0"/>
        </a:xfrm>
      </p:grpSpPr>
      <p:grpSp>
        <p:nvGrpSpPr>
          <p:cNvPr id="275" name="Google Shape;275;p11"/>
          <p:cNvGrpSpPr/>
          <p:nvPr/>
        </p:nvGrpSpPr>
        <p:grpSpPr>
          <a:xfrm>
            <a:off x="0" y="1310580"/>
            <a:ext cx="18288000" cy="10671511"/>
            <a:chOff x="0" y="-76200"/>
            <a:chExt cx="6020741" cy="3513255"/>
          </a:xfrm>
        </p:grpSpPr>
        <p:sp>
          <p:nvSpPr>
            <p:cNvPr id="276" name="Google Shape;276;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8" name="Google Shape;278;p11"/>
          <p:cNvGrpSpPr/>
          <p:nvPr/>
        </p:nvGrpSpPr>
        <p:grpSpPr>
          <a:xfrm>
            <a:off x="152400" y="1462980"/>
            <a:ext cx="18288000" cy="10671511"/>
            <a:chOff x="0" y="-76200"/>
            <a:chExt cx="6020741" cy="3513255"/>
          </a:xfrm>
        </p:grpSpPr>
        <p:sp>
          <p:nvSpPr>
            <p:cNvPr id="279" name="Google Shape;279;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11"/>
          <p:cNvGrpSpPr/>
          <p:nvPr/>
        </p:nvGrpSpPr>
        <p:grpSpPr>
          <a:xfrm>
            <a:off x="514526" y="1362397"/>
            <a:ext cx="16798047" cy="9669598"/>
            <a:chOff x="0" y="-76200"/>
            <a:chExt cx="6020741" cy="3513255"/>
          </a:xfrm>
        </p:grpSpPr>
        <p:sp>
          <p:nvSpPr>
            <p:cNvPr id="282" name="Google Shape;282;p11"/>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84" name="Google Shape;284;p11"/>
          <p:cNvSpPr txBox="1"/>
          <p:nvPr/>
        </p:nvSpPr>
        <p:spPr>
          <a:xfrm>
            <a:off x="1018698" y="500174"/>
            <a:ext cx="10376051" cy="60198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a:solidFill>
                  <a:srgbClr val="FFFFFF"/>
                </a:solidFill>
                <a:latin typeface="Arial"/>
                <a:ea typeface="Arial"/>
                <a:cs typeface="Arial"/>
                <a:sym typeface="Arial"/>
              </a:rPr>
              <a:t>Job Posting</a:t>
            </a:r>
            <a:endParaRPr/>
          </a:p>
        </p:txBody>
      </p:sp>
      <p:grpSp>
        <p:nvGrpSpPr>
          <p:cNvPr id="285" name="Google Shape;285;p11"/>
          <p:cNvGrpSpPr/>
          <p:nvPr/>
        </p:nvGrpSpPr>
        <p:grpSpPr>
          <a:xfrm>
            <a:off x="1569720" y="2251551"/>
            <a:ext cx="14828520" cy="7750540"/>
            <a:chOff x="0" y="0"/>
            <a:chExt cx="2046897" cy="1429849"/>
          </a:xfrm>
        </p:grpSpPr>
        <p:sp>
          <p:nvSpPr>
            <p:cNvPr id="286" name="Google Shape;286;p11"/>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87" name="Google Shape;287;p11"/>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4" name="Google Shape;294;p11"/>
          <p:cNvGrpSpPr/>
          <p:nvPr/>
        </p:nvGrpSpPr>
        <p:grpSpPr>
          <a:xfrm>
            <a:off x="13226149" y="-1409090"/>
            <a:ext cx="6126305" cy="3493908"/>
            <a:chOff x="0" y="-57150"/>
            <a:chExt cx="812800" cy="463550"/>
          </a:xfrm>
        </p:grpSpPr>
        <p:sp>
          <p:nvSpPr>
            <p:cNvPr id="295" name="Google Shape;295;p11"/>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7" name="Google Shape;297;p11"/>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98" name="Google Shape;298;p11"/>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pic>
        <p:nvPicPr>
          <p:cNvPr id="14" name="Picture 13">
            <a:extLst>
              <a:ext uri="{FF2B5EF4-FFF2-40B4-BE49-F238E27FC236}">
                <a16:creationId xmlns:a16="http://schemas.microsoft.com/office/drawing/2014/main" id="{26547E5E-93F2-4E06-875A-0F1BD04EB6F5}"/>
              </a:ext>
            </a:extLst>
          </p:cNvPr>
          <p:cNvPicPr>
            <a:picLocks noChangeAspect="1"/>
          </p:cNvPicPr>
          <p:nvPr/>
        </p:nvPicPr>
        <p:blipFill rotWithShape="1">
          <a:blip r:embed="rId3"/>
          <a:srcRect t="-1488" b="6020"/>
          <a:stretch/>
        </p:blipFill>
        <p:spPr>
          <a:xfrm>
            <a:off x="1649926" y="2127825"/>
            <a:ext cx="14670661" cy="76849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253"/>
        <p:cNvGrpSpPr/>
        <p:nvPr/>
      </p:nvGrpSpPr>
      <p:grpSpPr>
        <a:xfrm>
          <a:off x="0" y="0"/>
          <a:ext cx="0" cy="0"/>
          <a:chOff x="0" y="0"/>
          <a:chExt cx="0" cy="0"/>
        </a:xfrm>
      </p:grpSpPr>
      <p:grpSp>
        <p:nvGrpSpPr>
          <p:cNvPr id="254" name="Google Shape;254;p10"/>
          <p:cNvGrpSpPr/>
          <p:nvPr/>
        </p:nvGrpSpPr>
        <p:grpSpPr>
          <a:xfrm>
            <a:off x="0" y="1310580"/>
            <a:ext cx="18288000" cy="10671511"/>
            <a:chOff x="0" y="-76200"/>
            <a:chExt cx="6020741" cy="3513255"/>
          </a:xfrm>
        </p:grpSpPr>
        <p:sp>
          <p:nvSpPr>
            <p:cNvPr id="255" name="Google Shape;255;p10"/>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0"/>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7" name="Google Shape;257;p10"/>
          <p:cNvGrpSpPr/>
          <p:nvPr/>
        </p:nvGrpSpPr>
        <p:grpSpPr>
          <a:xfrm>
            <a:off x="152400" y="1462980"/>
            <a:ext cx="18288000" cy="10671511"/>
            <a:chOff x="0" y="-76200"/>
            <a:chExt cx="6020741" cy="3513255"/>
          </a:xfrm>
        </p:grpSpPr>
        <p:sp>
          <p:nvSpPr>
            <p:cNvPr id="258" name="Google Shape;258;p10"/>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0"/>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0" name="Google Shape;260;p10"/>
          <p:cNvGrpSpPr/>
          <p:nvPr/>
        </p:nvGrpSpPr>
        <p:grpSpPr>
          <a:xfrm>
            <a:off x="0" y="1310580"/>
            <a:ext cx="18288000" cy="10671511"/>
            <a:chOff x="0" y="-76200"/>
            <a:chExt cx="6020741" cy="3513255"/>
          </a:xfrm>
        </p:grpSpPr>
        <p:sp>
          <p:nvSpPr>
            <p:cNvPr id="261" name="Google Shape;261;p10"/>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0"/>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aphicFrame>
        <p:nvGraphicFramePr>
          <p:cNvPr id="263" name="Google Shape;263;p10"/>
          <p:cNvGraphicFramePr/>
          <p:nvPr>
            <p:extLst>
              <p:ext uri="{D42A27DB-BD31-4B8C-83A1-F6EECF244321}">
                <p14:modId xmlns:p14="http://schemas.microsoft.com/office/powerpoint/2010/main" val="1372259867"/>
              </p:ext>
            </p:extLst>
          </p:nvPr>
        </p:nvGraphicFramePr>
        <p:xfrm>
          <a:off x="425001" y="2198712"/>
          <a:ext cx="17372250" cy="7532900"/>
        </p:xfrm>
        <a:graphic>
          <a:graphicData uri="http://schemas.openxmlformats.org/drawingml/2006/table">
            <a:tbl>
              <a:tblPr>
                <a:noFill/>
                <a:tableStyleId>{6E7F0235-C9E1-43CC-A6E6-E1D2B18BDB54}</a:tableStyleId>
              </a:tblPr>
              <a:tblGrid>
                <a:gridCol w="2895375">
                  <a:extLst>
                    <a:ext uri="{9D8B030D-6E8A-4147-A177-3AD203B41FA5}">
                      <a16:colId xmlns:a16="http://schemas.microsoft.com/office/drawing/2014/main" val="20000"/>
                    </a:ext>
                  </a:extLst>
                </a:gridCol>
                <a:gridCol w="2895375">
                  <a:extLst>
                    <a:ext uri="{9D8B030D-6E8A-4147-A177-3AD203B41FA5}">
                      <a16:colId xmlns:a16="http://schemas.microsoft.com/office/drawing/2014/main" val="20001"/>
                    </a:ext>
                  </a:extLst>
                </a:gridCol>
                <a:gridCol w="2895375">
                  <a:extLst>
                    <a:ext uri="{9D8B030D-6E8A-4147-A177-3AD203B41FA5}">
                      <a16:colId xmlns:a16="http://schemas.microsoft.com/office/drawing/2014/main" val="20002"/>
                    </a:ext>
                  </a:extLst>
                </a:gridCol>
                <a:gridCol w="2895375">
                  <a:extLst>
                    <a:ext uri="{9D8B030D-6E8A-4147-A177-3AD203B41FA5}">
                      <a16:colId xmlns:a16="http://schemas.microsoft.com/office/drawing/2014/main" val="20003"/>
                    </a:ext>
                  </a:extLst>
                </a:gridCol>
                <a:gridCol w="2895375">
                  <a:extLst>
                    <a:ext uri="{9D8B030D-6E8A-4147-A177-3AD203B41FA5}">
                      <a16:colId xmlns:a16="http://schemas.microsoft.com/office/drawing/2014/main" val="20004"/>
                    </a:ext>
                  </a:extLst>
                </a:gridCol>
                <a:gridCol w="2895375">
                  <a:extLst>
                    <a:ext uri="{9D8B030D-6E8A-4147-A177-3AD203B41FA5}">
                      <a16:colId xmlns:a16="http://schemas.microsoft.com/office/drawing/2014/main" val="20005"/>
                    </a:ext>
                  </a:extLst>
                </a:gridCol>
              </a:tblGrid>
              <a:tr h="1883225">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Media/ Platform  yang digunakan</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Jumlah pelamar</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Jumlah CV yang sesuai</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Jumlah CV yang tidak sesuai</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Jumlah kandidat yang diundang interview</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Jumlah kandidat HR Interview</a:t>
                      </a:r>
                      <a:endParaRPr sz="1100" u="none" strike="noStrike" cap="none"/>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solidFill>
                      <a:srgbClr val="FFEBCD"/>
                    </a:solidFill>
                  </a:tcPr>
                </a:tc>
                <a:extLst>
                  <a:ext uri="{0D108BD9-81ED-4DB2-BD59-A6C34878D82A}">
                    <a16:rowId xmlns:a16="http://schemas.microsoft.com/office/drawing/2014/main" val="10000"/>
                  </a:ext>
                </a:extLst>
              </a:tr>
              <a:tr h="1883225">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ea typeface="Arial"/>
                          <a:cs typeface="Arial"/>
                          <a:sym typeface="Arial"/>
                        </a:rPr>
                        <a:t>Glints</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cs typeface="Arial"/>
                          <a:sym typeface="Arial"/>
                        </a:rPr>
                        <a:t>406</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cs typeface="Arial"/>
                          <a:sym typeface="Arial"/>
                        </a:rPr>
                        <a:t>15</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cs typeface="Arial"/>
                          <a:sym typeface="Arial"/>
                        </a:rPr>
                        <a:t>391</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cs typeface="Arial"/>
                          <a:sym typeface="Arial"/>
                        </a:rPr>
                        <a:t>9</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dirty="0">
                          <a:solidFill>
                            <a:srgbClr val="000000"/>
                          </a:solidFill>
                          <a:latin typeface="Arial"/>
                          <a:cs typeface="Arial"/>
                          <a:sym typeface="Arial"/>
                        </a:rPr>
                        <a:t>6</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extLst>
                  <a:ext uri="{0D108BD9-81ED-4DB2-BD59-A6C34878D82A}">
                    <a16:rowId xmlns:a16="http://schemas.microsoft.com/office/drawing/2014/main" val="10001"/>
                  </a:ext>
                </a:extLst>
              </a:tr>
              <a:tr h="1883225">
                <a:tc>
                  <a:txBody>
                    <a:bodyPr/>
                    <a:lstStyle/>
                    <a:p>
                      <a:pPr marL="0" marR="0" lvl="0" indent="0" algn="ctr" rtl="0">
                        <a:lnSpc>
                          <a:spcPct val="244363"/>
                        </a:lnSpc>
                        <a:spcBef>
                          <a:spcPts val="0"/>
                        </a:spcBef>
                        <a:spcAft>
                          <a:spcPts val="0"/>
                        </a:spcAft>
                        <a:buNone/>
                      </a:pPr>
                      <a:r>
                        <a:rPr lang="en-US" sz="2000" u="none" strike="noStrike" cap="none" dirty="0">
                          <a:solidFill>
                            <a:srgbClr val="000000"/>
                          </a:solidFill>
                          <a:latin typeface="Arial"/>
                          <a:cs typeface="Arial"/>
                          <a:sym typeface="Arial"/>
                        </a:rPr>
                        <a:t>Google Form</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475</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57</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416</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15</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10</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extLst>
                  <a:ext uri="{0D108BD9-81ED-4DB2-BD59-A6C34878D82A}">
                    <a16:rowId xmlns:a16="http://schemas.microsoft.com/office/drawing/2014/main" val="10002"/>
                  </a:ext>
                </a:extLst>
              </a:tr>
              <a:tr h="1883225">
                <a:tc>
                  <a:txBody>
                    <a:bodyPr/>
                    <a:lstStyle/>
                    <a:p>
                      <a:pPr marL="0" marR="0" lvl="0" indent="0" algn="ctr" rtl="0">
                        <a:lnSpc>
                          <a:spcPct val="244363"/>
                        </a:lnSpc>
                        <a:spcBef>
                          <a:spcPts val="0"/>
                        </a:spcBef>
                        <a:spcAft>
                          <a:spcPts val="0"/>
                        </a:spcAft>
                        <a:buNone/>
                      </a:pPr>
                      <a:r>
                        <a:rPr lang="en-US" sz="2000" u="none" strike="noStrike" cap="none" dirty="0"/>
                        <a:t>LinkedIn</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3</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3</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1</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3</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2000" u="none" strike="noStrike" cap="none" dirty="0"/>
                        <a:t>1</a:t>
                      </a:r>
                      <a:endParaRPr sz="2000" u="none" strike="noStrike" cap="none" dirty="0"/>
                    </a:p>
                  </a:txBody>
                  <a:tcPr marL="190500" marR="190500" marT="190500" marB="190500" anchor="ctr">
                    <a:lnL w="38100" cap="flat" cmpd="sng">
                      <a:solidFill>
                        <a:srgbClr val="FFD699"/>
                      </a:solidFill>
                      <a:prstDash val="solid"/>
                      <a:round/>
                      <a:headEnd type="none" w="sm" len="sm"/>
                      <a:tailEnd type="none" w="sm" len="sm"/>
                    </a:lnL>
                    <a:lnR w="38100" cap="flat" cmpd="sng">
                      <a:solidFill>
                        <a:srgbClr val="FFD699"/>
                      </a:solidFill>
                      <a:prstDash val="solid"/>
                      <a:round/>
                      <a:headEnd type="none" w="sm" len="sm"/>
                      <a:tailEnd type="none" w="sm" len="sm"/>
                    </a:lnR>
                    <a:lnT w="38100" cap="flat" cmpd="sng">
                      <a:solidFill>
                        <a:srgbClr val="FFD699"/>
                      </a:solidFill>
                      <a:prstDash val="solid"/>
                      <a:round/>
                      <a:headEnd type="none" w="sm" len="sm"/>
                      <a:tailEnd type="none" w="sm" len="sm"/>
                    </a:lnT>
                    <a:lnB w="38100" cap="flat" cmpd="sng">
                      <a:solidFill>
                        <a:srgbClr val="FFD6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64" name="Google Shape;264;p10"/>
          <p:cNvSpPr txBox="1"/>
          <p:nvPr/>
        </p:nvSpPr>
        <p:spPr>
          <a:xfrm>
            <a:off x="1028700" y="500174"/>
            <a:ext cx="10376051" cy="60198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a:solidFill>
                  <a:srgbClr val="FFFFFF"/>
                </a:solidFill>
                <a:latin typeface="Arial"/>
                <a:ea typeface="Arial"/>
                <a:cs typeface="Arial"/>
                <a:sym typeface="Arial"/>
              </a:rPr>
              <a:t>Analisa Media Job Posting</a:t>
            </a:r>
            <a:endParaRPr/>
          </a:p>
        </p:txBody>
      </p:sp>
      <p:sp>
        <p:nvSpPr>
          <p:cNvPr id="265" name="Google Shape;265;p10"/>
          <p:cNvSpPr txBox="1"/>
          <p:nvPr/>
        </p:nvSpPr>
        <p:spPr>
          <a:xfrm>
            <a:off x="1028700" y="1542801"/>
            <a:ext cx="5178023" cy="542925"/>
          </a:xfrm>
          <a:prstGeom prst="rect">
            <a:avLst/>
          </a:prstGeom>
          <a:noFill/>
          <a:ln>
            <a:noFill/>
          </a:ln>
        </p:spPr>
        <p:txBody>
          <a:bodyPr spcFirstLastPara="1" wrap="square" lIns="0" tIns="0" rIns="0" bIns="0" anchor="t" anchorCtr="0">
            <a:spAutoFit/>
          </a:bodyPr>
          <a:lstStyle/>
          <a:p>
            <a:pPr marL="0" marR="0" lvl="0" indent="0" algn="l" rtl="0">
              <a:lnSpc>
                <a:spcPct val="120012"/>
              </a:lnSpc>
              <a:spcBef>
                <a:spcPts val="0"/>
              </a:spcBef>
              <a:spcAft>
                <a:spcPts val="0"/>
              </a:spcAft>
              <a:buNone/>
            </a:pPr>
            <a:r>
              <a:rPr lang="en-US" sz="3153" b="1" i="0" u="none" strike="noStrike" cap="none">
                <a:solidFill>
                  <a:srgbClr val="202729"/>
                </a:solidFill>
                <a:latin typeface="Arial"/>
                <a:ea typeface="Arial"/>
                <a:cs typeface="Arial"/>
                <a:sym typeface="Arial"/>
              </a:rPr>
              <a:t>Input Jawaban di Slide ini</a:t>
            </a:r>
            <a:endParaRPr/>
          </a:p>
        </p:txBody>
      </p:sp>
      <p:grpSp>
        <p:nvGrpSpPr>
          <p:cNvPr id="266" name="Google Shape;266;p10"/>
          <p:cNvGrpSpPr/>
          <p:nvPr/>
        </p:nvGrpSpPr>
        <p:grpSpPr>
          <a:xfrm>
            <a:off x="13226149" y="-1408183"/>
            <a:ext cx="6126305" cy="3493908"/>
            <a:chOff x="0" y="-57150"/>
            <a:chExt cx="812800" cy="463550"/>
          </a:xfrm>
        </p:grpSpPr>
        <p:sp>
          <p:nvSpPr>
            <p:cNvPr id="267" name="Google Shape;267;p10"/>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0"/>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9" name="Google Shape;269;p10"/>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70" name="Google Shape;270;p10"/>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235"/>
        <p:cNvGrpSpPr/>
        <p:nvPr/>
      </p:nvGrpSpPr>
      <p:grpSpPr>
        <a:xfrm>
          <a:off x="0" y="0"/>
          <a:ext cx="0" cy="0"/>
          <a:chOff x="0" y="0"/>
          <a:chExt cx="0" cy="0"/>
        </a:xfrm>
      </p:grpSpPr>
      <p:grpSp>
        <p:nvGrpSpPr>
          <p:cNvPr id="236" name="Google Shape;236;p9"/>
          <p:cNvGrpSpPr/>
          <p:nvPr/>
        </p:nvGrpSpPr>
        <p:grpSpPr>
          <a:xfrm>
            <a:off x="0" y="1311487"/>
            <a:ext cx="18288000" cy="10671511"/>
            <a:chOff x="0" y="-76200"/>
            <a:chExt cx="6020741" cy="3513255"/>
          </a:xfrm>
        </p:grpSpPr>
        <p:sp>
          <p:nvSpPr>
            <p:cNvPr id="237" name="Google Shape;237;p9"/>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9"/>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9"/>
          <p:cNvGrpSpPr/>
          <p:nvPr/>
        </p:nvGrpSpPr>
        <p:grpSpPr>
          <a:xfrm>
            <a:off x="1741710" y="3136727"/>
            <a:ext cx="14804581" cy="5976793"/>
            <a:chOff x="0" y="0"/>
            <a:chExt cx="3899149" cy="1429849"/>
          </a:xfrm>
        </p:grpSpPr>
        <p:sp>
          <p:nvSpPr>
            <p:cNvPr id="240" name="Google Shape;240;p9"/>
            <p:cNvSpPr/>
            <p:nvPr/>
          </p:nvSpPr>
          <p:spPr>
            <a:xfrm>
              <a:off x="0" y="0"/>
              <a:ext cx="3899149" cy="1429849"/>
            </a:xfrm>
            <a:custGeom>
              <a:avLst/>
              <a:gdLst/>
              <a:ahLst/>
              <a:cxnLst/>
              <a:rect l="l" t="t" r="r" b="b"/>
              <a:pathLst>
                <a:path w="3899149" h="1429849" extrusionOk="0">
                  <a:moveTo>
                    <a:pt x="0" y="0"/>
                  </a:moveTo>
                  <a:lnTo>
                    <a:pt x="3899149" y="0"/>
                  </a:lnTo>
                  <a:lnTo>
                    <a:pt x="3899149"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41" name="Google Shape;241;p9"/>
            <p:cNvSpPr txBox="1"/>
            <p:nvPr/>
          </p:nvSpPr>
          <p:spPr>
            <a:xfrm>
              <a:off x="0" y="28575"/>
              <a:ext cx="3899149"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3" name="Google Shape;243;p9"/>
          <p:cNvSpPr txBox="1"/>
          <p:nvPr/>
        </p:nvSpPr>
        <p:spPr>
          <a:xfrm>
            <a:off x="1905000" y="3391068"/>
            <a:ext cx="14477999" cy="5539978"/>
          </a:xfrm>
          <a:prstGeom prst="rect">
            <a:avLst/>
          </a:prstGeom>
          <a:noFill/>
          <a:ln>
            <a:noFill/>
          </a:ln>
        </p:spPr>
        <p:txBody>
          <a:bodyPr spcFirstLastPara="1" wrap="square" lIns="0" tIns="0" rIns="0" bIns="0" anchor="t" anchorCtr="0">
            <a:spAutoFit/>
          </a:bodyPr>
          <a:lstStyle/>
          <a:p>
            <a:pPr algn="just"/>
            <a:r>
              <a:rPr lang="en-US" sz="2000" dirty="0">
                <a:latin typeface="+mn-lt"/>
                <a:cs typeface="Calibri" panose="020F0502020204030204" pitchFamily="34" charset="0"/>
              </a:rPr>
              <a:t>1. </a:t>
            </a:r>
            <a:r>
              <a:rPr lang="en-US" sz="2000" dirty="0" err="1">
                <a:latin typeface="+mn-lt"/>
                <a:cs typeface="Calibri" panose="020F0502020204030204" pitchFamily="34" charset="0"/>
              </a:rPr>
              <a:t>Ceritakan</a:t>
            </a:r>
            <a:r>
              <a:rPr lang="en-US" sz="2000" dirty="0">
                <a:latin typeface="+mn-lt"/>
                <a:cs typeface="Calibri" panose="020F0502020204030204" pitchFamily="34" charset="0"/>
              </a:rPr>
              <a:t> </a:t>
            </a:r>
            <a:r>
              <a:rPr lang="en-US" sz="2000" dirty="0" err="1">
                <a:latin typeface="+mn-lt"/>
                <a:cs typeface="Calibri" panose="020F0502020204030204" pitchFamily="34" charset="0"/>
              </a:rPr>
              <a:t>pengalaman</a:t>
            </a:r>
            <a:r>
              <a:rPr lang="en-US" sz="2000" dirty="0">
                <a:latin typeface="+mn-lt"/>
                <a:cs typeface="Calibri" panose="020F0502020204030204" pitchFamily="34" charset="0"/>
              </a:rPr>
              <a:t> Anda </a:t>
            </a:r>
            <a:r>
              <a:rPr lang="en-US" sz="2000" dirty="0" err="1">
                <a:latin typeface="+mn-lt"/>
                <a:cs typeface="Calibri" panose="020F0502020204030204" pitchFamily="34" charset="0"/>
              </a:rPr>
              <a:t>saat</a:t>
            </a:r>
            <a:r>
              <a:rPr lang="en-US" sz="2000" dirty="0">
                <a:latin typeface="+mn-lt"/>
                <a:cs typeface="Calibri" panose="020F0502020204030204" pitchFamily="34" charset="0"/>
              </a:rPr>
              <a:t> </a:t>
            </a:r>
            <a:r>
              <a:rPr lang="en-US" sz="2000" dirty="0" err="1">
                <a:latin typeface="+mn-lt"/>
                <a:cs typeface="Calibri" panose="020F0502020204030204" pitchFamily="34" charset="0"/>
              </a:rPr>
              <a:t>menyusun</a:t>
            </a:r>
            <a:r>
              <a:rPr lang="en-US" sz="2000" dirty="0">
                <a:latin typeface="+mn-lt"/>
                <a:cs typeface="Calibri" panose="020F0502020204030204" pitchFamily="34" charset="0"/>
              </a:rPr>
              <a:t> dan </a:t>
            </a:r>
            <a:r>
              <a:rPr lang="en-US" sz="2000" dirty="0" err="1">
                <a:latin typeface="+mn-lt"/>
                <a:cs typeface="Calibri" panose="020F0502020204030204" pitchFamily="34" charset="0"/>
              </a:rPr>
              <a:t>menjalankan</a:t>
            </a:r>
            <a:r>
              <a:rPr lang="en-US" sz="2000" dirty="0">
                <a:latin typeface="+mn-lt"/>
                <a:cs typeface="Calibri" panose="020F0502020204030204" pitchFamily="34" charset="0"/>
              </a:rPr>
              <a:t> strategi </a:t>
            </a:r>
            <a:r>
              <a:rPr lang="en-US" sz="2000" dirty="0" err="1">
                <a:latin typeface="+mn-lt"/>
                <a:cs typeface="Calibri" panose="020F0502020204030204" pitchFamily="34" charset="0"/>
              </a:rPr>
              <a:t>komunikasi</a:t>
            </a:r>
            <a:r>
              <a:rPr lang="en-US" sz="2000" dirty="0">
                <a:latin typeface="+mn-lt"/>
                <a:cs typeface="Calibri" panose="020F0502020204030204" pitchFamily="34" charset="0"/>
              </a:rPr>
              <a:t> </a:t>
            </a:r>
            <a:r>
              <a:rPr lang="en-US" sz="2000" dirty="0" err="1">
                <a:latin typeface="+mn-lt"/>
                <a:cs typeface="Calibri" panose="020F0502020204030204" pitchFamily="34" charset="0"/>
              </a:rPr>
              <a:t>pemasaran</a:t>
            </a:r>
            <a:r>
              <a:rPr lang="en-US" sz="2000" dirty="0">
                <a:latin typeface="+mn-lt"/>
                <a:cs typeface="Calibri" panose="020F0502020204030204" pitchFamily="34" charset="0"/>
              </a:rPr>
              <a:t> yang </a:t>
            </a:r>
            <a:r>
              <a:rPr lang="en-US" sz="2000" dirty="0" err="1">
                <a:latin typeface="+mn-lt"/>
                <a:cs typeface="Calibri" panose="020F0502020204030204" pitchFamily="34" charset="0"/>
              </a:rPr>
              <a:t>harus</a:t>
            </a:r>
            <a:r>
              <a:rPr lang="en-US" sz="2000" dirty="0">
                <a:latin typeface="+mn-lt"/>
                <a:cs typeface="Calibri" panose="020F0502020204030204" pitchFamily="34" charset="0"/>
              </a:rPr>
              <a:t> </a:t>
            </a:r>
            <a:r>
              <a:rPr lang="en-US" sz="2000" dirty="0" err="1">
                <a:latin typeface="+mn-lt"/>
                <a:cs typeface="Calibri" panose="020F0502020204030204" pitchFamily="34" charset="0"/>
              </a:rPr>
              <a:t>selaras</a:t>
            </a:r>
            <a:r>
              <a:rPr lang="en-US" sz="2000" dirty="0">
                <a:latin typeface="+mn-lt"/>
                <a:cs typeface="Calibri" panose="020F0502020204030204" pitchFamily="34" charset="0"/>
              </a:rPr>
              <a:t> </a:t>
            </a:r>
            <a:r>
              <a:rPr lang="en-US" sz="2000" dirty="0" err="1">
                <a:latin typeface="+mn-lt"/>
                <a:cs typeface="Calibri" panose="020F0502020204030204" pitchFamily="34" charset="0"/>
              </a:rPr>
              <a:t>dengan</a:t>
            </a:r>
            <a:r>
              <a:rPr lang="en-US" sz="2000" dirty="0">
                <a:latin typeface="+mn-lt"/>
                <a:cs typeface="Calibri" panose="020F0502020204030204" pitchFamily="34" charset="0"/>
              </a:rPr>
              <a:t> </a:t>
            </a:r>
            <a:r>
              <a:rPr lang="en-US" sz="2000" dirty="0" err="1">
                <a:latin typeface="+mn-lt"/>
                <a:cs typeface="Calibri" panose="020F0502020204030204" pitchFamily="34" charset="0"/>
              </a:rPr>
              <a:t>budaya</a:t>
            </a:r>
            <a:r>
              <a:rPr lang="en-US" sz="2000" dirty="0">
                <a:latin typeface="+mn-lt"/>
                <a:cs typeface="Calibri" panose="020F0502020204030204" pitchFamily="34" charset="0"/>
              </a:rPr>
              <a:t> dan </a:t>
            </a:r>
            <a:r>
              <a:rPr lang="en-US" sz="2000" dirty="0" err="1">
                <a:latin typeface="+mn-lt"/>
                <a:cs typeface="Calibri" panose="020F0502020204030204" pitchFamily="34" charset="0"/>
              </a:rPr>
              <a:t>nilai</a:t>
            </a:r>
            <a:r>
              <a:rPr lang="en-US" sz="2000" dirty="0">
                <a:latin typeface="+mn-lt"/>
                <a:cs typeface="Calibri" panose="020F0502020204030204" pitchFamily="34" charset="0"/>
              </a:rPr>
              <a:t> </a:t>
            </a:r>
            <a:r>
              <a:rPr lang="en-US" sz="2000" dirty="0" err="1">
                <a:latin typeface="+mn-lt"/>
                <a:cs typeface="Calibri" panose="020F0502020204030204" pitchFamily="34" charset="0"/>
              </a:rPr>
              <a:t>perusahaan</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S</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situasinya</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T</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tujuan</a:t>
            </a:r>
            <a:r>
              <a:rPr lang="en-US" sz="2000" dirty="0">
                <a:latin typeface="+mn-lt"/>
                <a:cs typeface="Calibri" panose="020F0502020204030204" pitchFamily="34" charset="0"/>
              </a:rPr>
              <a:t> </a:t>
            </a:r>
            <a:r>
              <a:rPr lang="en-US" sz="2000" dirty="0" err="1">
                <a:latin typeface="+mn-lt"/>
                <a:cs typeface="Calibri" panose="020F0502020204030204" pitchFamily="34" charset="0"/>
              </a:rPr>
              <a:t>atau</a:t>
            </a:r>
            <a:r>
              <a:rPr lang="en-US" sz="2000" dirty="0">
                <a:latin typeface="+mn-lt"/>
                <a:cs typeface="Calibri" panose="020F0502020204030204" pitchFamily="34" charset="0"/>
              </a:rPr>
              <a:t> </a:t>
            </a:r>
            <a:r>
              <a:rPr lang="en-US" sz="2000" dirty="0" err="1">
                <a:latin typeface="+mn-lt"/>
                <a:cs typeface="Calibri" panose="020F0502020204030204" pitchFamily="34" charset="0"/>
              </a:rPr>
              <a:t>tantangan</a:t>
            </a:r>
            <a:r>
              <a:rPr lang="en-US" sz="2000" dirty="0">
                <a:latin typeface="+mn-lt"/>
                <a:cs typeface="Calibri" panose="020F0502020204030204" pitchFamily="34" charset="0"/>
              </a:rPr>
              <a:t> yang Anda </a:t>
            </a:r>
            <a:r>
              <a:rPr lang="en-US" sz="2000" dirty="0" err="1">
                <a:latin typeface="+mn-lt"/>
                <a:cs typeface="Calibri" panose="020F0502020204030204" pitchFamily="34" charset="0"/>
              </a:rPr>
              <a:t>hadapi</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A</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yang Anda </a:t>
            </a:r>
            <a:r>
              <a:rPr lang="en-US" sz="2000" dirty="0" err="1">
                <a:latin typeface="+mn-lt"/>
                <a:cs typeface="Calibri" panose="020F0502020204030204" pitchFamily="34" charset="0"/>
              </a:rPr>
              <a:t>lakukan</a:t>
            </a:r>
            <a:r>
              <a:rPr lang="en-US" sz="2000" dirty="0">
                <a:latin typeface="+mn-lt"/>
                <a:cs typeface="Calibri" panose="020F0502020204030204" pitchFamily="34" charset="0"/>
              </a:rPr>
              <a:t> </a:t>
            </a:r>
            <a:r>
              <a:rPr lang="en-US" sz="2000" dirty="0" err="1">
                <a:latin typeface="+mn-lt"/>
                <a:cs typeface="Calibri" panose="020F0502020204030204" pitchFamily="34" charset="0"/>
              </a:rPr>
              <a:t>untuk</a:t>
            </a:r>
            <a:r>
              <a:rPr lang="en-US" sz="2000" dirty="0">
                <a:latin typeface="+mn-lt"/>
                <a:cs typeface="Calibri" panose="020F0502020204030204" pitchFamily="34" charset="0"/>
              </a:rPr>
              <a:t> </a:t>
            </a:r>
            <a:r>
              <a:rPr lang="en-US" sz="2000" dirty="0" err="1">
                <a:latin typeface="+mn-lt"/>
                <a:cs typeface="Calibri" panose="020F0502020204030204" pitchFamily="34" charset="0"/>
              </a:rPr>
              <a:t>memastikan</a:t>
            </a:r>
            <a:r>
              <a:rPr lang="en-US" sz="2000" dirty="0">
                <a:latin typeface="+mn-lt"/>
                <a:cs typeface="Calibri" panose="020F0502020204030204" pitchFamily="34" charset="0"/>
              </a:rPr>
              <a:t> </a:t>
            </a:r>
            <a:r>
              <a:rPr lang="en-US" sz="2000" dirty="0" err="1">
                <a:latin typeface="+mn-lt"/>
                <a:cs typeface="Calibri" panose="020F0502020204030204" pitchFamily="34" charset="0"/>
              </a:rPr>
              <a:t>pesan</a:t>
            </a:r>
            <a:r>
              <a:rPr lang="en-US" sz="2000" dirty="0">
                <a:latin typeface="+mn-lt"/>
                <a:cs typeface="Calibri" panose="020F0502020204030204" pitchFamily="34" charset="0"/>
              </a:rPr>
              <a:t> yang </a:t>
            </a:r>
            <a:r>
              <a:rPr lang="en-US" sz="2000" dirty="0" err="1">
                <a:latin typeface="+mn-lt"/>
                <a:cs typeface="Calibri" panose="020F0502020204030204" pitchFamily="34" charset="0"/>
              </a:rPr>
              <a:t>disampaikan</a:t>
            </a:r>
            <a:r>
              <a:rPr lang="en-US" sz="2000" dirty="0">
                <a:latin typeface="+mn-lt"/>
                <a:cs typeface="Calibri" panose="020F0502020204030204" pitchFamily="34" charset="0"/>
              </a:rPr>
              <a:t> </a:t>
            </a:r>
            <a:r>
              <a:rPr lang="en-US" sz="2000" dirty="0" err="1">
                <a:latin typeface="+mn-lt"/>
                <a:cs typeface="Calibri" panose="020F0502020204030204" pitchFamily="34" charset="0"/>
              </a:rPr>
              <a:t>tetap</a:t>
            </a:r>
            <a:r>
              <a:rPr lang="en-US" sz="2000" dirty="0">
                <a:latin typeface="+mn-lt"/>
                <a:cs typeface="Calibri" panose="020F0502020204030204" pitchFamily="34" charset="0"/>
              </a:rPr>
              <a:t> </a:t>
            </a:r>
            <a:r>
              <a:rPr lang="en-US" sz="2000" dirty="0" err="1">
                <a:latin typeface="+mn-lt"/>
                <a:cs typeface="Calibri" panose="020F0502020204030204" pitchFamily="34" charset="0"/>
              </a:rPr>
              <a:t>konsisten</a:t>
            </a:r>
            <a:r>
              <a:rPr lang="en-US" sz="2000" dirty="0">
                <a:latin typeface="+mn-lt"/>
                <a:cs typeface="Calibri" panose="020F0502020204030204" pitchFamily="34" charset="0"/>
              </a:rPr>
              <a:t> </a:t>
            </a:r>
            <a:r>
              <a:rPr lang="en-US" sz="2000" dirty="0" err="1">
                <a:latin typeface="+mn-lt"/>
                <a:cs typeface="Calibri" panose="020F0502020204030204" pitchFamily="34" charset="0"/>
              </a:rPr>
              <a:t>dengan</a:t>
            </a:r>
            <a:r>
              <a:rPr lang="en-US" sz="2000" dirty="0">
                <a:latin typeface="+mn-lt"/>
                <a:cs typeface="Calibri" panose="020F0502020204030204" pitchFamily="34" charset="0"/>
              </a:rPr>
              <a:t> </a:t>
            </a:r>
            <a:r>
              <a:rPr lang="en-US" sz="2000" dirty="0" err="1">
                <a:latin typeface="+mn-lt"/>
                <a:cs typeface="Calibri" panose="020F0502020204030204" pitchFamily="34" charset="0"/>
              </a:rPr>
              <a:t>nilai</a:t>
            </a:r>
            <a:r>
              <a:rPr lang="en-US" sz="2000" dirty="0">
                <a:latin typeface="+mn-lt"/>
                <a:cs typeface="Calibri" panose="020F0502020204030204" pitchFamily="34" charset="0"/>
              </a:rPr>
              <a:t> </a:t>
            </a:r>
            <a:r>
              <a:rPr lang="en-US" sz="2000" dirty="0" err="1">
                <a:latin typeface="+mn-lt"/>
                <a:cs typeface="Calibri" panose="020F0502020204030204" pitchFamily="34" charset="0"/>
              </a:rPr>
              <a:t>perusahaan</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R</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hasil</a:t>
            </a:r>
            <a:r>
              <a:rPr lang="en-US" sz="2000" dirty="0">
                <a:latin typeface="+mn-lt"/>
                <a:cs typeface="Calibri" panose="020F0502020204030204" pitchFamily="34" charset="0"/>
              </a:rPr>
              <a:t> </a:t>
            </a:r>
            <a:r>
              <a:rPr lang="en-US" sz="2000" dirty="0" err="1">
                <a:latin typeface="+mn-lt"/>
                <a:cs typeface="Calibri" panose="020F0502020204030204" pitchFamily="34" charset="0"/>
              </a:rPr>
              <a:t>dari</a:t>
            </a:r>
            <a:r>
              <a:rPr lang="en-US" sz="2000" dirty="0">
                <a:latin typeface="+mn-lt"/>
                <a:cs typeface="Calibri" panose="020F0502020204030204" pitchFamily="34" charset="0"/>
              </a:rPr>
              <a:t> strategi yang Anda </a:t>
            </a:r>
            <a:r>
              <a:rPr lang="en-US" sz="2000" dirty="0" err="1">
                <a:latin typeface="+mn-lt"/>
                <a:cs typeface="Calibri" panose="020F0502020204030204" pitchFamily="34" charset="0"/>
              </a:rPr>
              <a:t>terapkan</a:t>
            </a:r>
            <a:r>
              <a:rPr lang="en-US" sz="2000" dirty="0">
                <a:latin typeface="+mn-lt"/>
                <a:cs typeface="Calibri" panose="020F0502020204030204" pitchFamily="34" charset="0"/>
              </a:rPr>
              <a:t>?</a:t>
            </a:r>
          </a:p>
          <a:p>
            <a:pPr algn="just"/>
            <a:endParaRPr lang="en-US" sz="2000" dirty="0">
              <a:latin typeface="+mn-lt"/>
              <a:cs typeface="Calibri" panose="020F0502020204030204" pitchFamily="34" charset="0"/>
            </a:endParaRPr>
          </a:p>
          <a:p>
            <a:pPr algn="just"/>
            <a:r>
              <a:rPr lang="en-US" sz="2000" dirty="0">
                <a:latin typeface="+mn-lt"/>
                <a:cs typeface="Calibri" panose="020F0502020204030204" pitchFamily="34" charset="0"/>
              </a:rPr>
              <a:t>2. </a:t>
            </a:r>
            <a:r>
              <a:rPr lang="en-US" sz="2000" dirty="0" err="1">
                <a:latin typeface="+mn-lt"/>
                <a:cs typeface="Calibri" panose="020F0502020204030204" pitchFamily="34" charset="0"/>
              </a:rPr>
              <a:t>Pernahkah</a:t>
            </a:r>
            <a:r>
              <a:rPr lang="en-US" sz="2000" dirty="0">
                <a:latin typeface="+mn-lt"/>
                <a:cs typeface="Calibri" panose="020F0502020204030204" pitchFamily="34" charset="0"/>
              </a:rPr>
              <a:t> Anda </a:t>
            </a:r>
            <a:r>
              <a:rPr lang="en-US" sz="2000" dirty="0" err="1">
                <a:latin typeface="+mn-lt"/>
                <a:cs typeface="Calibri" panose="020F0502020204030204" pitchFamily="34" charset="0"/>
              </a:rPr>
              <a:t>diminta</a:t>
            </a:r>
            <a:r>
              <a:rPr lang="en-US" sz="2000" dirty="0">
                <a:latin typeface="+mn-lt"/>
                <a:cs typeface="Calibri" panose="020F0502020204030204" pitchFamily="34" charset="0"/>
              </a:rPr>
              <a:t> </a:t>
            </a:r>
            <a:r>
              <a:rPr lang="en-US" sz="2000" dirty="0" err="1">
                <a:latin typeface="+mn-lt"/>
                <a:cs typeface="Calibri" panose="020F0502020204030204" pitchFamily="34" charset="0"/>
              </a:rPr>
              <a:t>menganalisis</a:t>
            </a:r>
            <a:r>
              <a:rPr lang="en-US" sz="2000" dirty="0">
                <a:latin typeface="+mn-lt"/>
                <a:cs typeface="Calibri" panose="020F0502020204030204" pitchFamily="34" charset="0"/>
              </a:rPr>
              <a:t> </a:t>
            </a:r>
            <a:r>
              <a:rPr lang="en-US" sz="2000" dirty="0" err="1">
                <a:latin typeface="+mn-lt"/>
                <a:cs typeface="Calibri" panose="020F0502020204030204" pitchFamily="34" charset="0"/>
              </a:rPr>
              <a:t>tren</a:t>
            </a:r>
            <a:r>
              <a:rPr lang="en-US" sz="2000" dirty="0">
                <a:latin typeface="+mn-lt"/>
                <a:cs typeface="Calibri" panose="020F0502020204030204" pitchFamily="34" charset="0"/>
              </a:rPr>
              <a:t> pasar dan </a:t>
            </a:r>
            <a:r>
              <a:rPr lang="en-US" sz="2000" dirty="0" err="1">
                <a:latin typeface="+mn-lt"/>
                <a:cs typeface="Calibri" panose="020F0502020204030204" pitchFamily="34" charset="0"/>
              </a:rPr>
              <a:t>memberikan</a:t>
            </a:r>
            <a:r>
              <a:rPr lang="en-US" sz="2000" dirty="0">
                <a:latin typeface="+mn-lt"/>
                <a:cs typeface="Calibri" panose="020F0502020204030204" pitchFamily="34" charset="0"/>
              </a:rPr>
              <a:t> </a:t>
            </a:r>
            <a:r>
              <a:rPr lang="en-US" sz="2000" dirty="0" err="1">
                <a:latin typeface="+mn-lt"/>
                <a:cs typeface="Calibri" panose="020F0502020204030204" pitchFamily="34" charset="0"/>
              </a:rPr>
              <a:t>masukan</a:t>
            </a:r>
            <a:r>
              <a:rPr lang="en-US" sz="2000" dirty="0">
                <a:latin typeface="+mn-lt"/>
                <a:cs typeface="Calibri" panose="020F0502020204030204" pitchFamily="34" charset="0"/>
              </a:rPr>
              <a:t> </a:t>
            </a:r>
            <a:r>
              <a:rPr lang="en-US" sz="2000" dirty="0" err="1">
                <a:latin typeface="+mn-lt"/>
                <a:cs typeface="Calibri" panose="020F0502020204030204" pitchFamily="34" charset="0"/>
              </a:rPr>
              <a:t>terhadap</a:t>
            </a:r>
            <a:r>
              <a:rPr lang="en-US" sz="2000" dirty="0">
                <a:latin typeface="+mn-lt"/>
                <a:cs typeface="Calibri" panose="020F0502020204030204" pitchFamily="34" charset="0"/>
              </a:rPr>
              <a:t> </a:t>
            </a:r>
            <a:r>
              <a:rPr lang="en-US" sz="2000" dirty="0" err="1">
                <a:latin typeface="+mn-lt"/>
                <a:cs typeface="Calibri" panose="020F0502020204030204" pitchFamily="34" charset="0"/>
              </a:rPr>
              <a:t>pengembangan</a:t>
            </a:r>
            <a:r>
              <a:rPr lang="en-US" sz="2000" dirty="0">
                <a:latin typeface="+mn-lt"/>
                <a:cs typeface="Calibri" panose="020F0502020204030204" pitchFamily="34" charset="0"/>
              </a:rPr>
              <a:t> </a:t>
            </a:r>
            <a:r>
              <a:rPr lang="en-US" sz="2000" dirty="0" err="1">
                <a:latin typeface="+mn-lt"/>
                <a:cs typeface="Calibri" panose="020F0502020204030204" pitchFamily="34" charset="0"/>
              </a:rPr>
              <a:t>produk</a:t>
            </a:r>
            <a:r>
              <a:rPr lang="en-US" sz="2000" dirty="0">
                <a:latin typeface="+mn-lt"/>
                <a:cs typeface="Calibri" panose="020F0502020204030204" pitchFamily="34" charset="0"/>
              </a:rPr>
              <a:t> </a:t>
            </a:r>
            <a:r>
              <a:rPr lang="en-US" sz="2000" dirty="0" err="1">
                <a:latin typeface="+mn-lt"/>
                <a:cs typeface="Calibri" panose="020F0502020204030204" pitchFamily="34" charset="0"/>
              </a:rPr>
              <a:t>atau</a:t>
            </a:r>
            <a:r>
              <a:rPr lang="en-US" sz="2000" dirty="0">
                <a:latin typeface="+mn-lt"/>
                <a:cs typeface="Calibri" panose="020F0502020204030204" pitchFamily="34" charset="0"/>
              </a:rPr>
              <a:t> </a:t>
            </a:r>
            <a:r>
              <a:rPr lang="en-US" sz="2000" dirty="0" err="1">
                <a:latin typeface="+mn-lt"/>
                <a:cs typeface="Calibri" panose="020F0502020204030204" pitchFamily="34" charset="0"/>
              </a:rPr>
              <a:t>layanan</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S</a:t>
            </a:r>
            <a:r>
              <a:rPr lang="en-US" sz="2000" dirty="0">
                <a:latin typeface="+mn-lt"/>
                <a:cs typeface="Calibri" panose="020F0502020204030204" pitchFamily="34" charset="0"/>
              </a:rPr>
              <a:t>: </a:t>
            </a:r>
            <a:r>
              <a:rPr lang="en-US" sz="2000" dirty="0" err="1">
                <a:latin typeface="+mn-lt"/>
                <a:cs typeface="Calibri" panose="020F0502020204030204" pitchFamily="34" charset="0"/>
              </a:rPr>
              <a:t>Bagaimana</a:t>
            </a:r>
            <a:r>
              <a:rPr lang="en-US" sz="2000" dirty="0">
                <a:latin typeface="+mn-lt"/>
                <a:cs typeface="Calibri" panose="020F0502020204030204" pitchFamily="34" charset="0"/>
              </a:rPr>
              <a:t> </a:t>
            </a:r>
            <a:r>
              <a:rPr lang="en-US" sz="2000" dirty="0" err="1">
                <a:latin typeface="+mn-lt"/>
                <a:cs typeface="Calibri" panose="020F0502020204030204" pitchFamily="34" charset="0"/>
              </a:rPr>
              <a:t>situasi</a:t>
            </a:r>
            <a:r>
              <a:rPr lang="en-US" sz="2000" dirty="0">
                <a:latin typeface="+mn-lt"/>
                <a:cs typeface="Calibri" panose="020F0502020204030204" pitchFamily="34" charset="0"/>
              </a:rPr>
              <a:t> dan </a:t>
            </a:r>
            <a:r>
              <a:rPr lang="en-US" sz="2000" dirty="0" err="1">
                <a:latin typeface="+mn-lt"/>
                <a:cs typeface="Calibri" panose="020F0502020204030204" pitchFamily="34" charset="0"/>
              </a:rPr>
              <a:t>tugas</a:t>
            </a:r>
            <a:r>
              <a:rPr lang="en-US" sz="2000" dirty="0">
                <a:latin typeface="+mn-lt"/>
                <a:cs typeface="Calibri" panose="020F0502020204030204" pitchFamily="34" charset="0"/>
              </a:rPr>
              <a:t> Anda </a:t>
            </a:r>
            <a:r>
              <a:rPr lang="en-US" sz="2000" dirty="0" err="1">
                <a:latin typeface="+mn-lt"/>
                <a:cs typeface="Calibri" panose="020F0502020204030204" pitchFamily="34" charset="0"/>
              </a:rPr>
              <a:t>saat</a:t>
            </a:r>
            <a:r>
              <a:rPr lang="en-US" sz="2000" dirty="0">
                <a:latin typeface="+mn-lt"/>
                <a:cs typeface="Calibri" panose="020F0502020204030204" pitchFamily="34" charset="0"/>
              </a:rPr>
              <a:t> </a:t>
            </a:r>
            <a:r>
              <a:rPr lang="en-US" sz="2000" dirty="0" err="1">
                <a:latin typeface="+mn-lt"/>
                <a:cs typeface="Calibri" panose="020F0502020204030204" pitchFamily="34" charset="0"/>
              </a:rPr>
              <a:t>itu</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T</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langkah</a:t>
            </a:r>
            <a:r>
              <a:rPr lang="en-US" sz="2000" dirty="0">
                <a:latin typeface="+mn-lt"/>
                <a:cs typeface="Calibri" panose="020F0502020204030204" pitchFamily="34" charset="0"/>
              </a:rPr>
              <a:t> yang Anda </a:t>
            </a:r>
            <a:r>
              <a:rPr lang="en-US" sz="2000" dirty="0" err="1">
                <a:latin typeface="+mn-lt"/>
                <a:cs typeface="Calibri" panose="020F0502020204030204" pitchFamily="34" charset="0"/>
              </a:rPr>
              <a:t>ambil</a:t>
            </a:r>
            <a:r>
              <a:rPr lang="en-US" sz="2000" dirty="0">
                <a:latin typeface="+mn-lt"/>
                <a:cs typeface="Calibri" panose="020F0502020204030204" pitchFamily="34" charset="0"/>
              </a:rPr>
              <a:t> </a:t>
            </a:r>
            <a:r>
              <a:rPr lang="en-US" sz="2000" dirty="0" err="1">
                <a:latin typeface="+mn-lt"/>
                <a:cs typeface="Calibri" panose="020F0502020204030204" pitchFamily="34" charset="0"/>
              </a:rPr>
              <a:t>dalam</a:t>
            </a:r>
            <a:r>
              <a:rPr lang="en-US" sz="2000" dirty="0">
                <a:latin typeface="+mn-lt"/>
                <a:cs typeface="Calibri" panose="020F0502020204030204" pitchFamily="34" charset="0"/>
              </a:rPr>
              <a:t> </a:t>
            </a:r>
            <a:r>
              <a:rPr lang="en-US" sz="2000" dirty="0" err="1">
                <a:latin typeface="+mn-lt"/>
                <a:cs typeface="Calibri" panose="020F0502020204030204" pitchFamily="34" charset="0"/>
              </a:rPr>
              <a:t>menganalisis</a:t>
            </a:r>
            <a:r>
              <a:rPr lang="en-US" sz="2000" dirty="0">
                <a:latin typeface="+mn-lt"/>
                <a:cs typeface="Calibri" panose="020F0502020204030204" pitchFamily="34" charset="0"/>
              </a:rPr>
              <a:t> data pasar?</a:t>
            </a:r>
          </a:p>
          <a:p>
            <a:pPr algn="just"/>
            <a:r>
              <a:rPr lang="en-US" sz="2000" b="1" dirty="0">
                <a:latin typeface="+mn-lt"/>
                <a:cs typeface="Calibri" panose="020F0502020204030204" pitchFamily="34" charset="0"/>
              </a:rPr>
              <a:t>A</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ide </a:t>
            </a:r>
            <a:r>
              <a:rPr lang="en-US" sz="2000" dirty="0" err="1">
                <a:latin typeface="+mn-lt"/>
                <a:cs typeface="Calibri" panose="020F0502020204030204" pitchFamily="34" charset="0"/>
              </a:rPr>
              <a:t>atau</a:t>
            </a:r>
            <a:r>
              <a:rPr lang="en-US" sz="2000" dirty="0">
                <a:latin typeface="+mn-lt"/>
                <a:cs typeface="Calibri" panose="020F0502020204030204" pitchFamily="34" charset="0"/>
              </a:rPr>
              <a:t> </a:t>
            </a:r>
            <a:r>
              <a:rPr lang="en-US" sz="2000" dirty="0" err="1">
                <a:latin typeface="+mn-lt"/>
                <a:cs typeface="Calibri" panose="020F0502020204030204" pitchFamily="34" charset="0"/>
              </a:rPr>
              <a:t>masukan</a:t>
            </a:r>
            <a:r>
              <a:rPr lang="en-US" sz="2000" dirty="0">
                <a:latin typeface="+mn-lt"/>
                <a:cs typeface="Calibri" panose="020F0502020204030204" pitchFamily="34" charset="0"/>
              </a:rPr>
              <a:t> </a:t>
            </a:r>
            <a:r>
              <a:rPr lang="en-US" sz="2000" dirty="0" err="1">
                <a:latin typeface="+mn-lt"/>
                <a:cs typeface="Calibri" panose="020F0502020204030204" pitchFamily="34" charset="0"/>
              </a:rPr>
              <a:t>kreatif</a:t>
            </a:r>
            <a:r>
              <a:rPr lang="en-US" sz="2000" dirty="0">
                <a:latin typeface="+mn-lt"/>
                <a:cs typeface="Calibri" panose="020F0502020204030204" pitchFamily="34" charset="0"/>
              </a:rPr>
              <a:t> yang Anda </a:t>
            </a:r>
            <a:r>
              <a:rPr lang="en-US" sz="2000" dirty="0" err="1">
                <a:latin typeface="+mn-lt"/>
                <a:cs typeface="Calibri" panose="020F0502020204030204" pitchFamily="34" charset="0"/>
              </a:rPr>
              <a:t>berikan</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R</a:t>
            </a:r>
            <a:r>
              <a:rPr lang="en-US" sz="2000" dirty="0">
                <a:latin typeface="+mn-lt"/>
                <a:cs typeface="Calibri" panose="020F0502020204030204" pitchFamily="34" charset="0"/>
              </a:rPr>
              <a:t>: </a:t>
            </a:r>
            <a:r>
              <a:rPr lang="en-US" sz="2000" dirty="0" err="1">
                <a:latin typeface="+mn-lt"/>
                <a:cs typeface="Calibri" panose="020F0502020204030204" pitchFamily="34" charset="0"/>
              </a:rPr>
              <a:t>Bagaimana</a:t>
            </a:r>
            <a:r>
              <a:rPr lang="en-US" sz="2000" dirty="0">
                <a:latin typeface="+mn-lt"/>
                <a:cs typeface="Calibri" panose="020F0502020204030204" pitchFamily="34" charset="0"/>
              </a:rPr>
              <a:t> </a:t>
            </a:r>
            <a:r>
              <a:rPr lang="en-US" sz="2000" dirty="0" err="1">
                <a:latin typeface="+mn-lt"/>
                <a:cs typeface="Calibri" panose="020F0502020204030204" pitchFamily="34" charset="0"/>
              </a:rPr>
              <a:t>hasilnya</a:t>
            </a:r>
            <a:r>
              <a:rPr lang="en-US" sz="2000" dirty="0">
                <a:latin typeface="+mn-lt"/>
                <a:cs typeface="Calibri" panose="020F0502020204030204" pitchFamily="34" charset="0"/>
              </a:rPr>
              <a:t> </a:t>
            </a:r>
            <a:r>
              <a:rPr lang="en-US" sz="2000" dirty="0" err="1">
                <a:latin typeface="+mn-lt"/>
                <a:cs typeface="Calibri" panose="020F0502020204030204" pitchFamily="34" charset="0"/>
              </a:rPr>
              <a:t>terhadap</a:t>
            </a:r>
            <a:r>
              <a:rPr lang="en-US" sz="2000" dirty="0">
                <a:latin typeface="+mn-lt"/>
                <a:cs typeface="Calibri" panose="020F0502020204030204" pitchFamily="34" charset="0"/>
              </a:rPr>
              <a:t> </a:t>
            </a:r>
            <a:r>
              <a:rPr lang="en-US" sz="2000" dirty="0" err="1">
                <a:latin typeface="+mn-lt"/>
                <a:cs typeface="Calibri" panose="020F0502020204030204" pitchFamily="34" charset="0"/>
              </a:rPr>
              <a:t>keputusan</a:t>
            </a:r>
            <a:r>
              <a:rPr lang="en-US" sz="2000" dirty="0">
                <a:latin typeface="+mn-lt"/>
                <a:cs typeface="Calibri" panose="020F0502020204030204" pitchFamily="34" charset="0"/>
              </a:rPr>
              <a:t> </a:t>
            </a:r>
            <a:r>
              <a:rPr lang="en-US" sz="2000" dirty="0" err="1">
                <a:latin typeface="+mn-lt"/>
                <a:cs typeface="Calibri" panose="020F0502020204030204" pitchFamily="34" charset="0"/>
              </a:rPr>
              <a:t>atau</a:t>
            </a:r>
            <a:r>
              <a:rPr lang="en-US" sz="2000" dirty="0">
                <a:latin typeface="+mn-lt"/>
                <a:cs typeface="Calibri" panose="020F0502020204030204" pitchFamily="34" charset="0"/>
              </a:rPr>
              <a:t> </a:t>
            </a:r>
            <a:r>
              <a:rPr lang="en-US" sz="2000" dirty="0" err="1">
                <a:latin typeface="+mn-lt"/>
                <a:cs typeface="Calibri" panose="020F0502020204030204" pitchFamily="34" charset="0"/>
              </a:rPr>
              <a:t>perkembangan</a:t>
            </a:r>
            <a:r>
              <a:rPr lang="en-US" sz="2000" dirty="0">
                <a:latin typeface="+mn-lt"/>
                <a:cs typeface="Calibri" panose="020F0502020204030204" pitchFamily="34" charset="0"/>
              </a:rPr>
              <a:t> </a:t>
            </a:r>
            <a:r>
              <a:rPr lang="en-US" sz="2000" dirty="0" err="1">
                <a:latin typeface="+mn-lt"/>
                <a:cs typeface="Calibri" panose="020F0502020204030204" pitchFamily="34" charset="0"/>
              </a:rPr>
              <a:t>produk</a:t>
            </a:r>
            <a:r>
              <a:rPr lang="en-US" sz="2000" dirty="0">
                <a:latin typeface="+mn-lt"/>
                <a:cs typeface="Calibri" panose="020F0502020204030204" pitchFamily="34" charset="0"/>
              </a:rPr>
              <a:t>?</a:t>
            </a:r>
          </a:p>
          <a:p>
            <a:pPr algn="just"/>
            <a:endParaRPr lang="en-US" sz="2000" dirty="0">
              <a:latin typeface="+mn-lt"/>
              <a:cs typeface="Calibri" panose="020F0502020204030204" pitchFamily="34" charset="0"/>
            </a:endParaRPr>
          </a:p>
          <a:p>
            <a:pPr algn="just"/>
            <a:r>
              <a:rPr lang="en-US" sz="2000" dirty="0">
                <a:latin typeface="+mn-lt"/>
                <a:cs typeface="Calibri" panose="020F0502020204030204" pitchFamily="34" charset="0"/>
              </a:rPr>
              <a:t>3. </a:t>
            </a:r>
            <a:r>
              <a:rPr lang="en-US" sz="2000" dirty="0" err="1">
                <a:latin typeface="+mn-lt"/>
                <a:cs typeface="Calibri" panose="020F0502020204030204" pitchFamily="34" charset="0"/>
              </a:rPr>
              <a:t>Ceritakan</a:t>
            </a:r>
            <a:r>
              <a:rPr lang="en-US" sz="2000" dirty="0">
                <a:latin typeface="+mn-lt"/>
                <a:cs typeface="Calibri" panose="020F0502020204030204" pitchFamily="34" charset="0"/>
              </a:rPr>
              <a:t> </a:t>
            </a:r>
            <a:r>
              <a:rPr lang="en-US" sz="2000" dirty="0" err="1">
                <a:latin typeface="+mn-lt"/>
                <a:cs typeface="Calibri" panose="020F0502020204030204" pitchFamily="34" charset="0"/>
              </a:rPr>
              <a:t>saat</a:t>
            </a:r>
            <a:r>
              <a:rPr lang="en-US" sz="2000" dirty="0">
                <a:latin typeface="+mn-lt"/>
                <a:cs typeface="Calibri" panose="020F0502020204030204" pitchFamily="34" charset="0"/>
              </a:rPr>
              <a:t> Anda </a:t>
            </a:r>
            <a:r>
              <a:rPr lang="en-US" sz="2000" dirty="0" err="1">
                <a:latin typeface="+mn-lt"/>
                <a:cs typeface="Calibri" panose="020F0502020204030204" pitchFamily="34" charset="0"/>
              </a:rPr>
              <a:t>memimpin</a:t>
            </a:r>
            <a:r>
              <a:rPr lang="en-US" sz="2000" dirty="0">
                <a:latin typeface="+mn-lt"/>
                <a:cs typeface="Calibri" panose="020F0502020204030204" pitchFamily="34" charset="0"/>
              </a:rPr>
              <a:t> </a:t>
            </a:r>
            <a:r>
              <a:rPr lang="en-US" sz="2000" dirty="0" err="1">
                <a:latin typeface="+mn-lt"/>
                <a:cs typeface="Calibri" panose="020F0502020204030204" pitchFamily="34" charset="0"/>
              </a:rPr>
              <a:t>atau</a:t>
            </a:r>
            <a:r>
              <a:rPr lang="en-US" sz="2000" dirty="0">
                <a:latin typeface="+mn-lt"/>
                <a:cs typeface="Calibri" panose="020F0502020204030204" pitchFamily="34" charset="0"/>
              </a:rPr>
              <a:t> </a:t>
            </a:r>
            <a:r>
              <a:rPr lang="en-US" sz="2000" dirty="0" err="1">
                <a:latin typeface="+mn-lt"/>
                <a:cs typeface="Calibri" panose="020F0502020204030204" pitchFamily="34" charset="0"/>
              </a:rPr>
              <a:t>mengelola</a:t>
            </a:r>
            <a:r>
              <a:rPr lang="en-US" sz="2000" dirty="0">
                <a:latin typeface="+mn-lt"/>
                <a:cs typeface="Calibri" panose="020F0502020204030204" pitchFamily="34" charset="0"/>
              </a:rPr>
              <a:t> </a:t>
            </a:r>
            <a:r>
              <a:rPr lang="en-US" sz="2000" dirty="0" err="1">
                <a:latin typeface="+mn-lt"/>
                <a:cs typeface="Calibri" panose="020F0502020204030204" pitchFamily="34" charset="0"/>
              </a:rPr>
              <a:t>sebuah</a:t>
            </a:r>
            <a:r>
              <a:rPr lang="en-US" sz="2000" dirty="0">
                <a:latin typeface="+mn-lt"/>
                <a:cs typeface="Calibri" panose="020F0502020204030204" pitchFamily="34" charset="0"/>
              </a:rPr>
              <a:t> </a:t>
            </a:r>
            <a:r>
              <a:rPr lang="en-US" sz="2000" dirty="0" err="1">
                <a:latin typeface="+mn-lt"/>
                <a:cs typeface="Calibri" panose="020F0502020204030204" pitchFamily="34" charset="0"/>
              </a:rPr>
              <a:t>kampanye</a:t>
            </a:r>
            <a:r>
              <a:rPr lang="en-US" sz="2000" dirty="0">
                <a:latin typeface="+mn-lt"/>
                <a:cs typeface="Calibri" panose="020F0502020204030204" pitchFamily="34" charset="0"/>
              </a:rPr>
              <a:t> </a:t>
            </a:r>
            <a:r>
              <a:rPr lang="en-US" sz="2000" dirty="0" err="1">
                <a:latin typeface="+mn-lt"/>
                <a:cs typeface="Calibri" panose="020F0502020204030204" pitchFamily="34" charset="0"/>
              </a:rPr>
              <a:t>merek</a:t>
            </a:r>
            <a:r>
              <a:rPr lang="en-US" sz="2000" dirty="0">
                <a:latin typeface="+mn-lt"/>
                <a:cs typeface="Calibri" panose="020F0502020204030204" pitchFamily="34" charset="0"/>
              </a:rPr>
              <a:t> </a:t>
            </a:r>
            <a:r>
              <a:rPr lang="en-US" sz="2000" dirty="0" err="1">
                <a:latin typeface="+mn-lt"/>
                <a:cs typeface="Calibri" panose="020F0502020204030204" pitchFamily="34" charset="0"/>
              </a:rPr>
              <a:t>dari</a:t>
            </a:r>
            <a:r>
              <a:rPr lang="en-US" sz="2000" dirty="0">
                <a:latin typeface="+mn-lt"/>
                <a:cs typeface="Calibri" panose="020F0502020204030204" pitchFamily="34" charset="0"/>
              </a:rPr>
              <a:t> </a:t>
            </a:r>
            <a:r>
              <a:rPr lang="en-US" sz="2000" dirty="0" err="1">
                <a:latin typeface="+mn-lt"/>
                <a:cs typeface="Calibri" panose="020F0502020204030204" pitchFamily="34" charset="0"/>
              </a:rPr>
              <a:t>awal</a:t>
            </a:r>
            <a:r>
              <a:rPr lang="en-US" sz="2000" dirty="0">
                <a:latin typeface="+mn-lt"/>
                <a:cs typeface="Calibri" panose="020F0502020204030204" pitchFamily="34" charset="0"/>
              </a:rPr>
              <a:t> </a:t>
            </a:r>
            <a:r>
              <a:rPr lang="en-US" sz="2000" dirty="0" err="1">
                <a:latin typeface="+mn-lt"/>
                <a:cs typeface="Calibri" panose="020F0502020204030204" pitchFamily="34" charset="0"/>
              </a:rPr>
              <a:t>sampai</a:t>
            </a:r>
            <a:r>
              <a:rPr lang="en-US" sz="2000" dirty="0">
                <a:latin typeface="+mn-lt"/>
                <a:cs typeface="Calibri" panose="020F0502020204030204" pitchFamily="34" charset="0"/>
              </a:rPr>
              <a:t> </a:t>
            </a:r>
            <a:r>
              <a:rPr lang="en-US" sz="2000" dirty="0" err="1">
                <a:latin typeface="+mn-lt"/>
                <a:cs typeface="Calibri" panose="020F0502020204030204" pitchFamily="34" charset="0"/>
              </a:rPr>
              <a:t>akhir</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S</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tujuan</a:t>
            </a:r>
            <a:r>
              <a:rPr lang="en-US" sz="2000" dirty="0">
                <a:latin typeface="+mn-lt"/>
                <a:cs typeface="Calibri" panose="020F0502020204030204" pitchFamily="34" charset="0"/>
              </a:rPr>
              <a:t> </a:t>
            </a:r>
            <a:r>
              <a:rPr lang="en-US" sz="2000" dirty="0" err="1">
                <a:latin typeface="+mn-lt"/>
                <a:cs typeface="Calibri" panose="020F0502020204030204" pitchFamily="34" charset="0"/>
              </a:rPr>
              <a:t>kampanye</a:t>
            </a:r>
            <a:r>
              <a:rPr lang="en-US" sz="2000" dirty="0">
                <a:latin typeface="+mn-lt"/>
                <a:cs typeface="Calibri" panose="020F0502020204030204" pitchFamily="34" charset="0"/>
              </a:rPr>
              <a:t> </a:t>
            </a:r>
            <a:r>
              <a:rPr lang="en-US" sz="2000" dirty="0" err="1">
                <a:latin typeface="+mn-lt"/>
                <a:cs typeface="Calibri" panose="020F0502020204030204" pitchFamily="34" charset="0"/>
              </a:rPr>
              <a:t>tersebut</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T</a:t>
            </a:r>
            <a:r>
              <a:rPr lang="en-US" sz="2000" dirty="0">
                <a:latin typeface="+mn-lt"/>
                <a:cs typeface="Calibri" panose="020F0502020204030204" pitchFamily="34" charset="0"/>
              </a:rPr>
              <a:t>: </a:t>
            </a:r>
            <a:r>
              <a:rPr lang="en-US" sz="2000" dirty="0" err="1">
                <a:latin typeface="+mn-lt"/>
                <a:cs typeface="Calibri" panose="020F0502020204030204" pitchFamily="34" charset="0"/>
              </a:rPr>
              <a:t>Bagaimana</a:t>
            </a:r>
            <a:r>
              <a:rPr lang="en-US" sz="2000" dirty="0">
                <a:latin typeface="+mn-lt"/>
                <a:cs typeface="Calibri" panose="020F0502020204030204" pitchFamily="34" charset="0"/>
              </a:rPr>
              <a:t> Anda </a:t>
            </a:r>
            <a:r>
              <a:rPr lang="en-US" sz="2000" dirty="0" err="1">
                <a:latin typeface="+mn-lt"/>
                <a:cs typeface="Calibri" panose="020F0502020204030204" pitchFamily="34" charset="0"/>
              </a:rPr>
              <a:t>memastikan</a:t>
            </a:r>
            <a:r>
              <a:rPr lang="en-US" sz="2000" dirty="0">
                <a:latin typeface="+mn-lt"/>
                <a:cs typeface="Calibri" panose="020F0502020204030204" pitchFamily="34" charset="0"/>
              </a:rPr>
              <a:t> </a:t>
            </a:r>
            <a:r>
              <a:rPr lang="en-US" sz="2000" dirty="0" err="1">
                <a:latin typeface="+mn-lt"/>
                <a:cs typeface="Calibri" panose="020F0502020204030204" pitchFamily="34" charset="0"/>
              </a:rPr>
              <a:t>pesan</a:t>
            </a:r>
            <a:r>
              <a:rPr lang="en-US" sz="2000" dirty="0">
                <a:latin typeface="+mn-lt"/>
                <a:cs typeface="Calibri" panose="020F0502020204030204" pitchFamily="34" charset="0"/>
              </a:rPr>
              <a:t> </a:t>
            </a:r>
            <a:r>
              <a:rPr lang="en-US" sz="2000" dirty="0" err="1">
                <a:latin typeface="+mn-lt"/>
                <a:cs typeface="Calibri" panose="020F0502020204030204" pitchFamily="34" charset="0"/>
              </a:rPr>
              <a:t>kampanye</a:t>
            </a:r>
            <a:r>
              <a:rPr lang="en-US" sz="2000" dirty="0">
                <a:latin typeface="+mn-lt"/>
                <a:cs typeface="Calibri" panose="020F0502020204030204" pitchFamily="34" charset="0"/>
              </a:rPr>
              <a:t> </a:t>
            </a:r>
            <a:r>
              <a:rPr lang="en-US" sz="2000" dirty="0" err="1">
                <a:latin typeface="+mn-lt"/>
                <a:cs typeface="Calibri" panose="020F0502020204030204" pitchFamily="34" charset="0"/>
              </a:rPr>
              <a:t>tetap</a:t>
            </a:r>
            <a:r>
              <a:rPr lang="en-US" sz="2000" dirty="0">
                <a:latin typeface="+mn-lt"/>
                <a:cs typeface="Calibri" panose="020F0502020204030204" pitchFamily="34" charset="0"/>
              </a:rPr>
              <a:t> </a:t>
            </a:r>
            <a:r>
              <a:rPr lang="en-US" sz="2000" dirty="0" err="1">
                <a:latin typeface="+mn-lt"/>
                <a:cs typeface="Calibri" panose="020F0502020204030204" pitchFamily="34" charset="0"/>
              </a:rPr>
              <a:t>konsisten</a:t>
            </a:r>
            <a:r>
              <a:rPr lang="en-US" sz="2000" dirty="0">
                <a:latin typeface="+mn-lt"/>
                <a:cs typeface="Calibri" panose="020F0502020204030204" pitchFamily="34" charset="0"/>
              </a:rPr>
              <a:t> dan </a:t>
            </a:r>
            <a:r>
              <a:rPr lang="en-US" sz="2000" dirty="0" err="1">
                <a:latin typeface="+mn-lt"/>
                <a:cs typeface="Calibri" panose="020F0502020204030204" pitchFamily="34" charset="0"/>
              </a:rPr>
              <a:t>tepat</a:t>
            </a:r>
            <a:r>
              <a:rPr lang="en-US" sz="2000" dirty="0">
                <a:latin typeface="+mn-lt"/>
                <a:cs typeface="Calibri" panose="020F0502020204030204" pitchFamily="34" charset="0"/>
              </a:rPr>
              <a:t> </a:t>
            </a:r>
            <a:r>
              <a:rPr lang="en-US" sz="2000" dirty="0" err="1">
                <a:latin typeface="+mn-lt"/>
                <a:cs typeface="Calibri" panose="020F0502020204030204" pitchFamily="34" charset="0"/>
              </a:rPr>
              <a:t>sasaran</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A</a:t>
            </a:r>
            <a:r>
              <a:rPr lang="en-US" sz="2000" dirty="0">
                <a:latin typeface="+mn-lt"/>
                <a:cs typeface="Calibri" panose="020F0502020204030204" pitchFamily="34" charset="0"/>
              </a:rPr>
              <a:t>: </a:t>
            </a:r>
            <a:r>
              <a:rPr lang="en-US" sz="2000" dirty="0" err="1">
                <a:latin typeface="+mn-lt"/>
                <a:cs typeface="Calibri" panose="020F0502020204030204" pitchFamily="34" charset="0"/>
              </a:rPr>
              <a:t>Apa</a:t>
            </a:r>
            <a:r>
              <a:rPr lang="en-US" sz="2000" dirty="0">
                <a:latin typeface="+mn-lt"/>
                <a:cs typeface="Calibri" panose="020F0502020204030204" pitchFamily="34" charset="0"/>
              </a:rPr>
              <a:t> </a:t>
            </a:r>
            <a:r>
              <a:rPr lang="en-US" sz="2000" dirty="0" err="1">
                <a:latin typeface="+mn-lt"/>
                <a:cs typeface="Calibri" panose="020F0502020204030204" pitchFamily="34" charset="0"/>
              </a:rPr>
              <a:t>tantangan</a:t>
            </a:r>
            <a:r>
              <a:rPr lang="en-US" sz="2000" dirty="0">
                <a:latin typeface="+mn-lt"/>
                <a:cs typeface="Calibri" panose="020F0502020204030204" pitchFamily="34" charset="0"/>
              </a:rPr>
              <a:t> </a:t>
            </a:r>
            <a:r>
              <a:rPr lang="en-US" sz="2000" dirty="0" err="1">
                <a:latin typeface="+mn-lt"/>
                <a:cs typeface="Calibri" panose="020F0502020204030204" pitchFamily="34" charset="0"/>
              </a:rPr>
              <a:t>terbesar</a:t>
            </a:r>
            <a:r>
              <a:rPr lang="en-US" sz="2000" dirty="0">
                <a:latin typeface="+mn-lt"/>
                <a:cs typeface="Calibri" panose="020F0502020204030204" pitchFamily="34" charset="0"/>
              </a:rPr>
              <a:t> yang Anda </a:t>
            </a:r>
            <a:r>
              <a:rPr lang="en-US" sz="2000" dirty="0" err="1">
                <a:latin typeface="+mn-lt"/>
                <a:cs typeface="Calibri" panose="020F0502020204030204" pitchFamily="34" charset="0"/>
              </a:rPr>
              <a:t>hadapi</a:t>
            </a:r>
            <a:r>
              <a:rPr lang="en-US" sz="2000" dirty="0">
                <a:latin typeface="+mn-lt"/>
                <a:cs typeface="Calibri" panose="020F0502020204030204" pitchFamily="34" charset="0"/>
              </a:rPr>
              <a:t> dan </a:t>
            </a:r>
            <a:r>
              <a:rPr lang="en-US" sz="2000" dirty="0" err="1">
                <a:latin typeface="+mn-lt"/>
                <a:cs typeface="Calibri" panose="020F0502020204030204" pitchFamily="34" charset="0"/>
              </a:rPr>
              <a:t>bagaimana</a:t>
            </a:r>
            <a:r>
              <a:rPr lang="en-US" sz="2000" dirty="0">
                <a:latin typeface="+mn-lt"/>
                <a:cs typeface="Calibri" panose="020F0502020204030204" pitchFamily="34" charset="0"/>
              </a:rPr>
              <a:t> Anda </a:t>
            </a:r>
            <a:r>
              <a:rPr lang="en-US" sz="2000" dirty="0" err="1">
                <a:latin typeface="+mn-lt"/>
                <a:cs typeface="Calibri" panose="020F0502020204030204" pitchFamily="34" charset="0"/>
              </a:rPr>
              <a:t>mengatasinya</a:t>
            </a:r>
            <a:r>
              <a:rPr lang="en-US" sz="2000" dirty="0">
                <a:latin typeface="+mn-lt"/>
                <a:cs typeface="Calibri" panose="020F0502020204030204" pitchFamily="34" charset="0"/>
              </a:rPr>
              <a:t>?</a:t>
            </a:r>
          </a:p>
          <a:p>
            <a:pPr algn="just"/>
            <a:r>
              <a:rPr lang="en-US" sz="2000" b="1" dirty="0">
                <a:latin typeface="+mn-lt"/>
                <a:cs typeface="Calibri" panose="020F0502020204030204" pitchFamily="34" charset="0"/>
              </a:rPr>
              <a:t>R</a:t>
            </a:r>
            <a:r>
              <a:rPr lang="en-US" sz="2000" dirty="0">
                <a:latin typeface="+mn-lt"/>
                <a:cs typeface="Calibri" panose="020F0502020204030204" pitchFamily="34" charset="0"/>
              </a:rPr>
              <a:t>: </a:t>
            </a:r>
            <a:r>
              <a:rPr lang="en-US" sz="2000" dirty="0" err="1">
                <a:latin typeface="+mn-lt"/>
                <a:cs typeface="Calibri" panose="020F0502020204030204" pitchFamily="34" charset="0"/>
              </a:rPr>
              <a:t>Bagaimana</a:t>
            </a:r>
            <a:r>
              <a:rPr lang="en-US" sz="2000" dirty="0">
                <a:latin typeface="+mn-lt"/>
                <a:cs typeface="Calibri" panose="020F0502020204030204" pitchFamily="34" charset="0"/>
              </a:rPr>
              <a:t> </a:t>
            </a:r>
            <a:r>
              <a:rPr lang="en-US" sz="2000" dirty="0" err="1">
                <a:latin typeface="+mn-lt"/>
                <a:cs typeface="Calibri" panose="020F0502020204030204" pitchFamily="34" charset="0"/>
              </a:rPr>
              <a:t>dampak</a:t>
            </a:r>
            <a:r>
              <a:rPr lang="en-US" sz="2000" dirty="0">
                <a:latin typeface="+mn-lt"/>
                <a:cs typeface="Calibri" panose="020F0502020204030204" pitchFamily="34" charset="0"/>
              </a:rPr>
              <a:t> </a:t>
            </a:r>
            <a:r>
              <a:rPr lang="en-US" sz="2000" dirty="0" err="1">
                <a:latin typeface="+mn-lt"/>
                <a:cs typeface="Calibri" panose="020F0502020204030204" pitchFamily="34" charset="0"/>
              </a:rPr>
              <a:t>kampanye</a:t>
            </a:r>
            <a:r>
              <a:rPr lang="en-US" sz="2000" dirty="0">
                <a:latin typeface="+mn-lt"/>
                <a:cs typeface="Calibri" panose="020F0502020204030204" pitchFamily="34" charset="0"/>
              </a:rPr>
              <a:t> </a:t>
            </a:r>
            <a:r>
              <a:rPr lang="en-US" sz="2000" dirty="0" err="1">
                <a:latin typeface="+mn-lt"/>
                <a:cs typeface="Calibri" panose="020F0502020204030204" pitchFamily="34" charset="0"/>
              </a:rPr>
              <a:t>tersebut</a:t>
            </a:r>
            <a:r>
              <a:rPr lang="en-US" sz="2000" dirty="0">
                <a:latin typeface="+mn-lt"/>
                <a:cs typeface="Calibri" panose="020F0502020204030204" pitchFamily="34" charset="0"/>
              </a:rPr>
              <a:t> </a:t>
            </a:r>
            <a:r>
              <a:rPr lang="en-US" sz="2000" dirty="0" err="1">
                <a:latin typeface="+mn-lt"/>
                <a:cs typeface="Calibri" panose="020F0502020204030204" pitchFamily="34" charset="0"/>
              </a:rPr>
              <a:t>terhadap</a:t>
            </a:r>
            <a:r>
              <a:rPr lang="en-US" sz="2000" dirty="0">
                <a:latin typeface="+mn-lt"/>
                <a:cs typeface="Calibri" panose="020F0502020204030204" pitchFamily="34" charset="0"/>
              </a:rPr>
              <a:t> brand awareness </a:t>
            </a:r>
            <a:r>
              <a:rPr lang="en-US" sz="2000" dirty="0" err="1">
                <a:latin typeface="+mn-lt"/>
                <a:cs typeface="Calibri" panose="020F0502020204030204" pitchFamily="34" charset="0"/>
              </a:rPr>
              <a:t>atau</a:t>
            </a:r>
            <a:r>
              <a:rPr lang="en-US" sz="2000" dirty="0">
                <a:latin typeface="+mn-lt"/>
                <a:cs typeface="Calibri" panose="020F0502020204030204" pitchFamily="34" charset="0"/>
              </a:rPr>
              <a:t> engagement?</a:t>
            </a:r>
          </a:p>
        </p:txBody>
      </p:sp>
      <p:grpSp>
        <p:nvGrpSpPr>
          <p:cNvPr id="244" name="Google Shape;244;p9"/>
          <p:cNvGrpSpPr/>
          <p:nvPr/>
        </p:nvGrpSpPr>
        <p:grpSpPr>
          <a:xfrm>
            <a:off x="13226149" y="-1408183"/>
            <a:ext cx="6126305" cy="3493908"/>
            <a:chOff x="0" y="-57150"/>
            <a:chExt cx="812800" cy="463550"/>
          </a:xfrm>
        </p:grpSpPr>
        <p:sp>
          <p:nvSpPr>
            <p:cNvPr id="245" name="Google Shape;245;p9"/>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7" name="Google Shape;247;p9"/>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248" name="Google Shape;248;p9"/>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sp>
        <p:nvSpPr>
          <p:cNvPr id="249" name="Google Shape;249;p9"/>
          <p:cNvSpPr txBox="1"/>
          <p:nvPr/>
        </p:nvSpPr>
        <p:spPr>
          <a:xfrm>
            <a:off x="1028700" y="500174"/>
            <a:ext cx="13381796" cy="60198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a:solidFill>
                  <a:srgbClr val="FFFFFF"/>
                </a:solidFill>
                <a:latin typeface="Arial"/>
                <a:ea typeface="Arial"/>
                <a:cs typeface="Arial"/>
                <a:sym typeface="Arial"/>
              </a:rPr>
              <a:t>Membuat Pertanyaan BEI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02"/>
        <p:cNvGrpSpPr/>
        <p:nvPr/>
      </p:nvGrpSpPr>
      <p:grpSpPr>
        <a:xfrm>
          <a:off x="0" y="0"/>
          <a:ext cx="0" cy="0"/>
          <a:chOff x="0" y="0"/>
          <a:chExt cx="0" cy="0"/>
        </a:xfrm>
      </p:grpSpPr>
      <p:grpSp>
        <p:nvGrpSpPr>
          <p:cNvPr id="303" name="Google Shape;303;p12"/>
          <p:cNvGrpSpPr/>
          <p:nvPr/>
        </p:nvGrpSpPr>
        <p:grpSpPr>
          <a:xfrm>
            <a:off x="0" y="2176272"/>
            <a:ext cx="18288000" cy="10738507"/>
            <a:chOff x="0" y="-76200"/>
            <a:chExt cx="6020741" cy="3513255"/>
          </a:xfrm>
        </p:grpSpPr>
        <p:sp>
          <p:nvSpPr>
            <p:cNvPr id="304" name="Google Shape;304;p12"/>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2"/>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07" name="Google Shape;307;p12"/>
          <p:cNvSpPr txBox="1"/>
          <p:nvPr/>
        </p:nvSpPr>
        <p:spPr>
          <a:xfrm>
            <a:off x="1327844" y="557769"/>
            <a:ext cx="10376051" cy="71327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dirty="0">
                <a:solidFill>
                  <a:srgbClr val="FFFFFF"/>
                </a:solidFill>
                <a:latin typeface="Arial"/>
                <a:ea typeface="Arial"/>
                <a:cs typeface="Arial"/>
                <a:sym typeface="Arial"/>
              </a:rPr>
              <a:t>Documentation Interview Candidate</a:t>
            </a:r>
            <a:endParaRPr dirty="0"/>
          </a:p>
        </p:txBody>
      </p:sp>
      <p:grpSp>
        <p:nvGrpSpPr>
          <p:cNvPr id="308" name="Google Shape;308;p12"/>
          <p:cNvGrpSpPr/>
          <p:nvPr/>
        </p:nvGrpSpPr>
        <p:grpSpPr>
          <a:xfrm>
            <a:off x="13226149" y="-1408183"/>
            <a:ext cx="6126305" cy="3493908"/>
            <a:chOff x="0" y="-57150"/>
            <a:chExt cx="812800" cy="463550"/>
          </a:xfrm>
        </p:grpSpPr>
        <p:sp>
          <p:nvSpPr>
            <p:cNvPr id="309" name="Google Shape;309;p12"/>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2"/>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1" name="Google Shape;311;p12"/>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312" name="Google Shape;312;p12"/>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grpSp>
        <p:nvGrpSpPr>
          <p:cNvPr id="12" name="Google Shape;285;p11">
            <a:extLst>
              <a:ext uri="{FF2B5EF4-FFF2-40B4-BE49-F238E27FC236}">
                <a16:creationId xmlns:a16="http://schemas.microsoft.com/office/drawing/2014/main" id="{F0B2110D-B0E0-47C6-A0CA-8EE1C01F9BE8}"/>
              </a:ext>
            </a:extLst>
          </p:cNvPr>
          <p:cNvGrpSpPr/>
          <p:nvPr/>
        </p:nvGrpSpPr>
        <p:grpSpPr>
          <a:xfrm>
            <a:off x="1072110" y="2831192"/>
            <a:ext cx="16143780" cy="7318647"/>
            <a:chOff x="0" y="0"/>
            <a:chExt cx="2046897" cy="1429849"/>
          </a:xfrm>
        </p:grpSpPr>
        <p:sp>
          <p:nvSpPr>
            <p:cNvPr id="13" name="Google Shape;286;p11">
              <a:extLst>
                <a:ext uri="{FF2B5EF4-FFF2-40B4-BE49-F238E27FC236}">
                  <a16:creationId xmlns:a16="http://schemas.microsoft.com/office/drawing/2014/main" id="{2DFD1F42-A059-4D83-993F-5464BF651664}"/>
                </a:ext>
              </a:extLst>
            </p:cNvPr>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14" name="Google Shape;287;p11">
              <a:extLst>
                <a:ext uri="{FF2B5EF4-FFF2-40B4-BE49-F238E27FC236}">
                  <a16:creationId xmlns:a16="http://schemas.microsoft.com/office/drawing/2014/main" id="{15F022B8-8CF1-43A3-AD0D-E1633F68185D}"/>
                </a:ext>
              </a:extLst>
            </p:cNvPr>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C2AA4EA4-FEC7-4951-B355-85F61052EF8E}"/>
              </a:ext>
            </a:extLst>
          </p:cNvPr>
          <p:cNvPicPr>
            <a:picLocks noChangeAspect="1"/>
          </p:cNvPicPr>
          <p:nvPr/>
        </p:nvPicPr>
        <p:blipFill>
          <a:blip r:embed="rId3"/>
          <a:stretch>
            <a:fillRect/>
          </a:stretch>
        </p:blipFill>
        <p:spPr>
          <a:xfrm>
            <a:off x="1932360" y="3001015"/>
            <a:ext cx="6608137" cy="3308674"/>
          </a:xfrm>
          <a:prstGeom prst="rect">
            <a:avLst/>
          </a:prstGeom>
        </p:spPr>
      </p:pic>
      <p:pic>
        <p:nvPicPr>
          <p:cNvPr id="5" name="Picture 4">
            <a:extLst>
              <a:ext uri="{FF2B5EF4-FFF2-40B4-BE49-F238E27FC236}">
                <a16:creationId xmlns:a16="http://schemas.microsoft.com/office/drawing/2014/main" id="{C98D8596-34A6-454C-844A-CC5697B6B844}"/>
              </a:ext>
            </a:extLst>
          </p:cNvPr>
          <p:cNvPicPr>
            <a:picLocks noChangeAspect="1"/>
          </p:cNvPicPr>
          <p:nvPr/>
        </p:nvPicPr>
        <p:blipFill>
          <a:blip r:embed="rId4"/>
          <a:stretch>
            <a:fillRect/>
          </a:stretch>
        </p:blipFill>
        <p:spPr>
          <a:xfrm>
            <a:off x="9747503" y="2990956"/>
            <a:ext cx="6608137" cy="3295170"/>
          </a:xfrm>
          <a:prstGeom prst="rect">
            <a:avLst/>
          </a:prstGeom>
        </p:spPr>
      </p:pic>
      <p:pic>
        <p:nvPicPr>
          <p:cNvPr id="7" name="Picture 6">
            <a:extLst>
              <a:ext uri="{FF2B5EF4-FFF2-40B4-BE49-F238E27FC236}">
                <a16:creationId xmlns:a16="http://schemas.microsoft.com/office/drawing/2014/main" id="{F72535CA-4AE3-4A93-86E3-E154271A8F68}"/>
              </a:ext>
            </a:extLst>
          </p:cNvPr>
          <p:cNvPicPr>
            <a:picLocks noChangeAspect="1"/>
          </p:cNvPicPr>
          <p:nvPr/>
        </p:nvPicPr>
        <p:blipFill>
          <a:blip r:embed="rId5"/>
          <a:stretch>
            <a:fillRect/>
          </a:stretch>
        </p:blipFill>
        <p:spPr>
          <a:xfrm>
            <a:off x="1932360" y="6536107"/>
            <a:ext cx="6608137" cy="3474307"/>
          </a:xfrm>
          <a:prstGeom prst="rect">
            <a:avLst/>
          </a:prstGeom>
        </p:spPr>
      </p:pic>
      <p:grpSp>
        <p:nvGrpSpPr>
          <p:cNvPr id="21" name="Google Shape;358;p15">
            <a:extLst>
              <a:ext uri="{FF2B5EF4-FFF2-40B4-BE49-F238E27FC236}">
                <a16:creationId xmlns:a16="http://schemas.microsoft.com/office/drawing/2014/main" id="{52D01B36-50D3-47C2-8FDB-4F41CB11ADEF}"/>
              </a:ext>
            </a:extLst>
          </p:cNvPr>
          <p:cNvGrpSpPr/>
          <p:nvPr/>
        </p:nvGrpSpPr>
        <p:grpSpPr>
          <a:xfrm>
            <a:off x="10731471" y="6775192"/>
            <a:ext cx="4989356" cy="2885581"/>
            <a:chOff x="0" y="0"/>
            <a:chExt cx="2046897" cy="1429849"/>
          </a:xfrm>
        </p:grpSpPr>
        <p:sp>
          <p:nvSpPr>
            <p:cNvPr id="22" name="Google Shape;359;p15">
              <a:extLst>
                <a:ext uri="{FF2B5EF4-FFF2-40B4-BE49-F238E27FC236}">
                  <a16:creationId xmlns:a16="http://schemas.microsoft.com/office/drawing/2014/main" id="{38953B95-9479-472A-8803-26C86C3B2909}"/>
                </a:ext>
              </a:extLst>
            </p:cNvPr>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23" name="Google Shape;360;p15">
              <a:extLst>
                <a:ext uri="{FF2B5EF4-FFF2-40B4-BE49-F238E27FC236}">
                  <a16:creationId xmlns:a16="http://schemas.microsoft.com/office/drawing/2014/main" id="{A6B4B744-944E-49EE-9CD7-0354201B6E46}"/>
                </a:ext>
              </a:extLst>
            </p:cNvPr>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 name="Google Shape;361;p15">
            <a:extLst>
              <a:ext uri="{FF2B5EF4-FFF2-40B4-BE49-F238E27FC236}">
                <a16:creationId xmlns:a16="http://schemas.microsoft.com/office/drawing/2014/main" id="{CAB667FB-609D-47D3-BB04-9A101C545654}"/>
              </a:ext>
            </a:extLst>
          </p:cNvPr>
          <p:cNvSpPr txBox="1"/>
          <p:nvPr/>
        </p:nvSpPr>
        <p:spPr>
          <a:xfrm>
            <a:off x="11253279" y="7375738"/>
            <a:ext cx="3945739" cy="1436034"/>
          </a:xfrm>
          <a:prstGeom prst="rect">
            <a:avLst/>
          </a:prstGeom>
          <a:noFill/>
          <a:ln>
            <a:noFill/>
          </a:ln>
        </p:spPr>
        <p:txBody>
          <a:bodyPr spcFirstLastPara="1" wrap="square" lIns="0" tIns="0" rIns="0" bIns="0" anchor="t" anchorCtr="0">
            <a:spAutoFit/>
          </a:bodyPr>
          <a:lstStyle/>
          <a:p>
            <a:pPr marL="0" marR="0" lvl="0" indent="0" rtl="0">
              <a:lnSpc>
                <a:spcPct val="120010"/>
              </a:lnSpc>
              <a:spcBef>
                <a:spcPts val="0"/>
              </a:spcBef>
              <a:spcAft>
                <a:spcPts val="0"/>
              </a:spcAft>
              <a:buNone/>
            </a:pPr>
            <a:r>
              <a:rPr lang="en-US" sz="1944" b="1">
                <a:solidFill>
                  <a:srgbClr val="202729"/>
                </a:solidFill>
              </a:rPr>
              <a:t>https</a:t>
            </a:r>
            <a:r>
              <a:rPr lang="en-US" sz="1944" b="1" dirty="0">
                <a:solidFill>
                  <a:srgbClr val="202729"/>
                </a:solidFill>
              </a:rPr>
              <a:t>://docs.google.com/spreadsheets/d/1VPkiNxEQUnIcmrJ4c1uFVQL45pWH1xluDzcAwxIuJYk/edit?gid=903833156#gid=903833156</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16"/>
        <p:cNvGrpSpPr/>
        <p:nvPr/>
      </p:nvGrpSpPr>
      <p:grpSpPr>
        <a:xfrm>
          <a:off x="0" y="0"/>
          <a:ext cx="0" cy="0"/>
          <a:chOff x="0" y="0"/>
          <a:chExt cx="0" cy="0"/>
        </a:xfrm>
      </p:grpSpPr>
      <p:grpSp>
        <p:nvGrpSpPr>
          <p:cNvPr id="317" name="Google Shape;317;p13"/>
          <p:cNvGrpSpPr/>
          <p:nvPr/>
        </p:nvGrpSpPr>
        <p:grpSpPr>
          <a:xfrm>
            <a:off x="0" y="1310580"/>
            <a:ext cx="18288000" cy="10671511"/>
            <a:chOff x="0" y="-76200"/>
            <a:chExt cx="6020741" cy="3513255"/>
          </a:xfrm>
        </p:grpSpPr>
        <p:sp>
          <p:nvSpPr>
            <p:cNvPr id="318" name="Google Shape;318;p13"/>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3"/>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aphicFrame>
        <p:nvGraphicFramePr>
          <p:cNvPr id="320" name="Google Shape;320;p13"/>
          <p:cNvGraphicFramePr/>
          <p:nvPr>
            <p:extLst>
              <p:ext uri="{D42A27DB-BD31-4B8C-83A1-F6EECF244321}">
                <p14:modId xmlns:p14="http://schemas.microsoft.com/office/powerpoint/2010/main" val="3628598091"/>
              </p:ext>
            </p:extLst>
          </p:nvPr>
        </p:nvGraphicFramePr>
        <p:xfrm>
          <a:off x="584526" y="2533650"/>
          <a:ext cx="17162925" cy="7642797"/>
        </p:xfrm>
        <a:graphic>
          <a:graphicData uri="http://schemas.openxmlformats.org/drawingml/2006/table">
            <a:tbl>
              <a:tblPr>
                <a:noFill/>
                <a:tableStyleId>{6E7F0235-C9E1-43CC-A6E6-E1D2B18BDB54}</a:tableStyleId>
              </a:tblPr>
              <a:tblGrid>
                <a:gridCol w="1605350">
                  <a:extLst>
                    <a:ext uri="{9D8B030D-6E8A-4147-A177-3AD203B41FA5}">
                      <a16:colId xmlns:a16="http://schemas.microsoft.com/office/drawing/2014/main" val="20000"/>
                    </a:ext>
                  </a:extLst>
                </a:gridCol>
                <a:gridCol w="1944700">
                  <a:extLst>
                    <a:ext uri="{9D8B030D-6E8A-4147-A177-3AD203B41FA5}">
                      <a16:colId xmlns:a16="http://schemas.microsoft.com/office/drawing/2014/main" val="20001"/>
                    </a:ext>
                  </a:extLst>
                </a:gridCol>
                <a:gridCol w="1944700">
                  <a:extLst>
                    <a:ext uri="{9D8B030D-6E8A-4147-A177-3AD203B41FA5}">
                      <a16:colId xmlns:a16="http://schemas.microsoft.com/office/drawing/2014/main" val="20002"/>
                    </a:ext>
                  </a:extLst>
                </a:gridCol>
                <a:gridCol w="1944700">
                  <a:extLst>
                    <a:ext uri="{9D8B030D-6E8A-4147-A177-3AD203B41FA5}">
                      <a16:colId xmlns:a16="http://schemas.microsoft.com/office/drawing/2014/main" val="20003"/>
                    </a:ext>
                  </a:extLst>
                </a:gridCol>
                <a:gridCol w="1944700">
                  <a:extLst>
                    <a:ext uri="{9D8B030D-6E8A-4147-A177-3AD203B41FA5}">
                      <a16:colId xmlns:a16="http://schemas.microsoft.com/office/drawing/2014/main" val="20004"/>
                    </a:ext>
                  </a:extLst>
                </a:gridCol>
                <a:gridCol w="2307025">
                  <a:extLst>
                    <a:ext uri="{9D8B030D-6E8A-4147-A177-3AD203B41FA5}">
                      <a16:colId xmlns:a16="http://schemas.microsoft.com/office/drawing/2014/main" val="20005"/>
                    </a:ext>
                  </a:extLst>
                </a:gridCol>
                <a:gridCol w="1582350">
                  <a:extLst>
                    <a:ext uri="{9D8B030D-6E8A-4147-A177-3AD203B41FA5}">
                      <a16:colId xmlns:a16="http://schemas.microsoft.com/office/drawing/2014/main" val="20006"/>
                    </a:ext>
                  </a:extLst>
                </a:gridCol>
                <a:gridCol w="1944700">
                  <a:extLst>
                    <a:ext uri="{9D8B030D-6E8A-4147-A177-3AD203B41FA5}">
                      <a16:colId xmlns:a16="http://schemas.microsoft.com/office/drawing/2014/main" val="20007"/>
                    </a:ext>
                  </a:extLst>
                </a:gridCol>
                <a:gridCol w="1944700">
                  <a:extLst>
                    <a:ext uri="{9D8B030D-6E8A-4147-A177-3AD203B41FA5}">
                      <a16:colId xmlns:a16="http://schemas.microsoft.com/office/drawing/2014/main" val="20008"/>
                    </a:ext>
                  </a:extLst>
                </a:gridCol>
              </a:tblGrid>
              <a:tr h="1427300">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Nama</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err="1">
                          <a:solidFill>
                            <a:srgbClr val="000000"/>
                          </a:solidFill>
                          <a:latin typeface="Arial"/>
                          <a:ea typeface="Arial"/>
                          <a:cs typeface="Arial"/>
                          <a:sym typeface="Arial"/>
                        </a:rPr>
                        <a:t>Informasi</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umum</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kandidat</a:t>
                      </a:r>
                      <a:endParaRPr sz="1100"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Relevansi pengalaman kerja</a:t>
                      </a:r>
                      <a:endParaRPr sz="1100" b="1"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Soft skill &amp; hard skill</a:t>
                      </a:r>
                      <a:endParaRPr sz="1100" b="1"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a:solidFill>
                            <a:srgbClr val="000000"/>
                          </a:solidFill>
                          <a:latin typeface="Arial"/>
                          <a:ea typeface="Arial"/>
                          <a:cs typeface="Arial"/>
                          <a:sym typeface="Arial"/>
                        </a:rPr>
                        <a:t>Personality/ </a:t>
                      </a:r>
                      <a:r>
                        <a:rPr lang="en-US" sz="1920" b="1" u="none" strike="noStrike" cap="none" dirty="0" err="1">
                          <a:solidFill>
                            <a:srgbClr val="000000"/>
                          </a:solidFill>
                          <a:latin typeface="Arial"/>
                          <a:ea typeface="Arial"/>
                          <a:cs typeface="Arial"/>
                          <a:sym typeface="Arial"/>
                        </a:rPr>
                        <a:t>Karakter</a:t>
                      </a:r>
                      <a:endParaRPr sz="1100" b="1"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Communication</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Culture fit</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err="1">
                          <a:solidFill>
                            <a:srgbClr val="000000"/>
                          </a:solidFill>
                          <a:latin typeface="Arial"/>
                          <a:ea typeface="Arial"/>
                          <a:cs typeface="Arial"/>
                          <a:sym typeface="Arial"/>
                        </a:rPr>
                        <a:t>Remaks</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rekomendasi</a:t>
                      </a:r>
                      <a:r>
                        <a:rPr lang="en-US" sz="1920" b="1" u="none" strike="noStrike" cap="none" dirty="0">
                          <a:solidFill>
                            <a:srgbClr val="000000"/>
                          </a:solidFill>
                          <a:latin typeface="Arial"/>
                          <a:ea typeface="Arial"/>
                          <a:cs typeface="Arial"/>
                          <a:sym typeface="Arial"/>
                        </a:rPr>
                        <a:t> HR</a:t>
                      </a:r>
                      <a:endParaRPr sz="1100"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a:solidFill>
                            <a:srgbClr val="000000"/>
                          </a:solidFill>
                          <a:latin typeface="Arial"/>
                          <a:ea typeface="Arial"/>
                          <a:cs typeface="Arial"/>
                          <a:sym typeface="Arial"/>
                        </a:rPr>
                        <a:t>Lolos/ </a:t>
                      </a:r>
                      <a:r>
                        <a:rPr lang="en-US" sz="1920" b="1" u="none" strike="noStrike" cap="none" dirty="0" err="1">
                          <a:solidFill>
                            <a:srgbClr val="000000"/>
                          </a:solidFill>
                          <a:latin typeface="Arial"/>
                          <a:ea typeface="Arial"/>
                          <a:cs typeface="Arial"/>
                          <a:sym typeface="Arial"/>
                        </a:rPr>
                        <a:t>tidak</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lolos</a:t>
                      </a:r>
                      <a:r>
                        <a:rPr lang="en-US" sz="1920" b="1" u="none" strike="noStrike" cap="none" dirty="0">
                          <a:solidFill>
                            <a:srgbClr val="000000"/>
                          </a:solidFill>
                          <a:latin typeface="Arial"/>
                          <a:ea typeface="Arial"/>
                          <a:cs typeface="Arial"/>
                          <a:sym typeface="Arial"/>
                        </a:rPr>
                        <a:t> HR interview</a:t>
                      </a:r>
                      <a:endParaRPr sz="1100"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solidFill>
                      <a:srgbClr val="FFCDCD"/>
                    </a:solidFill>
                  </a:tcPr>
                </a:tc>
                <a:extLst>
                  <a:ext uri="{0D108BD9-81ED-4DB2-BD59-A6C34878D82A}">
                    <a16:rowId xmlns:a16="http://schemas.microsoft.com/office/drawing/2014/main" val="10000"/>
                  </a:ext>
                </a:extLst>
              </a:tr>
              <a:tr h="756775">
                <a:tc>
                  <a:txBody>
                    <a:bodyPr/>
                    <a:lstStyle/>
                    <a:p>
                      <a:pPr marL="0" marR="0" lvl="0" indent="0" algn="ctr" rtl="0">
                        <a:lnSpc>
                          <a:spcPct val="140000"/>
                        </a:lnSpc>
                        <a:spcBef>
                          <a:spcPts val="0"/>
                        </a:spcBef>
                        <a:spcAft>
                          <a:spcPts val="0"/>
                        </a:spcAft>
                        <a:buNone/>
                      </a:pPr>
                      <a:r>
                        <a:rPr lang="en-US" sz="1400" u="none" strike="noStrike" cap="none" dirty="0" err="1">
                          <a:solidFill>
                            <a:srgbClr val="000000"/>
                          </a:solidFill>
                          <a:latin typeface="Arial" panose="020B0604020202020204" pitchFamily="34" charset="0"/>
                          <a:cs typeface="Arial" panose="020B0604020202020204" pitchFamily="34" charset="0"/>
                          <a:sym typeface="Arial"/>
                        </a:rPr>
                        <a:t>Fauzan</a:t>
                      </a:r>
                      <a:r>
                        <a:rPr lang="en-US" sz="1400" u="none" strike="noStrike" cap="none" dirty="0">
                          <a:solidFill>
                            <a:srgbClr val="000000"/>
                          </a:solidFill>
                          <a:latin typeface="Arial" panose="020B0604020202020204" pitchFamily="34" charset="0"/>
                          <a:cs typeface="Arial" panose="020B0604020202020204" pitchFamily="34" charset="0"/>
                          <a:sym typeface="Arial"/>
                        </a:rPr>
                        <a:t> T. </a:t>
                      </a:r>
                      <a:r>
                        <a:rPr lang="en-US" sz="1400" u="none" strike="noStrike" cap="none" dirty="0" err="1">
                          <a:solidFill>
                            <a:srgbClr val="000000"/>
                          </a:solidFill>
                          <a:latin typeface="Arial" panose="020B0604020202020204" pitchFamily="34" charset="0"/>
                          <a:cs typeface="Arial" panose="020B0604020202020204" pitchFamily="34" charset="0"/>
                          <a:sym typeface="Arial"/>
                        </a:rPr>
                        <a:t>Nugraha</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a:latin typeface="Arial" panose="020B0604020202020204" pitchFamily="34" charset="0"/>
                          <a:cs typeface="Arial" panose="020B0604020202020204" pitchFamily="34" charset="0"/>
                        </a:rPr>
                        <a:t>S1 </a:t>
                      </a:r>
                      <a:r>
                        <a:rPr lang="en-US" sz="1400" u="none" strike="noStrike" cap="none" dirty="0" err="1">
                          <a:latin typeface="Arial" panose="020B0604020202020204" pitchFamily="34" charset="0"/>
                          <a:cs typeface="Arial" panose="020B0604020202020204" pitchFamily="34" charset="0"/>
                        </a:rPr>
                        <a:t>Komunikasi</a:t>
                      </a:r>
                      <a:r>
                        <a:rPr lang="en-US" sz="1400" u="none" strike="noStrike" cap="none" dirty="0">
                          <a:latin typeface="Arial" panose="020B0604020202020204" pitchFamily="34" charset="0"/>
                          <a:cs typeface="Arial" panose="020B0604020202020204" pitchFamily="34" charset="0"/>
                        </a:rPr>
                        <a:t>, </a:t>
                      </a:r>
                      <a:r>
                        <a:rPr lang="en-US" sz="1400" u="none" strike="noStrike" cap="none" dirty="0" err="1">
                          <a:latin typeface="Arial" panose="020B0604020202020204" pitchFamily="34" charset="0"/>
                          <a:cs typeface="Arial" panose="020B0604020202020204" pitchFamily="34" charset="0"/>
                        </a:rPr>
                        <a:t>Domisili</a:t>
                      </a:r>
                      <a:r>
                        <a:rPr lang="en-US" sz="1400" u="none" strike="noStrike" cap="none" dirty="0">
                          <a:latin typeface="Arial" panose="020B0604020202020204" pitchFamily="34" charset="0"/>
                          <a:cs typeface="Arial" panose="020B0604020202020204" pitchFamily="34" charset="0"/>
                        </a:rPr>
                        <a:t> Bogor</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a:latin typeface="Arial" panose="020B0604020202020204" pitchFamily="34" charset="0"/>
                          <a:cs typeface="Arial" panose="020B0604020202020204" pitchFamily="34" charset="0"/>
                        </a:rPr>
                        <a:t>1+ Marketing Communication</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a:r>
                        <a:rPr lang="en-US" sz="1400" b="0" i="0" u="none" strike="noStrike" cap="none" dirty="0">
                          <a:solidFill>
                            <a:srgbClr val="000000"/>
                          </a:solidFill>
                          <a:effectLst/>
                          <a:latin typeface="Arial" panose="020B0604020202020204" pitchFamily="34" charset="0"/>
                          <a:ea typeface="Arial"/>
                          <a:cs typeface="Arial" panose="020B0604020202020204" pitchFamily="34" charset="0"/>
                          <a:sym typeface="Arial"/>
                        </a:rPr>
                        <a:t>Creative,</a:t>
                      </a:r>
                    </a:p>
                    <a:p>
                      <a:pPr algn="ctr"/>
                      <a:r>
                        <a:rPr lang="en-US" sz="1400" b="0" i="0" u="none" strike="noStrike" cap="none" dirty="0">
                          <a:solidFill>
                            <a:srgbClr val="000000"/>
                          </a:solidFill>
                          <a:effectLst/>
                          <a:latin typeface="Arial" panose="020B0604020202020204" pitchFamily="34" charset="0"/>
                          <a:ea typeface="Arial"/>
                          <a:cs typeface="Arial" panose="020B0604020202020204" pitchFamily="34" charset="0"/>
                          <a:sym typeface="Arial"/>
                        </a:rPr>
                        <a:t>Content Production,</a:t>
                      </a:r>
                    </a:p>
                    <a:p>
                      <a:pPr algn="ctr"/>
                      <a:r>
                        <a:rPr lang="en-US" sz="1400" b="0" i="0" u="none" strike="noStrike" cap="none" dirty="0" err="1">
                          <a:solidFill>
                            <a:srgbClr val="000000"/>
                          </a:solidFill>
                          <a:effectLst/>
                          <a:latin typeface="Arial" panose="020B0604020202020204" pitchFamily="34" charset="0"/>
                          <a:ea typeface="Arial"/>
                          <a:cs typeface="Arial" panose="020B0604020202020204" pitchFamily="34" charset="0"/>
                          <a:sym typeface="Arial"/>
                        </a:rPr>
                        <a:t>Collaboratif</a:t>
                      </a:r>
                      <a:endParaRPr lang="en-US" sz="1400" b="0" i="0" u="none" strike="noStrike" cap="none" dirty="0">
                        <a:solidFill>
                          <a:srgbClr val="000000"/>
                        </a:solidFill>
                        <a:effectLst/>
                        <a:latin typeface="Arial" panose="020B0604020202020204" pitchFamily="34" charset="0"/>
                        <a:ea typeface="Arial"/>
                        <a:cs typeface="Arial" panose="020B0604020202020204" pitchFamily="34" charset="0"/>
                        <a:sym typeface="Arial"/>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b="0" i="0" dirty="0" err="1">
                          <a:solidFill>
                            <a:srgbClr val="000000"/>
                          </a:solidFill>
                          <a:effectLst/>
                          <a:latin typeface="Arial" panose="020B0604020202020204" pitchFamily="34" charset="0"/>
                          <a:cs typeface="Arial" panose="020B0604020202020204" pitchFamily="34" charset="0"/>
                        </a:rPr>
                        <a:t>Terorganisir</a:t>
                      </a:r>
                      <a:r>
                        <a:rPr lang="en-US" sz="1400" b="0" i="0" dirty="0">
                          <a:solidFill>
                            <a:srgbClr val="000000"/>
                          </a:solidFill>
                          <a:effectLst/>
                          <a:latin typeface="Arial" panose="020B0604020202020204" pitchFamily="34" charset="0"/>
                          <a:cs typeface="Arial" panose="020B0604020202020204" pitchFamily="34" charset="0"/>
                        </a:rPr>
                        <a:t> dan </a:t>
                      </a:r>
                      <a:r>
                        <a:rPr lang="en-US" sz="1400" b="0" i="0" dirty="0" err="1">
                          <a:solidFill>
                            <a:srgbClr val="000000"/>
                          </a:solidFill>
                          <a:effectLst/>
                          <a:latin typeface="Arial" panose="020B0604020202020204" pitchFamily="34" charset="0"/>
                          <a:cs typeface="Arial" panose="020B0604020202020204" pitchFamily="34" charset="0"/>
                        </a:rPr>
                        <a:t>Inovasi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b="0" i="0" dirty="0">
                          <a:solidFill>
                            <a:srgbClr val="000000"/>
                          </a:solidFill>
                          <a:effectLst/>
                          <a:latin typeface="Arial" panose="020B0604020202020204" pitchFamily="34" charset="0"/>
                          <a:cs typeface="Arial" panose="020B0604020202020204" pitchFamily="34" charset="0"/>
                        </a:rPr>
                        <a:t>Public Speaking, </a:t>
                      </a:r>
                      <a:r>
                        <a:rPr lang="en-US" sz="1400" b="0" i="0" dirty="0" err="1">
                          <a:solidFill>
                            <a:srgbClr val="000000"/>
                          </a:solidFill>
                          <a:effectLst/>
                          <a:latin typeface="Arial" panose="020B0604020202020204" pitchFamily="34" charset="0"/>
                          <a:cs typeface="Arial" panose="020B0604020202020204" pitchFamily="34" charset="0"/>
                        </a:rPr>
                        <a:t>Negosiasi</a:t>
                      </a:r>
                      <a:r>
                        <a:rPr lang="en-US" sz="1400" b="0" i="0" dirty="0">
                          <a:solidFill>
                            <a:srgbClr val="000000"/>
                          </a:solidFill>
                          <a:effectLst/>
                          <a:latin typeface="Arial" panose="020B0604020202020204" pitchFamily="34" charset="0"/>
                          <a:cs typeface="Arial" panose="020B0604020202020204" pitchFamily="34" charset="0"/>
                        </a:rPr>
                        <a:t> dan Visual </a:t>
                      </a:r>
                      <a:r>
                        <a:rPr lang="en-US" sz="1400" b="0" i="0" dirty="0" err="1">
                          <a:solidFill>
                            <a:srgbClr val="000000"/>
                          </a:solidFill>
                          <a:effectLst/>
                          <a:latin typeface="Arial" panose="020B0604020202020204" pitchFamily="34" charset="0"/>
                          <a:cs typeface="Arial" panose="020B0604020202020204" pitchFamily="34" charset="0"/>
                        </a:rPr>
                        <a:t>Promosi</a:t>
                      </a:r>
                      <a:r>
                        <a:rPr lang="en-US" sz="1400" b="0" i="0" dirty="0">
                          <a:solidFill>
                            <a:srgbClr val="000000"/>
                          </a:solidFill>
                          <a:effectLst/>
                          <a:latin typeface="Arial" panose="020B0604020202020204" pitchFamily="34" charset="0"/>
                          <a:cs typeface="Arial" panose="020B0604020202020204" pitchFamily="34" charset="0"/>
                        </a:rPr>
                        <a:t>.</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b="0" i="0" dirty="0">
                          <a:solidFill>
                            <a:srgbClr val="000000"/>
                          </a:solidFill>
                          <a:effectLst/>
                          <a:latin typeface="Arial" panose="020B0604020202020204" pitchFamily="34" charset="0"/>
                          <a:cs typeface="Arial" panose="020B0604020202020204" pitchFamily="34" charset="0"/>
                        </a:rPr>
                        <a:t>Creative dan </a:t>
                      </a:r>
                      <a:r>
                        <a:rPr lang="en-US" sz="1400" b="0" i="0" dirty="0" err="1">
                          <a:solidFill>
                            <a:srgbClr val="000000"/>
                          </a:solidFill>
                          <a:effectLst/>
                          <a:latin typeface="Arial" panose="020B0604020202020204" pitchFamily="34" charset="0"/>
                          <a:cs typeface="Arial" panose="020B0604020202020204" pitchFamily="34" charset="0"/>
                        </a:rPr>
                        <a:t>Collaboratif</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b="0" i="0" dirty="0" err="1">
                          <a:solidFill>
                            <a:srgbClr val="000000"/>
                          </a:solidFill>
                          <a:effectLst/>
                          <a:latin typeface="Arial" panose="020B0604020202020204" pitchFamily="34" charset="0"/>
                          <a:cs typeface="Arial" panose="020B0604020202020204" pitchFamily="34" charset="0"/>
                        </a:rPr>
                        <a:t>Oke</a:t>
                      </a:r>
                      <a:r>
                        <a:rPr lang="en-US" sz="1400" b="0" i="0" dirty="0">
                          <a:solidFill>
                            <a:srgbClr val="000000"/>
                          </a:solidFill>
                          <a:effectLst/>
                          <a:latin typeface="Arial" panose="020B0604020202020204" pitchFamily="34" charset="0"/>
                          <a:cs typeface="Arial" panose="020B0604020202020204" pitchFamily="34" charset="0"/>
                        </a:rPr>
                        <a:t>, </a:t>
                      </a:r>
                      <a:r>
                        <a:rPr lang="en-US" sz="1400" b="0" i="0" dirty="0" err="1">
                          <a:solidFill>
                            <a:srgbClr val="000000"/>
                          </a:solidFill>
                          <a:effectLst/>
                          <a:latin typeface="Arial" panose="020B0604020202020204" pitchFamily="34" charset="0"/>
                          <a:cs typeface="Arial" panose="020B0604020202020204" pitchFamily="34" charset="0"/>
                        </a:rPr>
                        <a:t>namun</a:t>
                      </a:r>
                      <a:r>
                        <a:rPr lang="en-US" sz="1400" b="0" i="0" dirty="0">
                          <a:solidFill>
                            <a:srgbClr val="000000"/>
                          </a:solidFill>
                          <a:effectLst/>
                          <a:latin typeface="Arial" panose="020B0604020202020204" pitchFamily="34" charset="0"/>
                          <a:cs typeface="Arial" panose="020B0604020202020204" pitchFamily="34" charset="0"/>
                        </a:rPr>
                        <a:t> </a:t>
                      </a:r>
                      <a:r>
                        <a:rPr lang="en-US" sz="1400" b="0" i="0" dirty="0" err="1">
                          <a:solidFill>
                            <a:srgbClr val="000000"/>
                          </a:solidFill>
                          <a:effectLst/>
                          <a:latin typeface="Arial" panose="020B0604020202020204" pitchFamily="34" charset="0"/>
                          <a:cs typeface="Arial" panose="020B0604020202020204" pitchFamily="34" charset="0"/>
                        </a:rPr>
                        <a:t>perlu</a:t>
                      </a:r>
                      <a:r>
                        <a:rPr lang="en-US" sz="1400" b="0" i="0" dirty="0">
                          <a:solidFill>
                            <a:srgbClr val="000000"/>
                          </a:solidFill>
                          <a:effectLst/>
                          <a:latin typeface="Arial" panose="020B0604020202020204" pitchFamily="34" charset="0"/>
                          <a:cs typeface="Arial" panose="020B0604020202020204" pitchFamily="34" charset="0"/>
                        </a:rPr>
                        <a:t> di develop </a:t>
                      </a:r>
                      <a:r>
                        <a:rPr lang="en-US" sz="1400" b="0" i="0" dirty="0" err="1">
                          <a:solidFill>
                            <a:srgbClr val="000000"/>
                          </a:solidFill>
                          <a:effectLst/>
                          <a:latin typeface="Arial" panose="020B0604020202020204" pitchFamily="34" charset="0"/>
                          <a:cs typeface="Arial" panose="020B0604020202020204" pitchFamily="34" charset="0"/>
                        </a:rPr>
                        <a:t>terkait</a:t>
                      </a:r>
                      <a:r>
                        <a:rPr lang="en-US" sz="1400" b="0" i="0" dirty="0">
                          <a:solidFill>
                            <a:srgbClr val="000000"/>
                          </a:solidFill>
                          <a:effectLst/>
                          <a:latin typeface="Arial" panose="020B0604020202020204" pitchFamily="34" charset="0"/>
                          <a:cs typeface="Arial" panose="020B0604020202020204" pitchFamily="34" charset="0"/>
                        </a:rPr>
                        <a:t> culture dan proses </a:t>
                      </a:r>
                      <a:r>
                        <a:rPr lang="en-US" sz="1400" b="0" i="0" dirty="0" err="1">
                          <a:solidFill>
                            <a:srgbClr val="000000"/>
                          </a:solidFill>
                          <a:effectLst/>
                          <a:latin typeface="Arial" panose="020B0604020202020204" pitchFamily="34" charset="0"/>
                          <a:cs typeface="Arial" panose="020B0604020202020204" pitchFamily="34" charset="0"/>
                        </a:rPr>
                        <a:t>bisnis</a:t>
                      </a:r>
                      <a:r>
                        <a:rPr lang="en-US" sz="1400" b="0" i="0" dirty="0">
                          <a:solidFill>
                            <a:srgbClr val="000000"/>
                          </a:solidFill>
                          <a:effectLst/>
                          <a:latin typeface="Arial" panose="020B0604020202020204" pitchFamily="34" charset="0"/>
                          <a:cs typeface="Arial" panose="020B0604020202020204" pitchFamily="34" charset="0"/>
                        </a:rPr>
                        <a:t> FMCG.</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a:latin typeface="Arial" panose="020B0604020202020204" pitchFamily="34" charset="0"/>
                          <a:cs typeface="Arial" panose="020B0604020202020204" pitchFamily="34" charset="0"/>
                        </a:rPr>
                        <a:t>Lolos</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1"/>
                  </a:ext>
                </a:extLst>
              </a:tr>
              <a:tr h="756775">
                <a:tc>
                  <a:txBody>
                    <a:bodyPr/>
                    <a:lstStyle/>
                    <a:p>
                      <a:pPr marL="0" marR="0" lvl="0" indent="0" algn="ctr" rtl="0">
                        <a:lnSpc>
                          <a:spcPct val="140000"/>
                        </a:lnSpc>
                        <a:spcBef>
                          <a:spcPts val="0"/>
                        </a:spcBef>
                        <a:spcAft>
                          <a:spcPts val="0"/>
                        </a:spcAft>
                        <a:buNone/>
                      </a:pPr>
                      <a:r>
                        <a:rPr lang="en-US" b="0" i="0" dirty="0">
                          <a:solidFill>
                            <a:srgbClr val="000000"/>
                          </a:solidFill>
                          <a:effectLst/>
                        </a:rPr>
                        <a:t>Rizal </a:t>
                      </a:r>
                      <a:r>
                        <a:rPr lang="en-US" b="0" i="0" dirty="0" err="1">
                          <a:solidFill>
                            <a:srgbClr val="000000"/>
                          </a:solidFill>
                          <a:effectLst/>
                        </a:rPr>
                        <a:t>Achmad</a:t>
                      </a:r>
                      <a:r>
                        <a:rPr lang="en-US" b="0" i="0" dirty="0">
                          <a:solidFill>
                            <a:srgbClr val="000000"/>
                          </a:solidFill>
                          <a:effectLst/>
                        </a:rPr>
                        <a:t> </a:t>
                      </a:r>
                      <a:r>
                        <a:rPr lang="en-US" b="0" i="0" dirty="0" err="1">
                          <a:solidFill>
                            <a:srgbClr val="000000"/>
                          </a:solidFill>
                          <a:effectLst/>
                        </a:rPr>
                        <a:t>Fauzi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pl-PL" b="0" i="0" dirty="0">
                          <a:solidFill>
                            <a:srgbClr val="000000"/>
                          </a:solidFill>
                          <a:effectLst/>
                        </a:rPr>
                        <a:t>S1 Manajemen, domisili Jakarta Barat</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7+ </a:t>
                      </a:r>
                      <a:r>
                        <a:rPr lang="en-US" b="0" i="0" dirty="0" err="1">
                          <a:solidFill>
                            <a:srgbClr val="000000"/>
                          </a:solidFill>
                          <a:effectLst/>
                        </a:rPr>
                        <a:t>Pengalaman</a:t>
                      </a:r>
                      <a:r>
                        <a:rPr lang="en-US" b="0" i="0" dirty="0">
                          <a:solidFill>
                            <a:srgbClr val="000000"/>
                          </a:solidFill>
                          <a:effectLst/>
                        </a:rPr>
                        <a:t> di </a:t>
                      </a:r>
                      <a:r>
                        <a:rPr lang="en-US" b="0" i="0" dirty="0" err="1">
                          <a:solidFill>
                            <a:srgbClr val="000000"/>
                          </a:solidFill>
                          <a:effectLst/>
                        </a:rPr>
                        <a:t>bidang</a:t>
                      </a:r>
                      <a:r>
                        <a:rPr lang="en-US" b="0" i="0" dirty="0">
                          <a:solidFill>
                            <a:srgbClr val="000000"/>
                          </a:solidFill>
                          <a:effectLst/>
                        </a:rPr>
                        <a:t> Marketing</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err="1">
                          <a:solidFill>
                            <a:srgbClr val="000000"/>
                          </a:solidFill>
                          <a:effectLst/>
                        </a:rPr>
                        <a:t>Multitasking,Sosial</a:t>
                      </a:r>
                      <a:r>
                        <a:rPr lang="en-US" b="0" i="0" dirty="0">
                          <a:solidFill>
                            <a:srgbClr val="000000"/>
                          </a:solidFill>
                          <a:effectLst/>
                        </a:rPr>
                        <a:t> Media Campaign, Digital Ads Management</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err="1">
                          <a:solidFill>
                            <a:srgbClr val="000000"/>
                          </a:solidFill>
                          <a:effectLst/>
                        </a:rPr>
                        <a:t>Adaptasi</a:t>
                      </a:r>
                      <a:r>
                        <a:rPr lang="en-US" b="0" i="0" dirty="0">
                          <a:solidFill>
                            <a:srgbClr val="000000"/>
                          </a:solidFill>
                          <a:effectLst/>
                        </a:rPr>
                        <a:t> dan </a:t>
                      </a:r>
                      <a:r>
                        <a:rPr lang="en-US" b="0" i="0" dirty="0" err="1">
                          <a:solidFill>
                            <a:srgbClr val="000000"/>
                          </a:solidFill>
                          <a:effectLst/>
                        </a:rPr>
                        <a:t>Kolaborasi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Public Speaking &amp; Interpersonal</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err="1">
                          <a:latin typeface="Arial" panose="020B0604020202020204" pitchFamily="34" charset="0"/>
                          <a:cs typeface="Arial" panose="020B0604020202020204" pitchFamily="34" charset="0"/>
                        </a:rPr>
                        <a:t>Adaptasi</a:t>
                      </a:r>
                      <a:r>
                        <a:rPr lang="en-US" sz="1400" u="none" strike="noStrike" cap="none" dirty="0">
                          <a:latin typeface="Arial" panose="020B0604020202020204" pitchFamily="34" charset="0"/>
                          <a:cs typeface="Arial" panose="020B0604020202020204" pitchFamily="34" charset="0"/>
                        </a:rPr>
                        <a:t>, </a:t>
                      </a:r>
                      <a:r>
                        <a:rPr lang="en-US" sz="1400" u="none" strike="noStrike" cap="none" dirty="0" err="1">
                          <a:latin typeface="Arial" panose="020B0604020202020204" pitchFamily="34" charset="0"/>
                          <a:cs typeface="Arial" panose="020B0604020202020204" pitchFamily="34" charset="0"/>
                        </a:rPr>
                        <a:t>Kolaborasi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err="1">
                          <a:solidFill>
                            <a:srgbClr val="000000"/>
                          </a:solidFill>
                          <a:effectLst/>
                        </a:rPr>
                        <a:t>Oke</a:t>
                      </a:r>
                      <a:r>
                        <a:rPr lang="en-US" b="0" i="0" dirty="0">
                          <a:solidFill>
                            <a:srgbClr val="000000"/>
                          </a:solidFill>
                          <a:effectLst/>
                        </a:rPr>
                        <a:t>, </a:t>
                      </a:r>
                      <a:r>
                        <a:rPr lang="en-US" b="0" i="0" dirty="0" err="1">
                          <a:solidFill>
                            <a:srgbClr val="000000"/>
                          </a:solidFill>
                          <a:effectLst/>
                        </a:rPr>
                        <a:t>namun</a:t>
                      </a:r>
                      <a:r>
                        <a:rPr lang="en-US" b="0" i="0" dirty="0">
                          <a:solidFill>
                            <a:srgbClr val="000000"/>
                          </a:solidFill>
                          <a:effectLst/>
                        </a:rPr>
                        <a:t> </a:t>
                      </a:r>
                      <a:r>
                        <a:rPr lang="en-US" b="0" i="0" dirty="0" err="1">
                          <a:solidFill>
                            <a:srgbClr val="000000"/>
                          </a:solidFill>
                          <a:effectLst/>
                        </a:rPr>
                        <a:t>perlu</a:t>
                      </a:r>
                      <a:r>
                        <a:rPr lang="en-US" b="0" i="0" dirty="0">
                          <a:solidFill>
                            <a:srgbClr val="000000"/>
                          </a:solidFill>
                          <a:effectLst/>
                        </a:rPr>
                        <a:t> di develop </a:t>
                      </a:r>
                      <a:r>
                        <a:rPr lang="en-US" b="0" i="0" dirty="0" err="1">
                          <a:solidFill>
                            <a:srgbClr val="000000"/>
                          </a:solidFill>
                          <a:effectLst/>
                        </a:rPr>
                        <a:t>terkait</a:t>
                      </a:r>
                      <a:r>
                        <a:rPr lang="en-US" b="0" i="0" dirty="0">
                          <a:solidFill>
                            <a:srgbClr val="000000"/>
                          </a:solidFill>
                          <a:effectLst/>
                        </a:rPr>
                        <a:t> culture dan proses </a:t>
                      </a:r>
                      <a:r>
                        <a:rPr lang="en-US" b="0" i="0" dirty="0" err="1">
                          <a:solidFill>
                            <a:srgbClr val="000000"/>
                          </a:solidFill>
                          <a:effectLst/>
                        </a:rPr>
                        <a:t>bisnis</a:t>
                      </a:r>
                      <a:r>
                        <a:rPr lang="en-US" b="0" i="0" dirty="0">
                          <a:solidFill>
                            <a:srgbClr val="000000"/>
                          </a:solidFill>
                          <a:effectLst/>
                        </a:rPr>
                        <a:t> FMCG.</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a:latin typeface="Arial" panose="020B0604020202020204" pitchFamily="34" charset="0"/>
                          <a:cs typeface="Arial" panose="020B0604020202020204" pitchFamily="34" charset="0"/>
                        </a:rPr>
                        <a:t>Lolos</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2"/>
                  </a:ext>
                </a:extLst>
              </a:tr>
              <a:tr h="756775">
                <a:tc>
                  <a:txBody>
                    <a:bodyPr/>
                    <a:lstStyle/>
                    <a:p>
                      <a:pPr marL="0" marR="0" lvl="0" indent="0" algn="ctr" rtl="0">
                        <a:lnSpc>
                          <a:spcPct val="140000"/>
                        </a:lnSpc>
                        <a:spcBef>
                          <a:spcPts val="0"/>
                        </a:spcBef>
                        <a:spcAft>
                          <a:spcPts val="0"/>
                        </a:spcAft>
                        <a:buNone/>
                      </a:pPr>
                      <a:r>
                        <a:rPr lang="en-US" b="0" i="0" dirty="0">
                          <a:solidFill>
                            <a:srgbClr val="000000"/>
                          </a:solidFill>
                          <a:effectLst/>
                        </a:rPr>
                        <a:t>Alex Kurniawan</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S1 </a:t>
                      </a:r>
                      <a:r>
                        <a:rPr lang="en-US" b="0" i="0" dirty="0" err="1">
                          <a:solidFill>
                            <a:srgbClr val="000000"/>
                          </a:solidFill>
                          <a:effectLst/>
                        </a:rPr>
                        <a:t>Manajemen</a:t>
                      </a:r>
                      <a:r>
                        <a:rPr lang="en-US" b="0" i="0" dirty="0">
                          <a:solidFill>
                            <a:srgbClr val="000000"/>
                          </a:solidFill>
                          <a:effectLst/>
                        </a:rPr>
                        <a:t>, </a:t>
                      </a:r>
                      <a:r>
                        <a:rPr lang="en-US" b="0" i="0" dirty="0" err="1">
                          <a:solidFill>
                            <a:srgbClr val="000000"/>
                          </a:solidFill>
                          <a:effectLst/>
                        </a:rPr>
                        <a:t>Domisili</a:t>
                      </a:r>
                      <a:r>
                        <a:rPr lang="en-US" b="0" i="0" dirty="0">
                          <a:solidFill>
                            <a:srgbClr val="000000"/>
                          </a:solidFill>
                          <a:effectLst/>
                        </a:rPr>
                        <a:t> Bogor</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2+ </a:t>
                      </a:r>
                      <a:r>
                        <a:rPr lang="en-US" b="0" i="0" dirty="0" err="1">
                          <a:solidFill>
                            <a:srgbClr val="000000"/>
                          </a:solidFill>
                          <a:effectLst/>
                        </a:rPr>
                        <a:t>Pengalaman</a:t>
                      </a:r>
                      <a:r>
                        <a:rPr lang="en-US" b="0" i="0" dirty="0">
                          <a:solidFill>
                            <a:srgbClr val="000000"/>
                          </a:solidFill>
                          <a:effectLst/>
                        </a:rPr>
                        <a:t>, Sales, Dealer</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Sales </a:t>
                      </a:r>
                      <a:r>
                        <a:rPr lang="en-US" b="0" i="0" dirty="0" err="1">
                          <a:solidFill>
                            <a:srgbClr val="000000"/>
                          </a:solidFill>
                          <a:effectLst/>
                        </a:rPr>
                        <a:t>strategis</a:t>
                      </a:r>
                      <a:r>
                        <a:rPr lang="en-US" b="0" i="0" dirty="0">
                          <a:solidFill>
                            <a:srgbClr val="000000"/>
                          </a:solidFill>
                          <a:effectLst/>
                        </a:rPr>
                        <a:t>, dan </a:t>
                      </a:r>
                      <a:r>
                        <a:rPr lang="en-US" b="0" i="0" dirty="0" err="1">
                          <a:solidFill>
                            <a:srgbClr val="000000"/>
                          </a:solidFill>
                          <a:effectLst/>
                        </a:rPr>
                        <a:t>komunikasi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err="1">
                          <a:solidFill>
                            <a:srgbClr val="000000"/>
                          </a:solidFill>
                          <a:effectLst/>
                        </a:rPr>
                        <a:t>Proaktif</a:t>
                      </a:r>
                      <a:r>
                        <a:rPr lang="en-US" b="0" i="0" dirty="0">
                          <a:solidFill>
                            <a:srgbClr val="000000"/>
                          </a:solidFill>
                          <a:effectLst/>
                        </a:rPr>
                        <a:t> dan </a:t>
                      </a:r>
                      <a:r>
                        <a:rPr lang="en-US" b="0" i="0" dirty="0" err="1">
                          <a:solidFill>
                            <a:srgbClr val="000000"/>
                          </a:solidFill>
                          <a:effectLst/>
                        </a:rPr>
                        <a:t>kolaboratif</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lgn="ctr">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b="0" i="0" dirty="0">
                          <a:solidFill>
                            <a:srgbClr val="000000"/>
                          </a:solidFill>
                          <a:effectLst/>
                        </a:rPr>
                        <a:t>Public Speaking &amp; Interpersonal</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err="1">
                          <a:latin typeface="Arial" panose="020B0604020202020204" pitchFamily="34" charset="0"/>
                          <a:cs typeface="Arial" panose="020B0604020202020204" pitchFamily="34" charset="0"/>
                        </a:rPr>
                        <a:t>Adaptasi</a:t>
                      </a:r>
                      <a:r>
                        <a:rPr lang="en-US" sz="1400" u="none" strike="noStrike" cap="none" dirty="0">
                          <a:latin typeface="Arial" panose="020B0604020202020204" pitchFamily="34" charset="0"/>
                          <a:cs typeface="Arial" panose="020B0604020202020204" pitchFamily="34" charset="0"/>
                        </a:rPr>
                        <a:t>, </a:t>
                      </a:r>
                      <a:r>
                        <a:rPr lang="en-US" sz="1400" u="none" strike="noStrike" cap="none" dirty="0" err="1">
                          <a:latin typeface="Arial" panose="020B0604020202020204" pitchFamily="34" charset="0"/>
                          <a:cs typeface="Arial" panose="020B0604020202020204" pitchFamily="34" charset="0"/>
                        </a:rPr>
                        <a:t>Kolaborasi</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solidFill>
                        <a:srgbClr val="FF9999"/>
                      </a:solidFill>
                      <a:prstDash val="solid"/>
                      <a:round/>
                      <a:headEnd type="none" w="sm" len="sm"/>
                      <a:tailEnd type="none" w="sm" len="sm"/>
                    </a:lnL>
                    <a:lnR w="38100" cap="flat" cmpd="sng" algn="ctr">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dirty="0" err="1">
                          <a:solidFill>
                            <a:srgbClr val="000000"/>
                          </a:solidFill>
                          <a:effectLst/>
                        </a:rPr>
                        <a:t>Pengalaman</a:t>
                      </a:r>
                      <a:r>
                        <a:rPr lang="en-US" b="0" i="0" dirty="0">
                          <a:solidFill>
                            <a:srgbClr val="000000"/>
                          </a:solidFill>
                          <a:effectLst/>
                        </a:rPr>
                        <a:t> </a:t>
                      </a:r>
                      <a:r>
                        <a:rPr lang="en-US" b="0" i="0" dirty="0" err="1">
                          <a:solidFill>
                            <a:srgbClr val="000000"/>
                          </a:solidFill>
                          <a:effectLst/>
                        </a:rPr>
                        <a:t>kurang</a:t>
                      </a:r>
                      <a:r>
                        <a:rPr lang="en-US" b="0" i="0" dirty="0">
                          <a:solidFill>
                            <a:srgbClr val="000000"/>
                          </a:solidFill>
                          <a:effectLst/>
                        </a:rPr>
                        <a:t> related.</a:t>
                      </a:r>
                      <a:endParaRPr lang="en-US" dirty="0">
                        <a:effectLst/>
                      </a:endParaRPr>
                    </a:p>
                  </a:txBody>
                  <a:tcPr anchor="ctr">
                    <a:lnL w="38100" cap="flat" cmpd="sng" algn="ctr">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marL="0" marR="0" lvl="0" indent="0" algn="ctr" rtl="0">
                        <a:lnSpc>
                          <a:spcPct val="244363"/>
                        </a:lnSpc>
                        <a:spcBef>
                          <a:spcPts val="0"/>
                        </a:spcBef>
                        <a:spcAft>
                          <a:spcPts val="0"/>
                        </a:spcAft>
                        <a:buNone/>
                      </a:pPr>
                      <a:r>
                        <a:rPr lang="en-US" sz="1400" u="none" strike="noStrike" cap="none" dirty="0" err="1">
                          <a:latin typeface="Arial" panose="020B0604020202020204" pitchFamily="34" charset="0"/>
                          <a:cs typeface="Arial" panose="020B0604020202020204" pitchFamily="34" charset="0"/>
                        </a:rPr>
                        <a:t>Tidak</a:t>
                      </a:r>
                      <a:r>
                        <a:rPr lang="en-US" sz="1400" u="none" strike="noStrike" cap="none" dirty="0">
                          <a:latin typeface="Arial" panose="020B0604020202020204" pitchFamily="34" charset="0"/>
                          <a:cs typeface="Arial" panose="020B0604020202020204" pitchFamily="34" charset="0"/>
                        </a:rPr>
                        <a:t> Lolos</a:t>
                      </a:r>
                      <a:endParaRPr sz="1400" u="none" strike="noStrike" cap="none"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21" name="Google Shape;321;p13"/>
          <p:cNvSpPr txBox="1"/>
          <p:nvPr/>
        </p:nvSpPr>
        <p:spPr>
          <a:xfrm>
            <a:off x="1300968" y="562705"/>
            <a:ext cx="10376051" cy="60198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a:solidFill>
                  <a:srgbClr val="FFFFFF"/>
                </a:solidFill>
                <a:latin typeface="Arial"/>
                <a:ea typeface="Arial"/>
                <a:cs typeface="Arial"/>
                <a:sym typeface="Arial"/>
              </a:rPr>
              <a:t>Hasil HR Interview</a:t>
            </a:r>
            <a:endParaRPr/>
          </a:p>
        </p:txBody>
      </p:sp>
      <p:grpSp>
        <p:nvGrpSpPr>
          <p:cNvPr id="322" name="Google Shape;322;p13"/>
          <p:cNvGrpSpPr/>
          <p:nvPr/>
        </p:nvGrpSpPr>
        <p:grpSpPr>
          <a:xfrm>
            <a:off x="13226149" y="-1408183"/>
            <a:ext cx="6126305" cy="3493908"/>
            <a:chOff x="0" y="-57150"/>
            <a:chExt cx="812800" cy="463550"/>
          </a:xfrm>
        </p:grpSpPr>
        <p:sp>
          <p:nvSpPr>
            <p:cNvPr id="323" name="Google Shape;323;p13"/>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3"/>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5" name="Google Shape;325;p13"/>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326" name="Google Shape;326;p13"/>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16"/>
        <p:cNvGrpSpPr/>
        <p:nvPr/>
      </p:nvGrpSpPr>
      <p:grpSpPr>
        <a:xfrm>
          <a:off x="0" y="0"/>
          <a:ext cx="0" cy="0"/>
          <a:chOff x="0" y="0"/>
          <a:chExt cx="0" cy="0"/>
        </a:xfrm>
      </p:grpSpPr>
      <p:grpSp>
        <p:nvGrpSpPr>
          <p:cNvPr id="317" name="Google Shape;317;p13"/>
          <p:cNvGrpSpPr/>
          <p:nvPr/>
        </p:nvGrpSpPr>
        <p:grpSpPr>
          <a:xfrm>
            <a:off x="0" y="1310580"/>
            <a:ext cx="18288000" cy="10671511"/>
            <a:chOff x="0" y="-76200"/>
            <a:chExt cx="6020741" cy="3513255"/>
          </a:xfrm>
        </p:grpSpPr>
        <p:sp>
          <p:nvSpPr>
            <p:cNvPr id="318" name="Google Shape;318;p13"/>
            <p:cNvSpPr/>
            <p:nvPr/>
          </p:nvSpPr>
          <p:spPr>
            <a:xfrm>
              <a:off x="0" y="0"/>
              <a:ext cx="6020741" cy="3437055"/>
            </a:xfrm>
            <a:custGeom>
              <a:avLst/>
              <a:gdLst/>
              <a:ahLst/>
              <a:cxnLst/>
              <a:rect l="l" t="t" r="r" b="b"/>
              <a:pathLst>
                <a:path w="6020741" h="3437055" extrusionOk="0">
                  <a:moveTo>
                    <a:pt x="17357" y="0"/>
                  </a:moveTo>
                  <a:lnTo>
                    <a:pt x="6003384" y="0"/>
                  </a:lnTo>
                  <a:cubicBezTo>
                    <a:pt x="6012970" y="0"/>
                    <a:pt x="6020741" y="7771"/>
                    <a:pt x="6020741" y="17357"/>
                  </a:cubicBezTo>
                  <a:lnTo>
                    <a:pt x="6020741" y="3419698"/>
                  </a:lnTo>
                  <a:cubicBezTo>
                    <a:pt x="6020741" y="3429284"/>
                    <a:pt x="6012970" y="3437055"/>
                    <a:pt x="6003384" y="3437055"/>
                  </a:cubicBezTo>
                  <a:lnTo>
                    <a:pt x="17357" y="3437055"/>
                  </a:lnTo>
                  <a:cubicBezTo>
                    <a:pt x="7771" y="3437055"/>
                    <a:pt x="0" y="3429284"/>
                    <a:pt x="0" y="3419698"/>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3"/>
            <p:cNvSpPr txBox="1"/>
            <p:nvPr/>
          </p:nvSpPr>
          <p:spPr>
            <a:xfrm>
              <a:off x="0" y="-76200"/>
              <a:ext cx="6020741" cy="3513255"/>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aphicFrame>
        <p:nvGraphicFramePr>
          <p:cNvPr id="320" name="Google Shape;320;p13"/>
          <p:cNvGraphicFramePr/>
          <p:nvPr>
            <p:extLst>
              <p:ext uri="{D42A27DB-BD31-4B8C-83A1-F6EECF244321}">
                <p14:modId xmlns:p14="http://schemas.microsoft.com/office/powerpoint/2010/main" val="3951050564"/>
              </p:ext>
            </p:extLst>
          </p:nvPr>
        </p:nvGraphicFramePr>
        <p:xfrm>
          <a:off x="584526" y="2533650"/>
          <a:ext cx="17162925" cy="6007908"/>
        </p:xfrm>
        <a:graphic>
          <a:graphicData uri="http://schemas.openxmlformats.org/drawingml/2006/table">
            <a:tbl>
              <a:tblPr>
                <a:noFill/>
                <a:tableStyleId>{6E7F0235-C9E1-43CC-A6E6-E1D2B18BDB54}</a:tableStyleId>
              </a:tblPr>
              <a:tblGrid>
                <a:gridCol w="1605350">
                  <a:extLst>
                    <a:ext uri="{9D8B030D-6E8A-4147-A177-3AD203B41FA5}">
                      <a16:colId xmlns:a16="http://schemas.microsoft.com/office/drawing/2014/main" val="20000"/>
                    </a:ext>
                  </a:extLst>
                </a:gridCol>
                <a:gridCol w="1944700">
                  <a:extLst>
                    <a:ext uri="{9D8B030D-6E8A-4147-A177-3AD203B41FA5}">
                      <a16:colId xmlns:a16="http://schemas.microsoft.com/office/drawing/2014/main" val="20001"/>
                    </a:ext>
                  </a:extLst>
                </a:gridCol>
                <a:gridCol w="1944700">
                  <a:extLst>
                    <a:ext uri="{9D8B030D-6E8A-4147-A177-3AD203B41FA5}">
                      <a16:colId xmlns:a16="http://schemas.microsoft.com/office/drawing/2014/main" val="20002"/>
                    </a:ext>
                  </a:extLst>
                </a:gridCol>
                <a:gridCol w="1944700">
                  <a:extLst>
                    <a:ext uri="{9D8B030D-6E8A-4147-A177-3AD203B41FA5}">
                      <a16:colId xmlns:a16="http://schemas.microsoft.com/office/drawing/2014/main" val="20003"/>
                    </a:ext>
                  </a:extLst>
                </a:gridCol>
                <a:gridCol w="1944700">
                  <a:extLst>
                    <a:ext uri="{9D8B030D-6E8A-4147-A177-3AD203B41FA5}">
                      <a16:colId xmlns:a16="http://schemas.microsoft.com/office/drawing/2014/main" val="20004"/>
                    </a:ext>
                  </a:extLst>
                </a:gridCol>
                <a:gridCol w="2307025">
                  <a:extLst>
                    <a:ext uri="{9D8B030D-6E8A-4147-A177-3AD203B41FA5}">
                      <a16:colId xmlns:a16="http://schemas.microsoft.com/office/drawing/2014/main" val="20005"/>
                    </a:ext>
                  </a:extLst>
                </a:gridCol>
                <a:gridCol w="1582350">
                  <a:extLst>
                    <a:ext uri="{9D8B030D-6E8A-4147-A177-3AD203B41FA5}">
                      <a16:colId xmlns:a16="http://schemas.microsoft.com/office/drawing/2014/main" val="20006"/>
                    </a:ext>
                  </a:extLst>
                </a:gridCol>
                <a:gridCol w="1944700">
                  <a:extLst>
                    <a:ext uri="{9D8B030D-6E8A-4147-A177-3AD203B41FA5}">
                      <a16:colId xmlns:a16="http://schemas.microsoft.com/office/drawing/2014/main" val="20007"/>
                    </a:ext>
                  </a:extLst>
                </a:gridCol>
                <a:gridCol w="1944700">
                  <a:extLst>
                    <a:ext uri="{9D8B030D-6E8A-4147-A177-3AD203B41FA5}">
                      <a16:colId xmlns:a16="http://schemas.microsoft.com/office/drawing/2014/main" val="20008"/>
                    </a:ext>
                  </a:extLst>
                </a:gridCol>
              </a:tblGrid>
              <a:tr h="1427300">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Nama</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Informasi umum kandidat</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err="1">
                          <a:solidFill>
                            <a:srgbClr val="000000"/>
                          </a:solidFill>
                          <a:latin typeface="Arial"/>
                          <a:ea typeface="Arial"/>
                          <a:cs typeface="Arial"/>
                          <a:sym typeface="Arial"/>
                        </a:rPr>
                        <a:t>Relevansi</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pengalaman</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kerja</a:t>
                      </a:r>
                      <a:endParaRPr sz="1100" b="1"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Soft skill &amp; hard skill</a:t>
                      </a:r>
                      <a:endParaRPr sz="1100" b="1"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a:solidFill>
                            <a:srgbClr val="000000"/>
                          </a:solidFill>
                          <a:latin typeface="Arial"/>
                          <a:ea typeface="Arial"/>
                          <a:cs typeface="Arial"/>
                          <a:sym typeface="Arial"/>
                        </a:rPr>
                        <a:t>Personality/ </a:t>
                      </a:r>
                      <a:r>
                        <a:rPr lang="en-US" sz="1920" b="1" u="none" strike="noStrike" cap="none" dirty="0" err="1">
                          <a:solidFill>
                            <a:srgbClr val="000000"/>
                          </a:solidFill>
                          <a:latin typeface="Arial"/>
                          <a:ea typeface="Arial"/>
                          <a:cs typeface="Arial"/>
                          <a:sym typeface="Arial"/>
                        </a:rPr>
                        <a:t>Karakter</a:t>
                      </a:r>
                      <a:endParaRPr sz="1100" b="1"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Communication</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a:solidFill>
                            <a:srgbClr val="000000"/>
                          </a:solidFill>
                          <a:latin typeface="Arial"/>
                          <a:ea typeface="Arial"/>
                          <a:cs typeface="Arial"/>
                          <a:sym typeface="Arial"/>
                        </a:rPr>
                        <a:t>Culture fit</a:t>
                      </a:r>
                      <a:endParaRPr sz="1100" u="none" strike="noStrike" cap="none"/>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err="1">
                          <a:solidFill>
                            <a:srgbClr val="000000"/>
                          </a:solidFill>
                          <a:latin typeface="Arial"/>
                          <a:ea typeface="Arial"/>
                          <a:cs typeface="Arial"/>
                          <a:sym typeface="Arial"/>
                        </a:rPr>
                        <a:t>Remaks</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rekomendasi</a:t>
                      </a:r>
                      <a:r>
                        <a:rPr lang="en-US" sz="1920" b="1" u="none" strike="noStrike" cap="none" dirty="0">
                          <a:solidFill>
                            <a:srgbClr val="000000"/>
                          </a:solidFill>
                          <a:latin typeface="Arial"/>
                          <a:ea typeface="Arial"/>
                          <a:cs typeface="Arial"/>
                          <a:sym typeface="Arial"/>
                        </a:rPr>
                        <a:t> HR</a:t>
                      </a:r>
                      <a:endParaRPr sz="1100"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tc>
                  <a:txBody>
                    <a:bodyPr/>
                    <a:lstStyle/>
                    <a:p>
                      <a:pPr marL="0" marR="0" lvl="0" indent="0" algn="ctr" rtl="0">
                        <a:lnSpc>
                          <a:spcPct val="140000"/>
                        </a:lnSpc>
                        <a:spcBef>
                          <a:spcPts val="0"/>
                        </a:spcBef>
                        <a:spcAft>
                          <a:spcPts val="0"/>
                        </a:spcAft>
                        <a:buNone/>
                      </a:pPr>
                      <a:r>
                        <a:rPr lang="en-US" sz="1920" b="1" u="none" strike="noStrike" cap="none" dirty="0">
                          <a:solidFill>
                            <a:srgbClr val="000000"/>
                          </a:solidFill>
                          <a:latin typeface="Arial"/>
                          <a:ea typeface="Arial"/>
                          <a:cs typeface="Arial"/>
                          <a:sym typeface="Arial"/>
                        </a:rPr>
                        <a:t>Lolos/ </a:t>
                      </a:r>
                      <a:r>
                        <a:rPr lang="en-US" sz="1920" b="1" u="none" strike="noStrike" cap="none" dirty="0" err="1">
                          <a:solidFill>
                            <a:srgbClr val="000000"/>
                          </a:solidFill>
                          <a:latin typeface="Arial"/>
                          <a:ea typeface="Arial"/>
                          <a:cs typeface="Arial"/>
                          <a:sym typeface="Arial"/>
                        </a:rPr>
                        <a:t>tidak</a:t>
                      </a:r>
                      <a:r>
                        <a:rPr lang="en-US" sz="1920" b="1" u="none" strike="noStrike" cap="none" dirty="0">
                          <a:solidFill>
                            <a:srgbClr val="000000"/>
                          </a:solidFill>
                          <a:latin typeface="Arial"/>
                          <a:ea typeface="Arial"/>
                          <a:cs typeface="Arial"/>
                          <a:sym typeface="Arial"/>
                        </a:rPr>
                        <a:t> </a:t>
                      </a:r>
                      <a:r>
                        <a:rPr lang="en-US" sz="1920" b="1" u="none" strike="noStrike" cap="none" dirty="0" err="1">
                          <a:solidFill>
                            <a:srgbClr val="000000"/>
                          </a:solidFill>
                          <a:latin typeface="Arial"/>
                          <a:ea typeface="Arial"/>
                          <a:cs typeface="Arial"/>
                          <a:sym typeface="Arial"/>
                        </a:rPr>
                        <a:t>lolos</a:t>
                      </a:r>
                      <a:r>
                        <a:rPr lang="en-US" sz="1920" b="1" u="none" strike="noStrike" cap="none" dirty="0">
                          <a:solidFill>
                            <a:srgbClr val="000000"/>
                          </a:solidFill>
                          <a:latin typeface="Arial"/>
                          <a:ea typeface="Arial"/>
                          <a:cs typeface="Arial"/>
                          <a:sym typeface="Arial"/>
                        </a:rPr>
                        <a:t> HR interview</a:t>
                      </a:r>
                      <a:endParaRPr sz="1100" u="none" strike="noStrike" cap="none" dirty="0"/>
                    </a:p>
                  </a:txBody>
                  <a:tcPr marL="190500" marR="190500" marT="190500" marB="190500"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solidFill>
                      <a:srgbClr val="FFCDCD"/>
                    </a:solidFill>
                  </a:tcPr>
                </a:tc>
                <a:extLst>
                  <a:ext uri="{0D108BD9-81ED-4DB2-BD59-A6C34878D82A}">
                    <a16:rowId xmlns:a16="http://schemas.microsoft.com/office/drawing/2014/main" val="10000"/>
                  </a:ext>
                </a:extLst>
              </a:tr>
              <a:tr h="756775">
                <a:tc>
                  <a:txBody>
                    <a:bodyPr/>
                    <a:lstStyle/>
                    <a:p>
                      <a:pPr algn="ctr" rtl="0"/>
                      <a:r>
                        <a:rPr lang="en-US" b="0" i="0" dirty="0" err="1">
                          <a:solidFill>
                            <a:srgbClr val="000000"/>
                          </a:solidFill>
                          <a:effectLst/>
                        </a:rPr>
                        <a:t>Kefas</a:t>
                      </a:r>
                      <a:r>
                        <a:rPr lang="en-US" b="0" i="0" dirty="0">
                          <a:solidFill>
                            <a:srgbClr val="000000"/>
                          </a:solidFill>
                          <a:effectLst/>
                        </a:rPr>
                        <a:t> Glen </a:t>
                      </a:r>
                      <a:r>
                        <a:rPr lang="en-US" b="0" i="0" dirty="0" err="1">
                          <a:solidFill>
                            <a:srgbClr val="000000"/>
                          </a:solidFill>
                          <a:effectLst/>
                        </a:rPr>
                        <a:t>Howanta</a:t>
                      </a:r>
                      <a:endParaRPr lang="en-US" b="0" dirty="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S1 Hubungan Internasional, Owner Brandsma, Jakarta Utara</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2+ Marketing Specialist</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buFont typeface="Arial" panose="020B0604020202020204" pitchFamily="34" charset="0"/>
                        <a:buChar char="•"/>
                      </a:pPr>
                      <a:r>
                        <a:rPr lang="en-US" b="0" i="0">
                          <a:solidFill>
                            <a:srgbClr val="000000"/>
                          </a:solidFill>
                          <a:effectLst/>
                        </a:rPr>
                        <a:t>Strategic Thinking &amp; Market Analysis</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Adaptasi dan Multitasking</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Public Speaking, dan Negosiasi. </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Adaptasi, Campaign Digital Marketing. </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Belum terlihat campaign B2B dan menyusun strategi komunikasi.</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Tidak Lolos.</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1"/>
                  </a:ext>
                </a:extLst>
              </a:tr>
              <a:tr h="756775">
                <a:tc>
                  <a:txBody>
                    <a:bodyPr/>
                    <a:lstStyle/>
                    <a:p>
                      <a:pPr algn="ctr" rtl="0"/>
                      <a:r>
                        <a:rPr lang="en-US" b="0" i="0">
                          <a:solidFill>
                            <a:srgbClr val="000000"/>
                          </a:solidFill>
                          <a:effectLst/>
                        </a:rPr>
                        <a:t>Suci Rahmawati</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fi-FI" b="0" i="0">
                          <a:solidFill>
                            <a:srgbClr val="000000"/>
                          </a:solidFill>
                          <a:effectLst/>
                        </a:rPr>
                        <a:t>S1 Komunikasi, Public Relation, Jakarta Selatan</a:t>
                      </a:r>
                      <a:endParaRPr lang="fi-FI"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3+ Marketing &amp; Public Relation</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Strategi Pemasaran, Digital Marketing.</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Proaktif dan kolaboratif</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Public speaking, dan Public Relation.</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Experience related, multitasking</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sv-SE" b="0" i="0">
                          <a:solidFill>
                            <a:srgbClr val="000000"/>
                          </a:solidFill>
                          <a:effectLst/>
                        </a:rPr>
                        <a:t>Tidak sesuai kriteria/ perusahaan tidak mensyaratkan berhijab.</a:t>
                      </a:r>
                      <a:endParaRPr lang="sv-SE"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Tidak Lolos.</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2"/>
                  </a:ext>
                </a:extLst>
              </a:tr>
              <a:tr h="756775">
                <a:tc>
                  <a:txBody>
                    <a:bodyPr/>
                    <a:lstStyle/>
                    <a:p>
                      <a:pPr algn="ctr" rtl="0"/>
                      <a:r>
                        <a:rPr lang="en-US" b="0" i="0">
                          <a:solidFill>
                            <a:srgbClr val="000000"/>
                          </a:solidFill>
                          <a:effectLst/>
                        </a:rPr>
                        <a:t>Armand Fadillah</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S1 Ekonomi, Jakarta Selatan</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Supervisor Sales, Strategi Planning</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B2B Marketing, Customer Relation.</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Leadership, Sales oriented.</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Interpersonal</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Experience similiar. Strategi pemasaran.</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a:solidFill>
                            <a:srgbClr val="000000"/>
                          </a:solidFill>
                          <a:effectLst/>
                        </a:rPr>
                        <a:t>Kurang dalam campaign pemasaran B2B.</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tc>
                  <a:txBody>
                    <a:bodyPr/>
                    <a:lstStyle/>
                    <a:p>
                      <a:pPr algn="ctr" rtl="0"/>
                      <a:r>
                        <a:rPr lang="en-US" b="0" i="0" dirty="0" err="1">
                          <a:solidFill>
                            <a:srgbClr val="000000"/>
                          </a:solidFill>
                          <a:effectLst/>
                        </a:rPr>
                        <a:t>Tidak</a:t>
                      </a:r>
                      <a:r>
                        <a:rPr lang="en-US" b="0" i="0" dirty="0">
                          <a:solidFill>
                            <a:srgbClr val="000000"/>
                          </a:solidFill>
                          <a:effectLst/>
                        </a:rPr>
                        <a:t> Lolos</a:t>
                      </a:r>
                      <a:endParaRPr lang="en-US" b="0" dirty="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solidFill>
                        <a:srgbClr val="FF9999"/>
                      </a:solidFill>
                      <a:prstDash val="solid"/>
                      <a:round/>
                      <a:headEnd type="none" w="sm" len="sm"/>
                      <a:tailEnd type="none" w="sm" len="sm"/>
                    </a:lnT>
                    <a:lnB w="38100" cap="flat" cmpd="sng" algn="ctr">
                      <a:solidFill>
                        <a:srgbClr val="FF9999"/>
                      </a:solidFill>
                      <a:prstDash val="solid"/>
                      <a:round/>
                      <a:headEnd type="none" w="sm" len="sm"/>
                      <a:tailEnd type="none" w="sm" len="sm"/>
                    </a:lnB>
                  </a:tcPr>
                </a:tc>
                <a:extLst>
                  <a:ext uri="{0D108BD9-81ED-4DB2-BD59-A6C34878D82A}">
                    <a16:rowId xmlns:a16="http://schemas.microsoft.com/office/drawing/2014/main" val="10003"/>
                  </a:ext>
                </a:extLst>
              </a:tr>
              <a:tr h="756775">
                <a:tc>
                  <a:txBody>
                    <a:bodyPr/>
                    <a:lstStyle/>
                    <a:p>
                      <a:pPr algn="ctr" rtl="0"/>
                      <a:r>
                        <a:rPr lang="en-US" b="0" i="0">
                          <a:solidFill>
                            <a:srgbClr val="000000"/>
                          </a:solidFill>
                          <a:effectLst/>
                        </a:rPr>
                        <a:t>Deni Martadinata</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S1 Ekonomi, 15+ Years Experience, Kota Bekasi</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Marketing Communication,</a:t>
                      </a:r>
                      <a:endParaRPr lang="en-US" b="0">
                        <a:effectLst/>
                      </a:endParaRPr>
                    </a:p>
                    <a:p>
                      <a:pPr algn="ctr" rtl="0"/>
                      <a:r>
                        <a:rPr lang="en-US" b="0" i="0">
                          <a:solidFill>
                            <a:srgbClr val="000000"/>
                          </a:solidFill>
                          <a:effectLst/>
                        </a:rPr>
                        <a:t>Revenue Manager</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Strategic Planning, Creative, Bussines Oriented.</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Leadership, Proaktif, Inovatif, Adaptibilities.</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Public Speaking, Fluent in English </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a:solidFill>
                            <a:srgbClr val="000000"/>
                          </a:solidFill>
                          <a:effectLst/>
                        </a:rPr>
                        <a:t>Pengalaman related, Stategi Komunikasi Pemasaran B2B dan pengalaman dalam membangun sebuah Tim.</a:t>
                      </a:r>
                      <a:endParaRPr lang="en-US"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nl-NL" b="0" i="0">
                          <a:solidFill>
                            <a:srgbClr val="000000"/>
                          </a:solidFill>
                          <a:effectLst/>
                        </a:rPr>
                        <a:t>Kandidat over qualaitication dan over bugget.</a:t>
                      </a:r>
                      <a:endParaRPr lang="nl-NL" b="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tc>
                  <a:txBody>
                    <a:bodyPr/>
                    <a:lstStyle/>
                    <a:p>
                      <a:pPr algn="ctr" rtl="0"/>
                      <a:r>
                        <a:rPr lang="en-US" b="0" i="0" dirty="0" err="1">
                          <a:solidFill>
                            <a:srgbClr val="000000"/>
                          </a:solidFill>
                          <a:effectLst/>
                        </a:rPr>
                        <a:t>Tidak</a:t>
                      </a:r>
                      <a:r>
                        <a:rPr lang="en-US" b="0" i="0" dirty="0">
                          <a:solidFill>
                            <a:srgbClr val="000000"/>
                          </a:solidFill>
                          <a:effectLst/>
                        </a:rPr>
                        <a:t> Lolos</a:t>
                      </a:r>
                      <a:endParaRPr lang="en-US" b="0" dirty="0">
                        <a:effectLst/>
                      </a:endParaRPr>
                    </a:p>
                  </a:txBody>
                  <a:tcPr anchor="ctr">
                    <a:lnL w="38100" cap="flat" cmpd="sng">
                      <a:solidFill>
                        <a:srgbClr val="FF9999"/>
                      </a:solidFill>
                      <a:prstDash val="solid"/>
                      <a:round/>
                      <a:headEnd type="none" w="sm" len="sm"/>
                      <a:tailEnd type="none" w="sm" len="sm"/>
                    </a:lnL>
                    <a:lnR w="38100" cap="flat" cmpd="sng">
                      <a:solidFill>
                        <a:srgbClr val="FF9999"/>
                      </a:solidFill>
                      <a:prstDash val="solid"/>
                      <a:round/>
                      <a:headEnd type="none" w="sm" len="sm"/>
                      <a:tailEnd type="none" w="sm" len="sm"/>
                    </a:lnR>
                    <a:lnT w="38100" cap="flat" cmpd="sng" algn="ctr">
                      <a:solidFill>
                        <a:srgbClr val="FF9999"/>
                      </a:solidFill>
                      <a:prstDash val="solid"/>
                      <a:round/>
                      <a:headEnd type="none" w="sm" len="sm"/>
                      <a:tailEnd type="none" w="sm" len="sm"/>
                    </a:lnT>
                    <a:lnB w="38100" cap="flat" cmpd="sng">
                      <a:solidFill>
                        <a:srgbClr val="FF9999"/>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21" name="Google Shape;321;p13"/>
          <p:cNvSpPr txBox="1"/>
          <p:nvPr/>
        </p:nvSpPr>
        <p:spPr>
          <a:xfrm>
            <a:off x="1300968" y="562705"/>
            <a:ext cx="10376051" cy="60198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4500" b="1" i="0" u="none" strike="noStrike" cap="none">
                <a:solidFill>
                  <a:srgbClr val="FFFFFF"/>
                </a:solidFill>
                <a:latin typeface="Arial"/>
                <a:ea typeface="Arial"/>
                <a:cs typeface="Arial"/>
                <a:sym typeface="Arial"/>
              </a:rPr>
              <a:t>Hasil HR Interview</a:t>
            </a:r>
            <a:endParaRPr/>
          </a:p>
        </p:txBody>
      </p:sp>
      <p:grpSp>
        <p:nvGrpSpPr>
          <p:cNvPr id="322" name="Google Shape;322;p13"/>
          <p:cNvGrpSpPr/>
          <p:nvPr/>
        </p:nvGrpSpPr>
        <p:grpSpPr>
          <a:xfrm>
            <a:off x="13226149" y="-1408183"/>
            <a:ext cx="6126305" cy="3493908"/>
            <a:chOff x="0" y="-57150"/>
            <a:chExt cx="812800" cy="463550"/>
          </a:xfrm>
        </p:grpSpPr>
        <p:sp>
          <p:nvSpPr>
            <p:cNvPr id="323" name="Google Shape;323;p13"/>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3"/>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5" name="Google Shape;325;p13"/>
          <p:cNvSpPr txBox="1"/>
          <p:nvPr/>
        </p:nvSpPr>
        <p:spPr>
          <a:xfrm>
            <a:off x="13976844" y="300149"/>
            <a:ext cx="1087420" cy="107295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03</a:t>
            </a:r>
            <a:endParaRPr/>
          </a:p>
        </p:txBody>
      </p:sp>
      <p:sp>
        <p:nvSpPr>
          <p:cNvPr id="326" name="Google Shape;326;p13"/>
          <p:cNvSpPr txBox="1"/>
          <p:nvPr/>
        </p:nvSpPr>
        <p:spPr>
          <a:xfrm>
            <a:off x="15335469" y="582725"/>
            <a:ext cx="2494731" cy="72876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a:solidFill>
                  <a:srgbClr val="162F56"/>
                </a:solidFill>
                <a:latin typeface="Montserrat"/>
                <a:ea typeface="Montserrat"/>
                <a:cs typeface="Montserrat"/>
                <a:sym typeface="Montserrat"/>
              </a:rPr>
              <a:t>Project I </a:t>
            </a:r>
            <a:endParaRPr/>
          </a:p>
          <a:p>
            <a:pPr marL="0" marR="0" lvl="0" indent="0" algn="l" rtl="0">
              <a:lnSpc>
                <a:spcPct val="110030"/>
              </a:lnSpc>
              <a:spcBef>
                <a:spcPts val="0"/>
              </a:spcBef>
              <a:spcAft>
                <a:spcPts val="0"/>
              </a:spcAft>
              <a:buNone/>
            </a:pPr>
            <a:r>
              <a:rPr lang="en-US" sz="2632" b="0" i="0" u="none" strike="noStrike" cap="none">
                <a:solidFill>
                  <a:srgbClr val="162F56"/>
                </a:solidFill>
                <a:latin typeface="Montserrat"/>
                <a:ea typeface="Montserrat"/>
                <a:cs typeface="Montserrat"/>
                <a:sym typeface="Montserrat"/>
              </a:rPr>
              <a:t>Recruitment</a:t>
            </a:r>
            <a:endParaRPr/>
          </a:p>
        </p:txBody>
      </p:sp>
    </p:spTree>
    <p:extLst>
      <p:ext uri="{BB962C8B-B14F-4D97-AF65-F5344CB8AC3E}">
        <p14:creationId xmlns:p14="http://schemas.microsoft.com/office/powerpoint/2010/main" val="3137177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30"/>
        <p:cNvGrpSpPr/>
        <p:nvPr/>
      </p:nvGrpSpPr>
      <p:grpSpPr>
        <a:xfrm>
          <a:off x="0" y="0"/>
          <a:ext cx="0" cy="0"/>
          <a:chOff x="0" y="0"/>
          <a:chExt cx="0" cy="0"/>
        </a:xfrm>
      </p:grpSpPr>
      <p:grpSp>
        <p:nvGrpSpPr>
          <p:cNvPr id="331" name="Google Shape;331;p14"/>
          <p:cNvGrpSpPr/>
          <p:nvPr/>
        </p:nvGrpSpPr>
        <p:grpSpPr>
          <a:xfrm>
            <a:off x="0" y="1165919"/>
            <a:ext cx="18518064" cy="9468661"/>
            <a:chOff x="0" y="-123825"/>
            <a:chExt cx="6096482" cy="3117254"/>
          </a:xfrm>
        </p:grpSpPr>
        <p:sp>
          <p:nvSpPr>
            <p:cNvPr id="332" name="Google Shape;332;p14"/>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4" name="Google Shape;334;p14"/>
          <p:cNvSpPr txBox="1"/>
          <p:nvPr/>
        </p:nvSpPr>
        <p:spPr>
          <a:xfrm>
            <a:off x="1332335" y="2400051"/>
            <a:ext cx="16116300" cy="6155531"/>
          </a:xfrm>
          <a:prstGeom prst="rect">
            <a:avLst/>
          </a:prstGeom>
          <a:noFill/>
          <a:ln>
            <a:noFill/>
          </a:ln>
        </p:spPr>
        <p:txBody>
          <a:bodyPr spcFirstLastPara="1" wrap="square" lIns="0" tIns="0" rIns="0" bIns="0" anchor="t" anchorCtr="0">
            <a:spAutoFit/>
          </a:bodyPr>
          <a:lstStyle/>
          <a:p>
            <a:pPr marL="582932" marR="0" lvl="1" indent="-278765" algn="l" rtl="0">
              <a:lnSpc>
                <a:spcPct val="160000"/>
              </a:lnSpc>
              <a:spcBef>
                <a:spcPts val="0"/>
              </a:spcBef>
              <a:spcAft>
                <a:spcPts val="0"/>
              </a:spcAft>
              <a:buClr>
                <a:srgbClr val="000000"/>
              </a:buClr>
              <a:buSzPts val="2500"/>
              <a:buFont typeface="Arial"/>
              <a:buAutoNum type="arabicPeriod"/>
            </a:pPr>
            <a:r>
              <a:rPr lang="en-US" sz="2500" b="0" i="0" u="none" strike="noStrike" cap="none" dirty="0" err="1">
                <a:solidFill>
                  <a:srgbClr val="000000"/>
                </a:solidFill>
                <a:latin typeface="Arial"/>
                <a:ea typeface="Arial"/>
                <a:cs typeface="Arial"/>
                <a:sym typeface="Arial"/>
              </a:rPr>
              <a:t>Buat</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kontrak</a:t>
            </a:r>
            <a:r>
              <a:rPr lang="en-US" sz="2500" b="0" i="0" u="none" strike="noStrike" cap="none" dirty="0">
                <a:solidFill>
                  <a:srgbClr val="000000"/>
                </a:solidFill>
                <a:latin typeface="Arial"/>
                <a:ea typeface="Arial"/>
                <a:cs typeface="Arial"/>
                <a:sym typeface="Arial"/>
              </a:rPr>
              <a:t> PKWT </a:t>
            </a:r>
            <a:r>
              <a:rPr lang="en-US" sz="2500" dirty="0" err="1"/>
              <a:t>menggunakan</a:t>
            </a:r>
            <a:r>
              <a:rPr lang="en-US" sz="2500" b="0" i="0" u="none" strike="noStrike" cap="none" dirty="0">
                <a:solidFill>
                  <a:srgbClr val="000000"/>
                </a:solidFill>
                <a:latin typeface="Arial"/>
                <a:ea typeface="Arial"/>
                <a:cs typeface="Arial"/>
                <a:sym typeface="Arial"/>
              </a:rPr>
              <a:t> draft PKWT </a:t>
            </a:r>
            <a:r>
              <a:rPr lang="en-US" sz="2500" b="0" i="0" u="none" strike="noStrike" cap="none" dirty="0" err="1">
                <a:solidFill>
                  <a:srgbClr val="000000"/>
                </a:solidFill>
                <a:latin typeface="Arial"/>
                <a:ea typeface="Arial"/>
                <a:cs typeface="Arial"/>
                <a:sym typeface="Arial"/>
              </a:rPr>
              <a:t>untuk</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posisi</a:t>
            </a:r>
            <a:r>
              <a:rPr lang="en-US" sz="2500" b="0" i="0" u="none" strike="noStrike" cap="none" dirty="0">
                <a:solidFill>
                  <a:srgbClr val="000000"/>
                </a:solidFill>
                <a:latin typeface="Arial"/>
                <a:ea typeface="Arial"/>
                <a:cs typeface="Arial"/>
                <a:sym typeface="Arial"/>
              </a:rPr>
              <a:t> yang di handle masing-masing </a:t>
            </a:r>
            <a:r>
              <a:rPr lang="en-US" sz="2500" b="0" i="0" u="none" strike="noStrike" cap="none" dirty="0" err="1">
                <a:solidFill>
                  <a:srgbClr val="000000"/>
                </a:solidFill>
                <a:latin typeface="Arial"/>
                <a:ea typeface="Arial"/>
                <a:cs typeface="Arial"/>
                <a:sym typeface="Arial"/>
              </a:rPr>
              <a:t>peserta</a:t>
            </a:r>
            <a:r>
              <a:rPr lang="en-US" sz="1200" b="0" i="0" u="none" strike="noStrike" cap="none" dirty="0">
                <a:solidFill>
                  <a:srgbClr val="000000"/>
                </a:solidFill>
                <a:latin typeface="Arial"/>
                <a:ea typeface="Arial"/>
                <a:cs typeface="Arial"/>
                <a:sym typeface="Arial"/>
              </a:rPr>
              <a:t>.</a:t>
            </a:r>
            <a:endParaRPr sz="1200" dirty="0"/>
          </a:p>
          <a:p>
            <a:pPr marL="582932" marR="0" lvl="1" indent="-278765" algn="l" rtl="0">
              <a:lnSpc>
                <a:spcPct val="160000"/>
              </a:lnSpc>
              <a:spcBef>
                <a:spcPts val="0"/>
              </a:spcBef>
              <a:spcAft>
                <a:spcPts val="0"/>
              </a:spcAft>
              <a:buClr>
                <a:srgbClr val="000000"/>
              </a:buClr>
              <a:buSzPts val="2500"/>
              <a:buFont typeface="Arial"/>
              <a:buAutoNum type="arabicPeriod"/>
            </a:pPr>
            <a:r>
              <a:rPr lang="en-US" sz="2500" b="0" i="0" u="none" strike="noStrike" cap="none" dirty="0" err="1">
                <a:solidFill>
                  <a:srgbClr val="000000"/>
                </a:solidFill>
                <a:latin typeface="Arial"/>
                <a:ea typeface="Arial"/>
                <a:cs typeface="Arial"/>
                <a:sym typeface="Arial"/>
              </a:rPr>
              <a:t>Peserta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melengkapi</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kalimat</a:t>
            </a:r>
            <a:r>
              <a:rPr lang="en-US" sz="2500" b="0" i="0" u="none" strike="noStrike" cap="none" dirty="0">
                <a:solidFill>
                  <a:srgbClr val="000000"/>
                </a:solidFill>
                <a:latin typeface="Arial"/>
                <a:ea typeface="Arial"/>
                <a:cs typeface="Arial"/>
                <a:sym typeface="Arial"/>
              </a:rPr>
              <a:t> yang </a:t>
            </a:r>
            <a:r>
              <a:rPr lang="en-US" sz="2500" dirty="0" err="1"/>
              <a:t>rumpang</a:t>
            </a:r>
            <a:r>
              <a:rPr lang="en-US" sz="2500" b="0" i="0" u="none" strike="noStrike" cap="none" dirty="0">
                <a:solidFill>
                  <a:srgbClr val="000000"/>
                </a:solidFill>
                <a:latin typeface="Arial"/>
                <a:ea typeface="Arial"/>
                <a:cs typeface="Arial"/>
                <a:sym typeface="Arial"/>
              </a:rPr>
              <a:t> pada </a:t>
            </a:r>
            <a:r>
              <a:rPr lang="en-US" sz="2500" b="0" i="0" u="none" strike="noStrike" cap="none" dirty="0" err="1">
                <a:solidFill>
                  <a:srgbClr val="000000"/>
                </a:solidFill>
                <a:latin typeface="Arial"/>
                <a:ea typeface="Arial"/>
                <a:cs typeface="Arial"/>
                <a:sym typeface="Arial"/>
              </a:rPr>
              <a:t>kontrak</a:t>
            </a:r>
            <a:r>
              <a:rPr lang="en-US" sz="2500" b="0" i="0" u="none" strike="noStrike" cap="none" dirty="0">
                <a:solidFill>
                  <a:srgbClr val="000000"/>
                </a:solidFill>
                <a:latin typeface="Arial"/>
                <a:ea typeface="Arial"/>
                <a:cs typeface="Arial"/>
                <a:sym typeface="Arial"/>
              </a:rPr>
              <a:t>.</a:t>
            </a:r>
            <a:endParaRPr sz="1200" dirty="0"/>
          </a:p>
          <a:p>
            <a:pPr marL="582932" marR="0" lvl="1" indent="-278765" algn="l" rtl="0">
              <a:lnSpc>
                <a:spcPct val="160000"/>
              </a:lnSpc>
              <a:spcBef>
                <a:spcPts val="0"/>
              </a:spcBef>
              <a:spcAft>
                <a:spcPts val="0"/>
              </a:spcAft>
              <a:buClr>
                <a:srgbClr val="000000"/>
              </a:buClr>
              <a:buSzPts val="2500"/>
              <a:buFont typeface="Arial"/>
              <a:buAutoNum type="arabicPeriod"/>
            </a:pPr>
            <a:r>
              <a:rPr lang="en-US" sz="2500" b="0" i="0" u="none" strike="noStrike" cap="none" dirty="0">
                <a:solidFill>
                  <a:srgbClr val="000000"/>
                </a:solidFill>
                <a:latin typeface="Arial"/>
                <a:ea typeface="Arial"/>
                <a:cs typeface="Arial"/>
                <a:sym typeface="Arial"/>
              </a:rPr>
              <a:t>Nama </a:t>
            </a:r>
            <a:r>
              <a:rPr lang="en-US" sz="2500" b="0" i="0" u="none" strike="noStrike" cap="none" dirty="0" err="1">
                <a:solidFill>
                  <a:srgbClr val="000000"/>
                </a:solidFill>
                <a:latin typeface="Arial"/>
                <a:ea typeface="Arial"/>
                <a:cs typeface="Arial"/>
                <a:sym typeface="Arial"/>
              </a:rPr>
              <a:t>perusahaan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sesuai</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dengan</a:t>
            </a:r>
            <a:r>
              <a:rPr lang="en-US" sz="2500" b="0" i="0" u="none" strike="noStrike" cap="none" dirty="0">
                <a:solidFill>
                  <a:srgbClr val="000000"/>
                </a:solidFill>
                <a:latin typeface="Arial"/>
                <a:ea typeface="Arial"/>
                <a:cs typeface="Arial"/>
                <a:sym typeface="Arial"/>
              </a:rPr>
              <a:t> yang di handle masing-masing </a:t>
            </a:r>
            <a:r>
              <a:rPr lang="en-US" sz="2500" b="0" i="0" u="none" strike="noStrike" cap="none" dirty="0" err="1">
                <a:solidFill>
                  <a:srgbClr val="000000"/>
                </a:solidFill>
                <a:latin typeface="Arial"/>
                <a:ea typeface="Arial"/>
                <a:cs typeface="Arial"/>
                <a:sym typeface="Arial"/>
              </a:rPr>
              <a:t>peserta</a:t>
            </a:r>
            <a:r>
              <a:rPr lang="en-US" sz="2500" b="0" i="0" u="none" strike="noStrike" cap="none" dirty="0">
                <a:solidFill>
                  <a:srgbClr val="000000"/>
                </a:solidFill>
                <a:latin typeface="Arial"/>
                <a:ea typeface="Arial"/>
                <a:cs typeface="Arial"/>
                <a:sym typeface="Arial"/>
              </a:rPr>
              <a:t> yang </a:t>
            </a:r>
            <a:r>
              <a:rPr lang="en-US" sz="2500" b="0" i="0" u="none" strike="noStrike" cap="none" dirty="0" err="1">
                <a:solidFill>
                  <a:srgbClr val="000000"/>
                </a:solidFill>
                <a:latin typeface="Arial"/>
                <a:ea typeface="Arial"/>
                <a:cs typeface="Arial"/>
                <a:sym typeface="Arial"/>
              </a:rPr>
              <a:t>efektif</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bergabung</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pertanggal</a:t>
            </a:r>
            <a:r>
              <a:rPr lang="en-US" sz="2500" b="0" i="0" u="none" strike="noStrike" cap="none" dirty="0">
                <a:solidFill>
                  <a:srgbClr val="000000"/>
                </a:solidFill>
                <a:latin typeface="Arial"/>
                <a:ea typeface="Arial"/>
                <a:cs typeface="Arial"/>
                <a:sym typeface="Arial"/>
              </a:rPr>
              <a:t> 1 Mei 2025, </a:t>
            </a:r>
            <a:r>
              <a:rPr lang="en-US" sz="2500" b="0" i="0" u="none" strike="noStrike" cap="none" dirty="0" err="1">
                <a:solidFill>
                  <a:srgbClr val="000000"/>
                </a:solidFill>
                <a:latin typeface="Arial"/>
                <a:ea typeface="Arial"/>
                <a:cs typeface="Arial"/>
                <a:sym typeface="Arial"/>
              </a:rPr>
              <a:t>perjanjian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kerja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waktu</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tertentu</a:t>
            </a:r>
            <a:r>
              <a:rPr lang="en-US" sz="2500" b="0" i="0" u="none" strike="noStrike" cap="none" dirty="0">
                <a:solidFill>
                  <a:srgbClr val="000000"/>
                </a:solidFill>
                <a:latin typeface="Arial"/>
                <a:ea typeface="Arial"/>
                <a:cs typeface="Arial"/>
                <a:sym typeface="Arial"/>
              </a:rPr>
              <a:t> 1 </a:t>
            </a:r>
            <a:r>
              <a:rPr lang="en-US" sz="2500" b="0" i="0" u="none" strike="noStrike" cap="none" dirty="0" err="1">
                <a:solidFill>
                  <a:srgbClr val="000000"/>
                </a:solidFill>
                <a:latin typeface="Arial"/>
                <a:ea typeface="Arial"/>
                <a:cs typeface="Arial"/>
                <a:sym typeface="Arial"/>
              </a:rPr>
              <a:t>tahun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Berikut</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kompensasi</a:t>
            </a:r>
            <a:r>
              <a:rPr lang="en-US" sz="2500" b="0" i="0" u="none" strike="noStrike" cap="none" dirty="0">
                <a:solidFill>
                  <a:srgbClr val="000000"/>
                </a:solidFill>
                <a:latin typeface="Arial"/>
                <a:ea typeface="Arial"/>
                <a:cs typeface="Arial"/>
                <a:sym typeface="Arial"/>
              </a:rPr>
              <a:t> dan benefit yang </a:t>
            </a:r>
            <a:r>
              <a:rPr lang="en-US" sz="2500" b="0" i="0" u="none" strike="noStrike" cap="none" dirty="0" err="1">
                <a:solidFill>
                  <a:srgbClr val="000000"/>
                </a:solidFill>
                <a:latin typeface="Arial"/>
                <a:ea typeface="Arial"/>
                <a:cs typeface="Arial"/>
                <a:sym typeface="Arial"/>
              </a:rPr>
              <a:t>diberikan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perusahaan</a:t>
            </a:r>
            <a:r>
              <a:rPr lang="en-US" sz="2500" b="0" i="0" u="none" strike="noStrike" cap="none" dirty="0">
                <a:solidFill>
                  <a:srgbClr val="000000"/>
                </a:solidFill>
                <a:latin typeface="Arial"/>
                <a:ea typeface="Arial"/>
                <a:cs typeface="Arial"/>
                <a:sym typeface="Arial"/>
              </a:rPr>
              <a:t>:</a:t>
            </a:r>
            <a:endParaRPr sz="1200" dirty="0"/>
          </a:p>
          <a:p>
            <a:pPr marL="1165863" marR="0" lvl="2" indent="-375921" algn="l" rtl="0">
              <a:lnSpc>
                <a:spcPct val="160000"/>
              </a:lnSpc>
              <a:spcBef>
                <a:spcPts val="0"/>
              </a:spcBef>
              <a:spcAft>
                <a:spcPts val="0"/>
              </a:spcAft>
              <a:buClr>
                <a:srgbClr val="000000"/>
              </a:buClr>
              <a:buSzPts val="2500"/>
              <a:buFont typeface="Arial"/>
              <a:buAutoNum type="alphaLcPeriod"/>
            </a:pPr>
            <a:r>
              <a:rPr lang="en-US" sz="2500" b="0" i="0" u="none" strike="noStrike" cap="none" dirty="0" err="1">
                <a:solidFill>
                  <a:srgbClr val="000000"/>
                </a:solidFill>
                <a:latin typeface="Arial"/>
                <a:ea typeface="Arial"/>
                <a:cs typeface="Arial"/>
                <a:sym typeface="Arial"/>
              </a:rPr>
              <a:t>Gaji</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Pokok</a:t>
            </a:r>
            <a:r>
              <a:rPr lang="en-US" sz="2500" b="0" i="0" u="none" strike="noStrike" cap="none" dirty="0">
                <a:solidFill>
                  <a:srgbClr val="000000"/>
                </a:solidFill>
                <a:latin typeface="Arial"/>
                <a:ea typeface="Arial"/>
                <a:cs typeface="Arial"/>
                <a:sym typeface="Arial"/>
              </a:rPr>
              <a:t> : Rp 5.000.000</a:t>
            </a:r>
            <a:endParaRPr sz="1200" dirty="0"/>
          </a:p>
          <a:p>
            <a:pPr marL="1165863" marR="0" lvl="2" indent="-375921" algn="l" rtl="0">
              <a:lnSpc>
                <a:spcPct val="160000"/>
              </a:lnSpc>
              <a:spcBef>
                <a:spcPts val="0"/>
              </a:spcBef>
              <a:spcAft>
                <a:spcPts val="0"/>
              </a:spcAft>
              <a:buClr>
                <a:srgbClr val="000000"/>
              </a:buClr>
              <a:buSzPts val="2500"/>
              <a:buFont typeface="Arial"/>
              <a:buAutoNum type="alphaLcPeriod"/>
            </a:pPr>
            <a:r>
              <a:rPr lang="en-US" sz="2500" b="0" i="0" u="none" strike="noStrike" cap="none" dirty="0" err="1">
                <a:solidFill>
                  <a:srgbClr val="000000"/>
                </a:solidFill>
                <a:latin typeface="Arial"/>
                <a:ea typeface="Arial"/>
                <a:cs typeface="Arial"/>
                <a:sym typeface="Arial"/>
              </a:rPr>
              <a:t>Tunjangan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Transportasi</a:t>
            </a:r>
            <a:r>
              <a:rPr lang="en-US" sz="2500" b="0" i="0" u="none" strike="noStrike" cap="none" dirty="0">
                <a:solidFill>
                  <a:srgbClr val="000000"/>
                </a:solidFill>
                <a:latin typeface="Arial"/>
                <a:ea typeface="Arial"/>
                <a:cs typeface="Arial"/>
                <a:sym typeface="Arial"/>
              </a:rPr>
              <a:t> : Rp 1.000.000</a:t>
            </a:r>
            <a:endParaRPr sz="1200" dirty="0"/>
          </a:p>
          <a:p>
            <a:pPr marL="1165863" marR="0" lvl="2" indent="-375921" algn="l" rtl="0">
              <a:lnSpc>
                <a:spcPct val="160000"/>
              </a:lnSpc>
              <a:spcBef>
                <a:spcPts val="0"/>
              </a:spcBef>
              <a:spcAft>
                <a:spcPts val="0"/>
              </a:spcAft>
              <a:buClr>
                <a:srgbClr val="000000"/>
              </a:buClr>
              <a:buSzPts val="2500"/>
              <a:buFont typeface="Arial"/>
              <a:buAutoNum type="alphaLcPeriod"/>
            </a:pPr>
            <a:r>
              <a:rPr lang="en-US" sz="2500" b="0" i="0" u="none" strike="noStrike" cap="none" dirty="0" err="1">
                <a:solidFill>
                  <a:srgbClr val="000000"/>
                </a:solidFill>
                <a:latin typeface="Arial"/>
                <a:ea typeface="Arial"/>
                <a:cs typeface="Arial"/>
                <a:sym typeface="Arial"/>
              </a:rPr>
              <a:t>Kerja</a:t>
            </a:r>
            <a:r>
              <a:rPr lang="en-US" sz="2500" b="0" i="0" u="none" strike="noStrike" cap="none" dirty="0">
                <a:solidFill>
                  <a:srgbClr val="000000"/>
                </a:solidFill>
                <a:latin typeface="Arial"/>
                <a:ea typeface="Arial"/>
                <a:cs typeface="Arial"/>
                <a:sym typeface="Arial"/>
              </a:rPr>
              <a:t> 5 </a:t>
            </a:r>
            <a:r>
              <a:rPr lang="en-US" sz="2500" b="0" i="0" u="none" strike="noStrike" cap="none" dirty="0" err="1">
                <a:solidFill>
                  <a:srgbClr val="000000"/>
                </a:solidFill>
                <a:latin typeface="Arial"/>
                <a:ea typeface="Arial"/>
                <a:cs typeface="Arial"/>
                <a:sym typeface="Arial"/>
              </a:rPr>
              <a:t>hari</a:t>
            </a:r>
            <a:r>
              <a:rPr lang="en-US" sz="2500" b="0" i="0" u="none" strike="noStrike" cap="none" dirty="0">
                <a:solidFill>
                  <a:srgbClr val="000000"/>
                </a:solidFill>
                <a:latin typeface="Arial"/>
                <a:ea typeface="Arial"/>
                <a:cs typeface="Arial"/>
                <a:sym typeface="Arial"/>
              </a:rPr>
              <a:t> </a:t>
            </a:r>
            <a:endParaRPr sz="1200" dirty="0"/>
          </a:p>
          <a:p>
            <a:pPr marL="1165863" marR="0" lvl="2" indent="-375921" algn="l" rtl="0">
              <a:lnSpc>
                <a:spcPct val="160000"/>
              </a:lnSpc>
              <a:spcBef>
                <a:spcPts val="0"/>
              </a:spcBef>
              <a:spcAft>
                <a:spcPts val="0"/>
              </a:spcAft>
              <a:buClr>
                <a:srgbClr val="000000"/>
              </a:buClr>
              <a:buSzPts val="2500"/>
              <a:buFont typeface="Arial"/>
              <a:buAutoNum type="alphaLcPeriod"/>
            </a:pPr>
            <a:r>
              <a:rPr lang="en-US" sz="2500" b="0" i="0" u="none" strike="noStrike" cap="none" dirty="0" err="1">
                <a:solidFill>
                  <a:srgbClr val="000000"/>
                </a:solidFill>
                <a:latin typeface="Arial"/>
                <a:ea typeface="Arial"/>
                <a:cs typeface="Arial"/>
                <a:sym typeface="Arial"/>
              </a:rPr>
              <a:t>Identitas</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diri</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pekerja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menggunakan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identitas</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pribadi</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peserta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untuk</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latihan</a:t>
            </a:r>
            <a:endParaRPr sz="1200" dirty="0"/>
          </a:p>
          <a:p>
            <a:pPr marL="582932" marR="0" lvl="1" indent="-278765" algn="l" rtl="0">
              <a:lnSpc>
                <a:spcPct val="160000"/>
              </a:lnSpc>
              <a:spcBef>
                <a:spcPts val="0"/>
              </a:spcBef>
              <a:spcAft>
                <a:spcPts val="0"/>
              </a:spcAft>
              <a:buClr>
                <a:srgbClr val="000000"/>
              </a:buClr>
              <a:buSzPts val="2500"/>
              <a:buFont typeface="Arial"/>
              <a:buAutoNum type="arabicPeriod"/>
            </a:pPr>
            <a:r>
              <a:rPr lang="en-US" sz="2500" b="0" i="0" u="none" strike="noStrike" cap="none" dirty="0" err="1">
                <a:solidFill>
                  <a:srgbClr val="000000"/>
                </a:solidFill>
                <a:latin typeface="Arial"/>
                <a:ea typeface="Arial"/>
                <a:cs typeface="Arial"/>
                <a:sym typeface="Arial"/>
              </a:rPr>
              <a:t>Jangan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lupa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untuk</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ubah</a:t>
            </a:r>
            <a:r>
              <a:rPr lang="en-US" sz="2500" b="0" i="0" u="none" strike="noStrike" cap="none" dirty="0">
                <a:solidFill>
                  <a:srgbClr val="000000"/>
                </a:solidFill>
                <a:latin typeface="Arial"/>
                <a:ea typeface="Arial"/>
                <a:cs typeface="Arial"/>
                <a:sym typeface="Arial"/>
              </a:rPr>
              <a:t> </a:t>
            </a:r>
            <a:r>
              <a:rPr lang="en-US" sz="2500" b="0" i="1" u="none" strike="noStrike" cap="none" dirty="0">
                <a:solidFill>
                  <a:srgbClr val="000000"/>
                </a:solidFill>
                <a:latin typeface="Arial"/>
                <a:ea typeface="Arial"/>
                <a:cs typeface="Arial"/>
                <a:sym typeface="Arial"/>
              </a:rPr>
              <a:t>setting</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menjadi</a:t>
            </a:r>
            <a:r>
              <a:rPr lang="en-US" sz="2500" b="0" i="0" u="none" strike="noStrike" cap="none" dirty="0">
                <a:solidFill>
                  <a:srgbClr val="000000"/>
                </a:solidFill>
                <a:latin typeface="Arial"/>
                <a:ea typeface="Arial"/>
                <a:cs typeface="Arial"/>
                <a:sym typeface="Arial"/>
              </a:rPr>
              <a:t> </a:t>
            </a:r>
            <a:r>
              <a:rPr lang="en-US" sz="2500" b="0" i="1" u="none" strike="noStrike" cap="none" dirty="0">
                <a:solidFill>
                  <a:srgbClr val="000000"/>
                </a:solidFill>
                <a:latin typeface="Arial"/>
                <a:ea typeface="Arial"/>
                <a:cs typeface="Arial"/>
                <a:sym typeface="Arial"/>
              </a:rPr>
              <a:t>view </a:t>
            </a:r>
            <a:r>
              <a:rPr lang="en-US" sz="2500" b="0" i="0" u="none" strike="noStrike" cap="none" dirty="0">
                <a:solidFill>
                  <a:srgbClr val="000000"/>
                </a:solidFill>
                <a:latin typeface="Arial"/>
                <a:ea typeface="Arial"/>
                <a:cs typeface="Arial"/>
                <a:sym typeface="Arial"/>
              </a:rPr>
              <a:t>pada </a:t>
            </a:r>
            <a:r>
              <a:rPr lang="en-US" sz="2500" b="0" i="0" u="none" strike="noStrike" cap="none" dirty="0" err="1">
                <a:solidFill>
                  <a:srgbClr val="000000"/>
                </a:solidFill>
                <a:latin typeface="Arial"/>
                <a:ea typeface="Arial"/>
                <a:cs typeface="Arial"/>
                <a:sym typeface="Arial"/>
              </a:rPr>
              <a:t>kontrak</a:t>
            </a:r>
            <a:r>
              <a:rPr lang="en-US" sz="2500" b="0" i="0" u="none" strike="noStrike" cap="none" dirty="0">
                <a:solidFill>
                  <a:srgbClr val="000000"/>
                </a:solidFill>
                <a:latin typeface="Arial"/>
                <a:ea typeface="Arial"/>
                <a:cs typeface="Arial"/>
                <a:sym typeface="Arial"/>
              </a:rPr>
              <a:t> </a:t>
            </a:r>
            <a:endParaRPr sz="1200" dirty="0"/>
          </a:p>
          <a:p>
            <a:pPr marL="582932" marR="0" lvl="1" indent="-278765" algn="l" rtl="0">
              <a:lnSpc>
                <a:spcPct val="160000"/>
              </a:lnSpc>
              <a:spcBef>
                <a:spcPts val="0"/>
              </a:spcBef>
              <a:spcAft>
                <a:spcPts val="0"/>
              </a:spcAft>
              <a:buClr>
                <a:srgbClr val="000000"/>
              </a:buClr>
              <a:buSzPts val="2500"/>
              <a:buFont typeface="Arial"/>
              <a:buAutoNum type="arabicPeriod"/>
            </a:pPr>
            <a:r>
              <a:rPr lang="en-US" sz="2500" b="0" i="0" u="none" strike="noStrike" cap="none" dirty="0" err="1">
                <a:solidFill>
                  <a:srgbClr val="000000"/>
                </a:solidFill>
                <a:latin typeface="Arial"/>
                <a:ea typeface="Arial"/>
                <a:cs typeface="Arial"/>
                <a:sym typeface="Arial"/>
              </a:rPr>
              <a:t>Peserta</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membuat</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kontrak</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berdasarkan</a:t>
            </a:r>
            <a:r>
              <a:rPr lang="en-US" sz="2500" b="0" i="0" u="none" strike="noStrike" cap="none" dirty="0">
                <a:solidFill>
                  <a:srgbClr val="000000"/>
                </a:solidFill>
                <a:latin typeface="Arial"/>
                <a:ea typeface="Arial"/>
                <a:cs typeface="Arial"/>
                <a:sym typeface="Arial"/>
              </a:rPr>
              <a:t> </a:t>
            </a:r>
            <a:r>
              <a:rPr lang="en-US" sz="2500" b="0" i="0" u="none" strike="noStrike" cap="none" dirty="0" err="1">
                <a:solidFill>
                  <a:srgbClr val="000000"/>
                </a:solidFill>
                <a:latin typeface="Arial"/>
                <a:ea typeface="Arial"/>
                <a:cs typeface="Arial"/>
                <a:sym typeface="Arial"/>
              </a:rPr>
              <a:t>penulisan</a:t>
            </a:r>
            <a:r>
              <a:rPr lang="en-US" sz="2500" b="0" i="0" u="none" strike="noStrike" cap="none" dirty="0">
                <a:solidFill>
                  <a:srgbClr val="000000"/>
                </a:solidFill>
                <a:latin typeface="Arial"/>
                <a:ea typeface="Arial"/>
                <a:cs typeface="Arial"/>
                <a:sym typeface="Arial"/>
              </a:rPr>
              <a:t> EYD.</a:t>
            </a:r>
            <a:endParaRPr sz="1200" dirty="0"/>
          </a:p>
        </p:txBody>
      </p:sp>
      <p:sp>
        <p:nvSpPr>
          <p:cNvPr id="335" name="Google Shape;335;p14"/>
          <p:cNvSpPr txBox="1"/>
          <p:nvPr/>
        </p:nvSpPr>
        <p:spPr>
          <a:xfrm>
            <a:off x="1332335" y="1666626"/>
            <a:ext cx="5895493" cy="7429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250" b="1" i="0" u="none" strike="noStrike" cap="none">
                <a:solidFill>
                  <a:srgbClr val="202729"/>
                </a:solidFill>
                <a:latin typeface="Arial"/>
                <a:ea typeface="Arial"/>
                <a:cs typeface="Arial"/>
                <a:sym typeface="Arial"/>
              </a:rPr>
              <a:t>Langkah Pengerjaan</a:t>
            </a:r>
            <a:endParaRPr/>
          </a:p>
        </p:txBody>
      </p:sp>
      <p:grpSp>
        <p:nvGrpSpPr>
          <p:cNvPr id="336" name="Google Shape;336;p14"/>
          <p:cNvGrpSpPr/>
          <p:nvPr/>
        </p:nvGrpSpPr>
        <p:grpSpPr>
          <a:xfrm>
            <a:off x="13226149" y="-1408183"/>
            <a:ext cx="6126305" cy="3493908"/>
            <a:chOff x="0" y="-57150"/>
            <a:chExt cx="812800" cy="463550"/>
          </a:xfrm>
        </p:grpSpPr>
        <p:sp>
          <p:nvSpPr>
            <p:cNvPr id="337" name="Google Shape;337;p14"/>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9" name="Google Shape;339;p14"/>
          <p:cNvSpPr txBox="1"/>
          <p:nvPr/>
        </p:nvSpPr>
        <p:spPr>
          <a:xfrm>
            <a:off x="13976844" y="300149"/>
            <a:ext cx="1087500" cy="1073100"/>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04</a:t>
            </a:r>
            <a:endParaRPr/>
          </a:p>
        </p:txBody>
      </p:sp>
      <p:sp>
        <p:nvSpPr>
          <p:cNvPr id="340" name="Google Shape;340;p14"/>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II </a:t>
            </a:r>
            <a:endParaRPr dirty="0"/>
          </a:p>
          <a:p>
            <a:pPr marL="0" marR="0" lvl="0" indent="0" algn="l" rtl="0">
              <a:lnSpc>
                <a:spcPct val="110030"/>
              </a:lnSpc>
              <a:spcBef>
                <a:spcPts val="0"/>
              </a:spcBef>
              <a:spcAft>
                <a:spcPts val="0"/>
              </a:spcAft>
              <a:buNone/>
            </a:pPr>
            <a:r>
              <a:rPr lang="en-US" sz="2632" b="0" i="0" u="none" strike="noStrike" cap="none" dirty="0">
                <a:solidFill>
                  <a:srgbClr val="162F56"/>
                </a:solidFill>
                <a:latin typeface="Montserrat"/>
                <a:ea typeface="Montserrat"/>
                <a:cs typeface="Montserrat"/>
                <a:sym typeface="Montserrat"/>
              </a:rPr>
              <a:t>Contract</a:t>
            </a:r>
            <a:endParaRPr dirty="0"/>
          </a:p>
        </p:txBody>
      </p:sp>
      <p:sp>
        <p:nvSpPr>
          <p:cNvPr id="341" name="Google Shape;341;p14"/>
          <p:cNvSpPr txBox="1"/>
          <p:nvPr/>
        </p:nvSpPr>
        <p:spPr>
          <a:xfrm>
            <a:off x="1112868" y="103654"/>
            <a:ext cx="3938718" cy="915443"/>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4249" b="1" i="0" u="none" strike="noStrike" cap="none" dirty="0">
                <a:solidFill>
                  <a:srgbClr val="FFFFFF"/>
                </a:solidFill>
                <a:latin typeface="Montserrat"/>
                <a:ea typeface="Montserrat"/>
                <a:cs typeface="Montserrat"/>
                <a:sym typeface="Montserrat"/>
              </a:rPr>
              <a:t>Study Case 1</a:t>
            </a:r>
            <a:endParaRPr dirty="0"/>
          </a:p>
        </p:txBody>
      </p:sp>
      <p:sp>
        <p:nvSpPr>
          <p:cNvPr id="342" name="Google Shape;342;p14"/>
          <p:cNvSpPr txBox="1"/>
          <p:nvPr/>
        </p:nvSpPr>
        <p:spPr>
          <a:xfrm>
            <a:off x="1112868" y="958663"/>
            <a:ext cx="8594412" cy="366812"/>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0" i="0" u="none" strike="noStrike" cap="none">
                <a:solidFill>
                  <a:srgbClr val="FFFFFF"/>
                </a:solidFill>
                <a:latin typeface="Montserrat"/>
                <a:ea typeface="Montserrat"/>
                <a:cs typeface="Montserrat"/>
                <a:sym typeface="Montserrat"/>
              </a:rPr>
              <a:t>Kontrak Kerja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47"/>
        <p:cNvGrpSpPr/>
        <p:nvPr/>
      </p:nvGrpSpPr>
      <p:grpSpPr>
        <a:xfrm>
          <a:off x="0" y="0"/>
          <a:ext cx="0" cy="0"/>
          <a:chOff x="0" y="0"/>
          <a:chExt cx="0" cy="0"/>
        </a:xfrm>
      </p:grpSpPr>
      <p:grpSp>
        <p:nvGrpSpPr>
          <p:cNvPr id="348" name="Google Shape;348;p15"/>
          <p:cNvGrpSpPr/>
          <p:nvPr/>
        </p:nvGrpSpPr>
        <p:grpSpPr>
          <a:xfrm>
            <a:off x="13226149" y="-1408183"/>
            <a:ext cx="6126305" cy="3493908"/>
            <a:chOff x="0" y="-57150"/>
            <a:chExt cx="812800" cy="463550"/>
          </a:xfrm>
        </p:grpSpPr>
        <p:sp>
          <p:nvSpPr>
            <p:cNvPr id="349" name="Google Shape;349;p1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0" y="1196399"/>
            <a:ext cx="18518064" cy="9468661"/>
            <a:chOff x="0" y="-123825"/>
            <a:chExt cx="6096482" cy="3117254"/>
          </a:xfrm>
        </p:grpSpPr>
        <p:sp>
          <p:nvSpPr>
            <p:cNvPr id="352" name="Google Shape;352;p15"/>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4" name="Google Shape;354;p15"/>
          <p:cNvGrpSpPr/>
          <p:nvPr/>
        </p:nvGrpSpPr>
        <p:grpSpPr>
          <a:xfrm>
            <a:off x="709665" y="1799440"/>
            <a:ext cx="11465038" cy="8008838"/>
            <a:chOff x="0" y="0"/>
            <a:chExt cx="2046897" cy="1429849"/>
          </a:xfrm>
        </p:grpSpPr>
        <p:sp>
          <p:nvSpPr>
            <p:cNvPr id="355" name="Google Shape;355;p15"/>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356" name="Google Shape;356;p15"/>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7" name="Google Shape;357;p15"/>
          <p:cNvSpPr txBox="1"/>
          <p:nvPr/>
        </p:nvSpPr>
        <p:spPr>
          <a:xfrm>
            <a:off x="2622855" y="5226545"/>
            <a:ext cx="7638659" cy="1500385"/>
          </a:xfrm>
          <a:prstGeom prst="rect">
            <a:avLst/>
          </a:prstGeom>
          <a:noFill/>
          <a:ln>
            <a:noFill/>
          </a:ln>
        </p:spPr>
        <p:txBody>
          <a:bodyPr spcFirstLastPara="1" wrap="square" lIns="0" tIns="0" rIns="0" bIns="0" anchor="t" anchorCtr="0">
            <a:spAutoFit/>
          </a:bodyPr>
          <a:lstStyle/>
          <a:p>
            <a:pPr marL="0" marR="0" lvl="0" indent="0" algn="ctr" rtl="0">
              <a:lnSpc>
                <a:spcPct val="120017"/>
              </a:lnSpc>
              <a:spcBef>
                <a:spcPts val="0"/>
              </a:spcBef>
              <a:spcAft>
                <a:spcPts val="0"/>
              </a:spcAft>
              <a:buNone/>
            </a:pPr>
            <a:r>
              <a:rPr lang="en-US" sz="4651" b="1" i="0" u="none" strike="noStrike" cap="none">
                <a:solidFill>
                  <a:srgbClr val="202729"/>
                </a:solidFill>
                <a:latin typeface="Arial"/>
                <a:ea typeface="Arial"/>
                <a:cs typeface="Arial"/>
                <a:sym typeface="Arial"/>
              </a:rPr>
              <a:t>Masukan Screenshot</a:t>
            </a:r>
            <a:endParaRPr/>
          </a:p>
          <a:p>
            <a:pPr marL="0" marR="0" lvl="0" indent="0" algn="ctr" rtl="0">
              <a:lnSpc>
                <a:spcPct val="120017"/>
              </a:lnSpc>
              <a:spcBef>
                <a:spcPts val="0"/>
              </a:spcBef>
              <a:spcAft>
                <a:spcPts val="0"/>
              </a:spcAft>
              <a:buNone/>
            </a:pPr>
            <a:r>
              <a:rPr lang="en-US" sz="4651" b="1" i="0" u="none" strike="noStrike" cap="none">
                <a:solidFill>
                  <a:srgbClr val="202729"/>
                </a:solidFill>
                <a:latin typeface="Arial"/>
                <a:ea typeface="Arial"/>
                <a:cs typeface="Arial"/>
                <a:sym typeface="Arial"/>
              </a:rPr>
              <a:t>Hasil Kontrak Kerja</a:t>
            </a:r>
            <a:endParaRPr/>
          </a:p>
        </p:txBody>
      </p:sp>
      <p:grpSp>
        <p:nvGrpSpPr>
          <p:cNvPr id="358" name="Google Shape;358;p15"/>
          <p:cNvGrpSpPr/>
          <p:nvPr/>
        </p:nvGrpSpPr>
        <p:grpSpPr>
          <a:xfrm>
            <a:off x="12785565" y="6460316"/>
            <a:ext cx="4792770" cy="3347963"/>
            <a:chOff x="0" y="0"/>
            <a:chExt cx="2046897" cy="1429849"/>
          </a:xfrm>
        </p:grpSpPr>
        <p:sp>
          <p:nvSpPr>
            <p:cNvPr id="359" name="Google Shape;359;p15"/>
            <p:cNvSpPr/>
            <p:nvPr/>
          </p:nvSpPr>
          <p:spPr>
            <a:xfrm>
              <a:off x="0" y="0"/>
              <a:ext cx="2046897" cy="1429849"/>
            </a:xfrm>
            <a:custGeom>
              <a:avLst/>
              <a:gdLst/>
              <a:ahLst/>
              <a:cxnLst/>
              <a:rect l="l" t="t" r="r" b="b"/>
              <a:pathLst>
                <a:path w="2046897" h="1429849" extrusionOk="0">
                  <a:moveTo>
                    <a:pt x="0" y="0"/>
                  </a:moveTo>
                  <a:lnTo>
                    <a:pt x="2046897" y="0"/>
                  </a:lnTo>
                  <a:lnTo>
                    <a:pt x="2046897" y="1429849"/>
                  </a:lnTo>
                  <a:lnTo>
                    <a:pt x="0" y="1429849"/>
                  </a:lnTo>
                  <a:close/>
                </a:path>
              </a:pathLst>
            </a:custGeom>
            <a:solidFill>
              <a:srgbClr val="000000">
                <a:alpha val="0"/>
              </a:srgbClr>
            </a:solidFill>
            <a:ln w="47625" cap="sq" cmpd="sng">
              <a:solidFill>
                <a:srgbClr val="6DC4AA"/>
              </a:solidFill>
              <a:prstDash val="solid"/>
              <a:miter lim="8000"/>
              <a:headEnd type="none" w="sm" len="sm"/>
              <a:tailEnd type="none" w="sm" len="sm"/>
            </a:ln>
          </p:spPr>
        </p:sp>
        <p:sp>
          <p:nvSpPr>
            <p:cNvPr id="360" name="Google Shape;360;p15"/>
            <p:cNvSpPr txBox="1"/>
            <p:nvPr/>
          </p:nvSpPr>
          <p:spPr>
            <a:xfrm>
              <a:off x="0" y="28575"/>
              <a:ext cx="2046897" cy="1401274"/>
            </a:xfrm>
            <a:prstGeom prst="rect">
              <a:avLst/>
            </a:prstGeom>
            <a:noFill/>
            <a:ln>
              <a:noFill/>
            </a:ln>
          </p:spPr>
          <p:txBody>
            <a:bodyPr spcFirstLastPara="1" wrap="square" lIns="50800" tIns="50800" rIns="50800" bIns="50800" anchor="ctr" anchorCtr="0">
              <a:noAutofit/>
            </a:bodyPr>
            <a:lstStyle/>
            <a:p>
              <a:pPr marL="0" marR="0" lvl="0" indent="0" algn="ctr" rtl="0">
                <a:lnSpc>
                  <a:spcPct val="160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1" name="Google Shape;361;p15"/>
          <p:cNvSpPr txBox="1"/>
          <p:nvPr/>
        </p:nvSpPr>
        <p:spPr>
          <a:xfrm>
            <a:off x="13585342" y="7595784"/>
            <a:ext cx="3193215" cy="1077026"/>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44" b="1" i="0" u="none" strike="noStrike" cap="none" dirty="0">
                <a:solidFill>
                  <a:srgbClr val="202729"/>
                </a:solidFill>
                <a:latin typeface="Arial"/>
                <a:ea typeface="Arial"/>
                <a:cs typeface="Arial"/>
                <a:sym typeface="Arial"/>
              </a:rPr>
              <a:t>https://docs.google.com/document/d/1fHnnQtV0qEtiyo_cL4njJzc5uksDDg-6/edit</a:t>
            </a:r>
            <a:endParaRPr dirty="0"/>
          </a:p>
        </p:txBody>
      </p:sp>
      <p:sp>
        <p:nvSpPr>
          <p:cNvPr id="362" name="Google Shape;362;p15"/>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II</a:t>
            </a:r>
            <a:endParaRPr dirty="0"/>
          </a:p>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Contract</a:t>
            </a:r>
            <a:endParaRPr dirty="0"/>
          </a:p>
        </p:txBody>
      </p:sp>
      <p:sp>
        <p:nvSpPr>
          <p:cNvPr id="363" name="Google Shape;363;p15"/>
          <p:cNvSpPr txBox="1"/>
          <p:nvPr/>
        </p:nvSpPr>
        <p:spPr>
          <a:xfrm>
            <a:off x="1028700" y="242999"/>
            <a:ext cx="12347256" cy="8667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4500" b="1" i="0" u="none" strike="noStrike" cap="none">
                <a:solidFill>
                  <a:srgbClr val="FFFFFF"/>
                </a:solidFill>
                <a:latin typeface="Arial"/>
                <a:ea typeface="Arial"/>
                <a:cs typeface="Arial"/>
                <a:sym typeface="Arial"/>
              </a:rPr>
              <a:t>Membuat dokumen kontrak kerja </a:t>
            </a:r>
            <a:endParaRPr/>
          </a:p>
        </p:txBody>
      </p:sp>
      <p:sp>
        <p:nvSpPr>
          <p:cNvPr id="364" name="Google Shape;364;p15"/>
          <p:cNvSpPr txBox="1"/>
          <p:nvPr/>
        </p:nvSpPr>
        <p:spPr>
          <a:xfrm>
            <a:off x="13976844" y="300149"/>
            <a:ext cx="1087500" cy="963300"/>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a:solidFill>
                  <a:srgbClr val="162F56"/>
                </a:solidFill>
                <a:latin typeface="Montserrat"/>
                <a:ea typeface="Montserrat"/>
                <a:cs typeface="Montserrat"/>
                <a:sym typeface="Montserrat"/>
              </a:rPr>
              <a:t>04</a:t>
            </a:r>
            <a:endParaRPr/>
          </a:p>
        </p:txBody>
      </p:sp>
      <p:pic>
        <p:nvPicPr>
          <p:cNvPr id="3" name="Picture 2">
            <a:extLst>
              <a:ext uri="{FF2B5EF4-FFF2-40B4-BE49-F238E27FC236}">
                <a16:creationId xmlns:a16="http://schemas.microsoft.com/office/drawing/2014/main" id="{ED9256D4-3FA1-4394-9543-0A17DF9ADF11}"/>
              </a:ext>
            </a:extLst>
          </p:cNvPr>
          <p:cNvPicPr>
            <a:picLocks noChangeAspect="1"/>
          </p:cNvPicPr>
          <p:nvPr/>
        </p:nvPicPr>
        <p:blipFill>
          <a:blip r:embed="rId3"/>
          <a:stretch>
            <a:fillRect/>
          </a:stretch>
        </p:blipFill>
        <p:spPr>
          <a:xfrm>
            <a:off x="1227246" y="2085725"/>
            <a:ext cx="10429875" cy="75611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47"/>
        <p:cNvGrpSpPr/>
        <p:nvPr/>
      </p:nvGrpSpPr>
      <p:grpSpPr>
        <a:xfrm>
          <a:off x="0" y="0"/>
          <a:ext cx="0" cy="0"/>
          <a:chOff x="0" y="0"/>
          <a:chExt cx="0" cy="0"/>
        </a:xfrm>
      </p:grpSpPr>
      <p:grpSp>
        <p:nvGrpSpPr>
          <p:cNvPr id="348" name="Google Shape;348;p15"/>
          <p:cNvGrpSpPr/>
          <p:nvPr/>
        </p:nvGrpSpPr>
        <p:grpSpPr>
          <a:xfrm>
            <a:off x="13226149" y="-1408183"/>
            <a:ext cx="6126305" cy="3493908"/>
            <a:chOff x="0" y="-57150"/>
            <a:chExt cx="812800" cy="463550"/>
          </a:xfrm>
        </p:grpSpPr>
        <p:sp>
          <p:nvSpPr>
            <p:cNvPr id="349" name="Google Shape;349;p1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0" y="1211639"/>
            <a:ext cx="18518064" cy="9468661"/>
            <a:chOff x="0" y="-123825"/>
            <a:chExt cx="6096482" cy="3117254"/>
          </a:xfrm>
        </p:grpSpPr>
        <p:sp>
          <p:nvSpPr>
            <p:cNvPr id="352" name="Google Shape;352;p15"/>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7" name="Google Shape;357;p15"/>
          <p:cNvSpPr txBox="1"/>
          <p:nvPr/>
        </p:nvSpPr>
        <p:spPr>
          <a:xfrm>
            <a:off x="1112868" y="2300484"/>
            <a:ext cx="13951476" cy="5318379"/>
          </a:xfrm>
          <a:prstGeom prst="rect">
            <a:avLst/>
          </a:prstGeom>
          <a:noFill/>
          <a:ln>
            <a:noFill/>
          </a:ln>
        </p:spPr>
        <p:txBody>
          <a:bodyPr spcFirstLastPara="1" wrap="square" lIns="0" tIns="0" rIns="0" bIns="0" anchor="t" anchorCtr="0">
            <a:spAutoFit/>
          </a:bodyPr>
          <a:lstStyle/>
          <a:p>
            <a:pPr marL="0" marR="0" lvl="0" indent="0" algn="just" rtl="0">
              <a:lnSpc>
                <a:spcPct val="120017"/>
              </a:lnSpc>
              <a:spcBef>
                <a:spcPts val="0"/>
              </a:spcBef>
              <a:spcAft>
                <a:spcPts val="0"/>
              </a:spcAft>
              <a:buNone/>
            </a:pPr>
            <a:r>
              <a:rPr lang="en-US" sz="3600" i="0" u="none" strike="noStrike" cap="none" dirty="0" err="1">
                <a:solidFill>
                  <a:srgbClr val="202729"/>
                </a:solidFill>
                <a:latin typeface="Arial"/>
                <a:ea typeface="Arial"/>
                <a:cs typeface="Arial"/>
                <a:sym typeface="Arial"/>
              </a:rPr>
              <a:t>Kamu</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diminta</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untuk</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membuat</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payslip</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dari</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calon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karyawan</a:t>
            </a:r>
            <a:r>
              <a:rPr lang="en-US" sz="3600" i="0" u="none" strike="noStrike" cap="none" dirty="0">
                <a:solidFill>
                  <a:srgbClr val="202729"/>
                </a:solidFill>
                <a:latin typeface="Arial"/>
                <a:ea typeface="Arial"/>
                <a:cs typeface="Arial"/>
                <a:sym typeface="Arial"/>
              </a:rPr>
              <a:t> yang </a:t>
            </a:r>
            <a:r>
              <a:rPr lang="en-US" sz="3600" i="0" u="none" strike="noStrike" cap="none" dirty="0" err="1">
                <a:solidFill>
                  <a:srgbClr val="202729"/>
                </a:solidFill>
                <a:latin typeface="Arial"/>
                <a:ea typeface="Arial"/>
                <a:cs typeface="Arial"/>
                <a:sym typeface="Arial"/>
              </a:rPr>
              <a:t>sudah</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bekerja</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Diketahui</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gaji</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Sinta</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sebagai</a:t>
            </a:r>
            <a:r>
              <a:rPr lang="en-US" sz="3600" i="0" u="none" strike="noStrike" cap="none" dirty="0">
                <a:solidFill>
                  <a:srgbClr val="202729"/>
                </a:solidFill>
                <a:latin typeface="Arial"/>
                <a:ea typeface="Arial"/>
                <a:cs typeface="Arial"/>
                <a:sym typeface="Arial"/>
              </a:rPr>
              <a:t> Sales </a:t>
            </a:r>
            <a:r>
              <a:rPr lang="en-US" sz="3600" i="0" u="none" strike="noStrike" cap="none" dirty="0" err="1">
                <a:solidFill>
                  <a:srgbClr val="202729"/>
                </a:solidFill>
                <a:latin typeface="Arial"/>
                <a:ea typeface="Arial"/>
                <a:cs typeface="Arial"/>
                <a:sym typeface="Arial"/>
              </a:rPr>
              <a:t>dengan</a:t>
            </a:r>
            <a:r>
              <a:rPr lang="en-US" sz="3600" i="0" u="none" strike="noStrike" cap="none" dirty="0">
                <a:solidFill>
                  <a:srgbClr val="202729"/>
                </a:solidFill>
                <a:latin typeface="Arial"/>
                <a:ea typeface="Arial"/>
                <a:cs typeface="Arial"/>
                <a:sym typeface="Arial"/>
              </a:rPr>
              <a:t> status single </a:t>
            </a:r>
            <a:r>
              <a:rPr lang="en-US" sz="3600" i="0" u="none" strike="noStrike" cap="none" dirty="0" err="1">
                <a:solidFill>
                  <a:srgbClr val="202729"/>
                </a:solidFill>
                <a:latin typeface="Arial"/>
                <a:ea typeface="Arial"/>
                <a:cs typeface="Arial"/>
                <a:sym typeface="Arial"/>
              </a:rPr>
              <a:t>adalah</a:t>
            </a:r>
            <a:r>
              <a:rPr lang="en-US" sz="3600" i="0" u="none" strike="noStrike" cap="none" dirty="0">
                <a:solidFill>
                  <a:srgbClr val="202729"/>
                </a:solidFill>
                <a:latin typeface="Arial"/>
                <a:ea typeface="Arial"/>
                <a:cs typeface="Arial"/>
                <a:sym typeface="Arial"/>
              </a:rPr>
              <a:t> Rp. 5.000.000 </a:t>
            </a:r>
            <a:r>
              <a:rPr lang="en-US" sz="3600" i="0" u="none" strike="noStrike" cap="none" dirty="0" err="1">
                <a:solidFill>
                  <a:srgbClr val="202729"/>
                </a:solidFill>
                <a:latin typeface="Arial"/>
                <a:ea typeface="Arial"/>
                <a:cs typeface="Arial"/>
                <a:sym typeface="Arial"/>
              </a:rPr>
              <a:t>perbulan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Tunjangan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Jabatan</a:t>
            </a:r>
            <a:r>
              <a:rPr lang="en-US" sz="3600" i="0" u="none" strike="noStrike" cap="none" dirty="0">
                <a:solidFill>
                  <a:srgbClr val="202729"/>
                </a:solidFill>
                <a:latin typeface="Arial"/>
                <a:ea typeface="Arial"/>
                <a:cs typeface="Arial"/>
                <a:sym typeface="Arial"/>
              </a:rPr>
              <a:t> 1.000.000 </a:t>
            </a:r>
            <a:r>
              <a:rPr lang="en-US" sz="3600" i="0" u="none" strike="noStrike" cap="none" dirty="0" err="1">
                <a:solidFill>
                  <a:srgbClr val="202729"/>
                </a:solidFill>
                <a:latin typeface="Arial"/>
                <a:ea typeface="Arial"/>
                <a:cs typeface="Arial"/>
                <a:sym typeface="Arial"/>
              </a:rPr>
              <a:t>perbulan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Tunjangan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Transportasi</a:t>
            </a:r>
            <a:r>
              <a:rPr lang="en-US" sz="3600" i="0" u="none" strike="noStrike" cap="none" dirty="0">
                <a:solidFill>
                  <a:srgbClr val="202729"/>
                </a:solidFill>
                <a:latin typeface="Arial"/>
                <a:ea typeface="Arial"/>
                <a:cs typeface="Arial"/>
                <a:sym typeface="Arial"/>
              </a:rPr>
              <a:t> 500.000.</a:t>
            </a:r>
          </a:p>
          <a:p>
            <a:pPr marL="0" marR="0" lvl="0" indent="0" algn="just" rtl="0">
              <a:lnSpc>
                <a:spcPct val="120017"/>
              </a:lnSpc>
              <a:spcBef>
                <a:spcPts val="0"/>
              </a:spcBef>
              <a:spcAft>
                <a:spcPts val="0"/>
              </a:spcAft>
              <a:buNone/>
            </a:pPr>
            <a:endParaRPr lang="en-US" sz="3600" i="0" u="none" strike="noStrike" cap="none" dirty="0">
              <a:solidFill>
                <a:srgbClr val="202729"/>
              </a:solidFill>
              <a:latin typeface="Arial"/>
              <a:ea typeface="Arial"/>
              <a:cs typeface="Arial"/>
              <a:sym typeface="Arial"/>
            </a:endParaRPr>
          </a:p>
          <a:p>
            <a:pPr marL="0" marR="0" lvl="0" indent="0" algn="just" rtl="0">
              <a:lnSpc>
                <a:spcPct val="120017"/>
              </a:lnSpc>
              <a:spcBef>
                <a:spcPts val="0"/>
              </a:spcBef>
              <a:spcAft>
                <a:spcPts val="0"/>
              </a:spcAft>
              <a:buNone/>
            </a:pPr>
            <a:r>
              <a:rPr lang="en-US" sz="3600" i="0" u="none" strike="noStrike" cap="none" dirty="0">
                <a:solidFill>
                  <a:srgbClr val="202729"/>
                </a:solidFill>
                <a:latin typeface="Arial"/>
                <a:ea typeface="Arial"/>
                <a:cs typeface="Arial"/>
                <a:sym typeface="Arial"/>
              </a:rPr>
              <a:t>Lalu kami juga </a:t>
            </a:r>
            <a:r>
              <a:rPr lang="en-US" sz="3600" i="0" u="none" strike="noStrike" cap="none" dirty="0" err="1">
                <a:solidFill>
                  <a:srgbClr val="202729"/>
                </a:solidFill>
                <a:latin typeface="Arial"/>
                <a:ea typeface="Arial"/>
                <a:cs typeface="Arial"/>
                <a:sym typeface="Arial"/>
              </a:rPr>
              <a:t>memiliki</a:t>
            </a:r>
            <a:r>
              <a:rPr lang="en-US" sz="3600" i="0" u="none" strike="noStrike" cap="none" dirty="0">
                <a:solidFill>
                  <a:srgbClr val="202729"/>
                </a:solidFill>
                <a:latin typeface="Arial"/>
                <a:ea typeface="Arial"/>
                <a:cs typeface="Arial"/>
                <a:sym typeface="Arial"/>
              </a:rPr>
              <a:t> BPJS Kesehatan dan BPJS </a:t>
            </a:r>
            <a:r>
              <a:rPr lang="en-US" sz="3600" i="0" u="none" strike="noStrike" cap="none" dirty="0" err="1">
                <a:solidFill>
                  <a:srgbClr val="202729"/>
                </a:solidFill>
                <a:latin typeface="Arial"/>
                <a:ea typeface="Arial"/>
                <a:cs typeface="Arial"/>
                <a:sym typeface="Arial"/>
              </a:rPr>
              <a:t>Ketenaga</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Kerjaan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berupa</a:t>
            </a:r>
            <a:r>
              <a:rPr lang="en-US" sz="3600" i="0" u="none" strike="noStrike" cap="none" dirty="0">
                <a:solidFill>
                  <a:srgbClr val="202729"/>
                </a:solidFill>
                <a:latin typeface="Arial"/>
                <a:ea typeface="Arial"/>
                <a:cs typeface="Arial"/>
                <a:sym typeface="Arial"/>
              </a:rPr>
              <a:t> JKK, JKM dan JHT. </a:t>
            </a:r>
            <a:r>
              <a:rPr lang="en-US" sz="3600" i="0" u="none" strike="noStrike" cap="none" dirty="0" err="1">
                <a:solidFill>
                  <a:srgbClr val="202729"/>
                </a:solidFill>
                <a:latin typeface="Arial"/>
                <a:ea typeface="Arial"/>
                <a:cs typeface="Arial"/>
                <a:sym typeface="Arial"/>
              </a:rPr>
              <a:t>Potongan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Pajak</a:t>
            </a:r>
            <a:r>
              <a:rPr lang="en-US" sz="3600" i="0" u="none" strike="noStrike" cap="none" dirty="0">
                <a:solidFill>
                  <a:srgbClr val="202729"/>
                </a:solidFill>
                <a:latin typeface="Arial"/>
                <a:ea typeface="Arial"/>
                <a:cs typeface="Arial"/>
                <a:sym typeface="Arial"/>
              </a:rPr>
              <a:t> yang </a:t>
            </a:r>
            <a:r>
              <a:rPr lang="en-US" sz="3600" i="0" u="none" strike="noStrike" cap="none" dirty="0" err="1">
                <a:solidFill>
                  <a:srgbClr val="202729"/>
                </a:solidFill>
                <a:latin typeface="Arial"/>
                <a:ea typeface="Arial"/>
                <a:cs typeface="Arial"/>
                <a:sym typeface="Arial"/>
              </a:rPr>
              <a:t>ditanggung</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karyawan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pph</a:t>
            </a:r>
            <a:r>
              <a:rPr lang="en-US" sz="3600" i="0" u="none" strike="noStrike" cap="none" dirty="0">
                <a:solidFill>
                  <a:srgbClr val="202729"/>
                </a:solidFill>
                <a:latin typeface="Arial"/>
                <a:ea typeface="Arial"/>
                <a:cs typeface="Arial"/>
                <a:sym typeface="Arial"/>
              </a:rPr>
              <a:t> 21. </a:t>
            </a:r>
            <a:r>
              <a:rPr lang="en-US" sz="3600" i="0" u="none" strike="noStrike" cap="none" dirty="0" err="1">
                <a:solidFill>
                  <a:srgbClr val="202729"/>
                </a:solidFill>
                <a:latin typeface="Arial"/>
                <a:ea typeface="Arial"/>
                <a:cs typeface="Arial"/>
                <a:sym typeface="Arial"/>
              </a:rPr>
              <a:t>Buatlah</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payslip</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karyawan</a:t>
            </a:r>
            <a:r>
              <a:rPr lang="en-US" sz="3600" i="0" u="none" strike="noStrike" cap="none" dirty="0">
                <a:solidFill>
                  <a:srgbClr val="202729"/>
                </a:solidFill>
                <a:latin typeface="Arial"/>
                <a:ea typeface="Arial"/>
                <a:cs typeface="Arial"/>
                <a:sym typeface="Arial"/>
              </a:rPr>
              <a:t> </a:t>
            </a:r>
            <a:r>
              <a:rPr lang="en-US" sz="3600" i="0" u="none" strike="noStrike" cap="none" dirty="0" err="1">
                <a:solidFill>
                  <a:srgbClr val="202729"/>
                </a:solidFill>
                <a:latin typeface="Arial"/>
                <a:ea typeface="Arial"/>
                <a:cs typeface="Arial"/>
                <a:sym typeface="Arial"/>
              </a:rPr>
              <a:t>tersebut</a:t>
            </a:r>
            <a:r>
              <a:rPr lang="en-US" sz="3600" i="0" u="none" strike="noStrike" cap="none" dirty="0">
                <a:solidFill>
                  <a:srgbClr val="202729"/>
                </a:solidFill>
                <a:latin typeface="Arial"/>
                <a:ea typeface="Arial"/>
                <a:cs typeface="Arial"/>
                <a:sym typeface="Arial"/>
              </a:rPr>
              <a:t>.</a:t>
            </a:r>
            <a:endParaRPr sz="2400" dirty="0"/>
          </a:p>
        </p:txBody>
      </p:sp>
      <p:sp>
        <p:nvSpPr>
          <p:cNvPr id="362" name="Google Shape;362;p15"/>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III</a:t>
            </a:r>
            <a:endParaRPr dirty="0"/>
          </a:p>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Payroll</a:t>
            </a:r>
            <a:endParaRPr dirty="0"/>
          </a:p>
        </p:txBody>
      </p:sp>
      <p:sp>
        <p:nvSpPr>
          <p:cNvPr id="364" name="Google Shape;364;p15"/>
          <p:cNvSpPr txBox="1"/>
          <p:nvPr/>
        </p:nvSpPr>
        <p:spPr>
          <a:xfrm>
            <a:off x="13976844" y="300149"/>
            <a:ext cx="1087500" cy="134851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dirty="0">
                <a:solidFill>
                  <a:srgbClr val="162F56"/>
                </a:solidFill>
                <a:latin typeface="Montserrat"/>
                <a:ea typeface="Montserrat"/>
                <a:cs typeface="Montserrat"/>
                <a:sym typeface="Montserrat"/>
              </a:rPr>
              <a:t>05</a:t>
            </a:r>
            <a:endParaRPr dirty="0"/>
          </a:p>
        </p:txBody>
      </p:sp>
      <p:sp>
        <p:nvSpPr>
          <p:cNvPr id="20" name="Google Shape;341;p14">
            <a:extLst>
              <a:ext uri="{FF2B5EF4-FFF2-40B4-BE49-F238E27FC236}">
                <a16:creationId xmlns:a16="http://schemas.microsoft.com/office/drawing/2014/main" id="{1C38EFB0-B034-48B6-AFAF-12716079AB88}"/>
              </a:ext>
            </a:extLst>
          </p:cNvPr>
          <p:cNvSpPr txBox="1"/>
          <p:nvPr/>
        </p:nvSpPr>
        <p:spPr>
          <a:xfrm>
            <a:off x="1112868" y="103654"/>
            <a:ext cx="3938718" cy="915443"/>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4249" b="1" i="0" u="none" strike="noStrike" cap="none" dirty="0">
                <a:solidFill>
                  <a:srgbClr val="FFFFFF"/>
                </a:solidFill>
                <a:latin typeface="Montserrat"/>
                <a:ea typeface="Montserrat"/>
                <a:cs typeface="Montserrat"/>
                <a:sym typeface="Montserrat"/>
              </a:rPr>
              <a:t>Study Case </a:t>
            </a:r>
            <a:r>
              <a:rPr lang="en-US" sz="4249" b="1" dirty="0">
                <a:solidFill>
                  <a:srgbClr val="FFFFFF"/>
                </a:solidFill>
                <a:latin typeface="Montserrat"/>
                <a:ea typeface="Montserrat"/>
                <a:cs typeface="Montserrat"/>
                <a:sym typeface="Montserrat"/>
              </a:rPr>
              <a:t>2</a:t>
            </a:r>
            <a:endParaRPr dirty="0"/>
          </a:p>
        </p:txBody>
      </p:sp>
      <p:sp>
        <p:nvSpPr>
          <p:cNvPr id="21" name="Google Shape;342;p14">
            <a:extLst>
              <a:ext uri="{FF2B5EF4-FFF2-40B4-BE49-F238E27FC236}">
                <a16:creationId xmlns:a16="http://schemas.microsoft.com/office/drawing/2014/main" id="{0384BD6C-BE17-48A7-9589-B46EBE5D7BFC}"/>
              </a:ext>
            </a:extLst>
          </p:cNvPr>
          <p:cNvSpPr txBox="1"/>
          <p:nvPr/>
        </p:nvSpPr>
        <p:spPr>
          <a:xfrm>
            <a:off x="1112868" y="958663"/>
            <a:ext cx="8594412" cy="44557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dirty="0">
                <a:solidFill>
                  <a:srgbClr val="FFFFFF"/>
                </a:solidFill>
                <a:latin typeface="Montserrat"/>
                <a:ea typeface="Montserrat"/>
                <a:cs typeface="Montserrat"/>
                <a:sym typeface="Montserrat"/>
              </a:rPr>
              <a:t>P</a:t>
            </a:r>
            <a:r>
              <a:rPr lang="en-US" sz="2632" b="0" i="0" u="none" strike="noStrike" cap="none" dirty="0">
                <a:solidFill>
                  <a:srgbClr val="FFFFFF"/>
                </a:solidFill>
                <a:latin typeface="Montserrat"/>
                <a:ea typeface="Montserrat"/>
                <a:cs typeface="Montserrat"/>
                <a:sym typeface="Montserrat"/>
              </a:rPr>
              <a:t>ayroll</a:t>
            </a:r>
            <a:endParaRPr dirty="0"/>
          </a:p>
        </p:txBody>
      </p:sp>
    </p:spTree>
    <p:extLst>
      <p:ext uri="{BB962C8B-B14F-4D97-AF65-F5344CB8AC3E}">
        <p14:creationId xmlns:p14="http://schemas.microsoft.com/office/powerpoint/2010/main" val="137083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47"/>
        <p:cNvGrpSpPr/>
        <p:nvPr/>
      </p:nvGrpSpPr>
      <p:grpSpPr>
        <a:xfrm>
          <a:off x="0" y="0"/>
          <a:ext cx="0" cy="0"/>
          <a:chOff x="0" y="0"/>
          <a:chExt cx="0" cy="0"/>
        </a:xfrm>
      </p:grpSpPr>
      <p:grpSp>
        <p:nvGrpSpPr>
          <p:cNvPr id="348" name="Google Shape;348;p15"/>
          <p:cNvGrpSpPr/>
          <p:nvPr/>
        </p:nvGrpSpPr>
        <p:grpSpPr>
          <a:xfrm>
            <a:off x="13226149" y="-1408183"/>
            <a:ext cx="6126305" cy="3493908"/>
            <a:chOff x="0" y="-57150"/>
            <a:chExt cx="812800" cy="463550"/>
          </a:xfrm>
        </p:grpSpPr>
        <p:sp>
          <p:nvSpPr>
            <p:cNvPr id="349" name="Google Shape;349;p1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0" y="1196399"/>
            <a:ext cx="18518064" cy="9468661"/>
            <a:chOff x="0" y="-123825"/>
            <a:chExt cx="6096482" cy="3117254"/>
          </a:xfrm>
        </p:grpSpPr>
        <p:sp>
          <p:nvSpPr>
            <p:cNvPr id="352" name="Google Shape;352;p15"/>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2" name="Google Shape;362;p15"/>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III</a:t>
            </a:r>
            <a:endParaRPr dirty="0"/>
          </a:p>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Payroll</a:t>
            </a:r>
            <a:endParaRPr dirty="0"/>
          </a:p>
        </p:txBody>
      </p:sp>
      <p:sp>
        <p:nvSpPr>
          <p:cNvPr id="364" name="Google Shape;364;p15"/>
          <p:cNvSpPr txBox="1"/>
          <p:nvPr/>
        </p:nvSpPr>
        <p:spPr>
          <a:xfrm>
            <a:off x="13976844" y="300149"/>
            <a:ext cx="1087500" cy="134851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dirty="0">
                <a:solidFill>
                  <a:srgbClr val="162F56"/>
                </a:solidFill>
                <a:latin typeface="Montserrat"/>
                <a:ea typeface="Montserrat"/>
                <a:cs typeface="Montserrat"/>
                <a:sym typeface="Montserrat"/>
              </a:rPr>
              <a:t>05</a:t>
            </a:r>
            <a:endParaRPr dirty="0"/>
          </a:p>
        </p:txBody>
      </p:sp>
      <p:sp>
        <p:nvSpPr>
          <p:cNvPr id="20" name="Google Shape;341;p14">
            <a:extLst>
              <a:ext uri="{FF2B5EF4-FFF2-40B4-BE49-F238E27FC236}">
                <a16:creationId xmlns:a16="http://schemas.microsoft.com/office/drawing/2014/main" id="{1C38EFB0-B034-48B6-AFAF-12716079AB88}"/>
              </a:ext>
            </a:extLst>
          </p:cNvPr>
          <p:cNvSpPr txBox="1"/>
          <p:nvPr/>
        </p:nvSpPr>
        <p:spPr>
          <a:xfrm>
            <a:off x="1112868" y="103654"/>
            <a:ext cx="3938718" cy="915443"/>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4249" b="1" i="0" u="none" strike="noStrike" cap="none" dirty="0">
                <a:solidFill>
                  <a:srgbClr val="FFFFFF"/>
                </a:solidFill>
                <a:latin typeface="Montserrat"/>
                <a:ea typeface="Montserrat"/>
                <a:cs typeface="Montserrat"/>
                <a:sym typeface="Montserrat"/>
              </a:rPr>
              <a:t>Study Case </a:t>
            </a:r>
            <a:r>
              <a:rPr lang="en-US" sz="4249" b="1" dirty="0">
                <a:solidFill>
                  <a:srgbClr val="FFFFFF"/>
                </a:solidFill>
                <a:latin typeface="Montserrat"/>
                <a:ea typeface="Montserrat"/>
                <a:cs typeface="Montserrat"/>
                <a:sym typeface="Montserrat"/>
              </a:rPr>
              <a:t>2</a:t>
            </a:r>
            <a:endParaRPr dirty="0"/>
          </a:p>
        </p:txBody>
      </p:sp>
      <p:sp>
        <p:nvSpPr>
          <p:cNvPr id="21" name="Google Shape;342;p14">
            <a:extLst>
              <a:ext uri="{FF2B5EF4-FFF2-40B4-BE49-F238E27FC236}">
                <a16:creationId xmlns:a16="http://schemas.microsoft.com/office/drawing/2014/main" id="{0384BD6C-BE17-48A7-9589-B46EBE5D7BFC}"/>
              </a:ext>
            </a:extLst>
          </p:cNvPr>
          <p:cNvSpPr txBox="1"/>
          <p:nvPr/>
        </p:nvSpPr>
        <p:spPr>
          <a:xfrm>
            <a:off x="1112868" y="958663"/>
            <a:ext cx="8594412" cy="44557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dirty="0">
                <a:solidFill>
                  <a:srgbClr val="FFFFFF"/>
                </a:solidFill>
                <a:latin typeface="Montserrat"/>
                <a:ea typeface="Montserrat"/>
                <a:cs typeface="Montserrat"/>
                <a:sym typeface="Montserrat"/>
              </a:rPr>
              <a:t>P</a:t>
            </a:r>
            <a:r>
              <a:rPr lang="en-US" sz="2632" b="0" i="0" u="none" strike="noStrike" cap="none" dirty="0">
                <a:solidFill>
                  <a:srgbClr val="FFFFFF"/>
                </a:solidFill>
                <a:latin typeface="Montserrat"/>
                <a:ea typeface="Montserrat"/>
                <a:cs typeface="Montserrat"/>
                <a:sym typeface="Montserrat"/>
              </a:rPr>
              <a:t>ayroll</a:t>
            </a:r>
            <a:endParaRPr dirty="0"/>
          </a:p>
        </p:txBody>
      </p:sp>
      <p:pic>
        <p:nvPicPr>
          <p:cNvPr id="3" name="Picture 2">
            <a:extLst>
              <a:ext uri="{FF2B5EF4-FFF2-40B4-BE49-F238E27FC236}">
                <a16:creationId xmlns:a16="http://schemas.microsoft.com/office/drawing/2014/main" id="{D3E15CB7-0EA1-4D94-B58A-544492360471}"/>
              </a:ext>
            </a:extLst>
          </p:cNvPr>
          <p:cNvPicPr>
            <a:picLocks noChangeAspect="1"/>
          </p:cNvPicPr>
          <p:nvPr/>
        </p:nvPicPr>
        <p:blipFill>
          <a:blip r:embed="rId3"/>
          <a:stretch>
            <a:fillRect/>
          </a:stretch>
        </p:blipFill>
        <p:spPr>
          <a:xfrm>
            <a:off x="632634" y="2981974"/>
            <a:ext cx="6552852" cy="5460985"/>
          </a:xfrm>
          <a:prstGeom prst="rect">
            <a:avLst/>
          </a:prstGeom>
        </p:spPr>
      </p:pic>
      <p:pic>
        <p:nvPicPr>
          <p:cNvPr id="5" name="Picture 4">
            <a:extLst>
              <a:ext uri="{FF2B5EF4-FFF2-40B4-BE49-F238E27FC236}">
                <a16:creationId xmlns:a16="http://schemas.microsoft.com/office/drawing/2014/main" id="{62AACC3F-8091-4937-AD77-B8DAA153C9EB}"/>
              </a:ext>
            </a:extLst>
          </p:cNvPr>
          <p:cNvPicPr>
            <a:picLocks noChangeAspect="1"/>
          </p:cNvPicPr>
          <p:nvPr/>
        </p:nvPicPr>
        <p:blipFill>
          <a:blip r:embed="rId4"/>
          <a:stretch>
            <a:fillRect/>
          </a:stretch>
        </p:blipFill>
        <p:spPr>
          <a:xfrm>
            <a:off x="7315201" y="5081410"/>
            <a:ext cx="10439400" cy="1238250"/>
          </a:xfrm>
          <a:prstGeom prst="rect">
            <a:avLst/>
          </a:prstGeom>
        </p:spPr>
      </p:pic>
      <p:pic>
        <p:nvPicPr>
          <p:cNvPr id="7" name="Picture 6">
            <a:extLst>
              <a:ext uri="{FF2B5EF4-FFF2-40B4-BE49-F238E27FC236}">
                <a16:creationId xmlns:a16="http://schemas.microsoft.com/office/drawing/2014/main" id="{9E743530-BDD6-47E5-8E39-F0F8831C5079}"/>
              </a:ext>
            </a:extLst>
          </p:cNvPr>
          <p:cNvPicPr>
            <a:picLocks noChangeAspect="1"/>
          </p:cNvPicPr>
          <p:nvPr/>
        </p:nvPicPr>
        <p:blipFill>
          <a:blip r:embed="rId5"/>
          <a:stretch>
            <a:fillRect/>
          </a:stretch>
        </p:blipFill>
        <p:spPr>
          <a:xfrm>
            <a:off x="7421881" y="3044365"/>
            <a:ext cx="10332720" cy="1171575"/>
          </a:xfrm>
          <a:prstGeom prst="rect">
            <a:avLst/>
          </a:prstGeom>
        </p:spPr>
      </p:pic>
      <p:pic>
        <p:nvPicPr>
          <p:cNvPr id="11" name="Picture 10">
            <a:extLst>
              <a:ext uri="{FF2B5EF4-FFF2-40B4-BE49-F238E27FC236}">
                <a16:creationId xmlns:a16="http://schemas.microsoft.com/office/drawing/2014/main" id="{DBC60EF5-6A61-4549-930E-34BA9B6679C4}"/>
              </a:ext>
            </a:extLst>
          </p:cNvPr>
          <p:cNvPicPr>
            <a:picLocks noChangeAspect="1"/>
          </p:cNvPicPr>
          <p:nvPr/>
        </p:nvPicPr>
        <p:blipFill>
          <a:blip r:embed="rId6"/>
          <a:stretch>
            <a:fillRect/>
          </a:stretch>
        </p:blipFill>
        <p:spPr>
          <a:xfrm>
            <a:off x="7209825" y="7139044"/>
            <a:ext cx="10544775" cy="1171575"/>
          </a:xfrm>
          <a:prstGeom prst="rect">
            <a:avLst/>
          </a:prstGeom>
        </p:spPr>
      </p:pic>
    </p:spTree>
    <p:extLst>
      <p:ext uri="{BB962C8B-B14F-4D97-AF65-F5344CB8AC3E}">
        <p14:creationId xmlns:p14="http://schemas.microsoft.com/office/powerpoint/2010/main" val="39124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47"/>
        <p:cNvGrpSpPr/>
        <p:nvPr/>
      </p:nvGrpSpPr>
      <p:grpSpPr>
        <a:xfrm>
          <a:off x="0" y="0"/>
          <a:ext cx="0" cy="0"/>
          <a:chOff x="0" y="0"/>
          <a:chExt cx="0" cy="0"/>
        </a:xfrm>
      </p:grpSpPr>
      <p:grpSp>
        <p:nvGrpSpPr>
          <p:cNvPr id="348" name="Google Shape;348;p15"/>
          <p:cNvGrpSpPr/>
          <p:nvPr/>
        </p:nvGrpSpPr>
        <p:grpSpPr>
          <a:xfrm>
            <a:off x="13226149" y="-1408183"/>
            <a:ext cx="6126305" cy="3493908"/>
            <a:chOff x="0" y="-57150"/>
            <a:chExt cx="812800" cy="463550"/>
          </a:xfrm>
        </p:grpSpPr>
        <p:sp>
          <p:nvSpPr>
            <p:cNvPr id="349" name="Google Shape;349;p1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0" y="1211639"/>
            <a:ext cx="18518064" cy="9468661"/>
            <a:chOff x="0" y="-123825"/>
            <a:chExt cx="6096482" cy="3117254"/>
          </a:xfrm>
        </p:grpSpPr>
        <p:sp>
          <p:nvSpPr>
            <p:cNvPr id="352" name="Google Shape;352;p15"/>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7" name="Google Shape;357;p15"/>
          <p:cNvSpPr txBox="1"/>
          <p:nvPr/>
        </p:nvSpPr>
        <p:spPr>
          <a:xfrm>
            <a:off x="4566588" y="2943579"/>
            <a:ext cx="11283012" cy="4431983"/>
          </a:xfrm>
          <a:prstGeom prst="rect">
            <a:avLst/>
          </a:prstGeom>
          <a:noFill/>
          <a:ln>
            <a:noFill/>
          </a:ln>
        </p:spPr>
        <p:txBody>
          <a:bodyPr spcFirstLastPara="1" wrap="square" lIns="0" tIns="0" rIns="0" bIns="0" anchor="t" anchorCtr="0">
            <a:spAutoFit/>
          </a:bodyPr>
          <a:lstStyle/>
          <a:p>
            <a:pPr marL="342900" marR="0" lvl="0" indent="-342900" algn="just" rtl="0">
              <a:lnSpc>
                <a:spcPct val="120017"/>
              </a:lnSpc>
              <a:spcBef>
                <a:spcPts val="0"/>
              </a:spcBef>
              <a:spcAft>
                <a:spcPts val="0"/>
              </a:spcAft>
              <a:buFont typeface="Arial" panose="020B0604020202020204" pitchFamily="34" charset="0"/>
              <a:buChar char="•"/>
            </a:pPr>
            <a:r>
              <a:rPr lang="en-US" sz="2400" dirty="0"/>
              <a:t>Data </a:t>
            </a:r>
            <a:r>
              <a:rPr lang="en-US" sz="2400" dirty="0" err="1"/>
              <a:t>Penjualan</a:t>
            </a:r>
            <a:r>
              <a:rPr lang="en-US" sz="2400" dirty="0"/>
              <a:t> </a:t>
            </a:r>
            <a:r>
              <a:rPr lang="en-US" sz="2400" dirty="0" err="1"/>
              <a:t>Tahunan</a:t>
            </a:r>
            <a:r>
              <a:rPr lang="en-US" sz="2400" dirty="0"/>
              <a:t> 2021 - 2023.</a:t>
            </a:r>
          </a:p>
          <a:p>
            <a:pPr marL="342900" marR="0" lvl="0" indent="-342900" algn="just" rtl="0">
              <a:lnSpc>
                <a:spcPct val="120017"/>
              </a:lnSpc>
              <a:spcBef>
                <a:spcPts val="0"/>
              </a:spcBef>
              <a:spcAft>
                <a:spcPts val="0"/>
              </a:spcAft>
              <a:buFont typeface="Arial" panose="020B0604020202020204" pitchFamily="34" charset="0"/>
              <a:buChar char="•"/>
            </a:pPr>
            <a:r>
              <a:rPr lang="en-US" sz="2400" dirty="0"/>
              <a:t>Target </a:t>
            </a:r>
            <a:r>
              <a:rPr lang="en-US" sz="2400" dirty="0" err="1"/>
              <a:t>Penjualan</a:t>
            </a:r>
            <a:r>
              <a:rPr lang="en-US" sz="2400" dirty="0"/>
              <a:t> </a:t>
            </a:r>
            <a:r>
              <a:rPr lang="en-US" sz="2400" dirty="0" err="1"/>
              <a:t>dari</a:t>
            </a:r>
            <a:r>
              <a:rPr lang="en-US" sz="2400" dirty="0"/>
              <a:t> </a:t>
            </a:r>
            <a:r>
              <a:rPr lang="en-US" sz="2400" dirty="0" err="1"/>
              <a:t>Manajemen</a:t>
            </a:r>
            <a:r>
              <a:rPr lang="en-US" sz="2400" dirty="0"/>
              <a:t> </a:t>
            </a:r>
            <a:r>
              <a:rPr lang="en-US" sz="2400" dirty="0" err="1"/>
              <a:t>sebesar</a:t>
            </a:r>
            <a:r>
              <a:rPr lang="en-US" sz="2400" dirty="0"/>
              <a:t> 2,4 </a:t>
            </a:r>
            <a:r>
              <a:rPr lang="en-US" sz="2400" dirty="0" err="1"/>
              <a:t>Milliar</a:t>
            </a:r>
            <a:r>
              <a:rPr lang="en-US" sz="2400" dirty="0"/>
              <a:t> </a:t>
            </a:r>
            <a:r>
              <a:rPr lang="en-US" sz="2400" dirty="0" err="1"/>
              <a:t>atau</a:t>
            </a:r>
            <a:r>
              <a:rPr lang="en-US" sz="2400" dirty="0"/>
              <a:t> 200 </a:t>
            </a:r>
            <a:r>
              <a:rPr lang="en-US" sz="2400" dirty="0" err="1"/>
              <a:t>juta</a:t>
            </a:r>
            <a:r>
              <a:rPr lang="en-US" sz="2400" dirty="0"/>
              <a:t> </a:t>
            </a:r>
            <a:r>
              <a:rPr lang="en-US" sz="2400" dirty="0" err="1"/>
              <a:t>perbulan</a:t>
            </a:r>
            <a:r>
              <a:rPr lang="en-US" sz="2400" dirty="0"/>
              <a:t>.</a:t>
            </a:r>
          </a:p>
          <a:p>
            <a:pPr marL="342900" marR="0" lvl="0" indent="-342900" algn="just" rtl="0">
              <a:lnSpc>
                <a:spcPct val="120017"/>
              </a:lnSpc>
              <a:spcBef>
                <a:spcPts val="0"/>
              </a:spcBef>
              <a:spcAft>
                <a:spcPts val="0"/>
              </a:spcAft>
              <a:buFont typeface="Arial" panose="020B0604020202020204" pitchFamily="34" charset="0"/>
              <a:buChar char="•"/>
            </a:pPr>
            <a:endParaRPr lang="en-US" sz="2400" dirty="0"/>
          </a:p>
          <a:p>
            <a:pPr marL="342900" marR="0" lvl="0" indent="-342900" algn="just" rtl="0">
              <a:lnSpc>
                <a:spcPct val="120017"/>
              </a:lnSpc>
              <a:spcBef>
                <a:spcPts val="0"/>
              </a:spcBef>
              <a:spcAft>
                <a:spcPts val="0"/>
              </a:spcAft>
              <a:buFont typeface="Arial" panose="020B0604020202020204" pitchFamily="34" charset="0"/>
              <a:buChar char="•"/>
            </a:pPr>
            <a:r>
              <a:rPr lang="en-US" sz="2400" dirty="0" err="1"/>
              <a:t>Berapakah</a:t>
            </a:r>
            <a:r>
              <a:rPr lang="en-US" sz="2400" dirty="0"/>
              <a:t> </a:t>
            </a:r>
            <a:r>
              <a:rPr lang="en-US" sz="2400" dirty="0" err="1"/>
              <a:t>jumlah</a:t>
            </a:r>
            <a:r>
              <a:rPr lang="en-US" sz="2400" dirty="0"/>
              <a:t> </a:t>
            </a:r>
            <a:r>
              <a:rPr lang="en-US" sz="2400" dirty="0" err="1"/>
              <a:t>staf</a:t>
            </a:r>
            <a:r>
              <a:rPr lang="en-US" sz="2400" dirty="0"/>
              <a:t> sales yang </a:t>
            </a:r>
            <a:r>
              <a:rPr lang="en-US" sz="2400" dirty="0" err="1"/>
              <a:t>dibutuhkan</a:t>
            </a:r>
            <a:r>
              <a:rPr lang="en-US" sz="2400" dirty="0"/>
              <a:t> </a:t>
            </a:r>
            <a:r>
              <a:rPr lang="en-US" sz="2400" dirty="0" err="1"/>
              <a:t>berdasarkan</a:t>
            </a:r>
            <a:r>
              <a:rPr lang="en-US" sz="2400" dirty="0"/>
              <a:t> </a:t>
            </a:r>
            <a:r>
              <a:rPr lang="en-US" sz="2400" dirty="0" err="1"/>
              <a:t>performa</a:t>
            </a:r>
            <a:r>
              <a:rPr lang="en-US" sz="2400" dirty="0"/>
              <a:t> rata </a:t>
            </a:r>
            <a:r>
              <a:rPr lang="en-US" sz="2400" dirty="0" err="1"/>
              <a:t>rata</a:t>
            </a:r>
            <a:r>
              <a:rPr lang="en-US" sz="2400" dirty="0"/>
              <a:t> </a:t>
            </a:r>
            <a:r>
              <a:rPr lang="en-US" sz="2400" dirty="0" err="1"/>
              <a:t>tahunan</a:t>
            </a:r>
            <a:r>
              <a:rPr lang="en-US" sz="2400" dirty="0"/>
              <a:t> sales.</a:t>
            </a:r>
          </a:p>
          <a:p>
            <a:pPr marL="342900" marR="0" lvl="0" indent="-342900" algn="just" rtl="0">
              <a:lnSpc>
                <a:spcPct val="120017"/>
              </a:lnSpc>
              <a:spcBef>
                <a:spcPts val="0"/>
              </a:spcBef>
              <a:spcAft>
                <a:spcPts val="0"/>
              </a:spcAft>
              <a:buFont typeface="Arial" panose="020B0604020202020204" pitchFamily="34" charset="0"/>
              <a:buChar char="•"/>
            </a:pPr>
            <a:endParaRPr lang="en-US" sz="2400" dirty="0"/>
          </a:p>
          <a:p>
            <a:pPr marL="342900" marR="0" lvl="0" indent="-342900" algn="just" rtl="0">
              <a:lnSpc>
                <a:spcPct val="120017"/>
              </a:lnSpc>
              <a:spcBef>
                <a:spcPts val="0"/>
              </a:spcBef>
              <a:spcAft>
                <a:spcPts val="0"/>
              </a:spcAft>
              <a:buFont typeface="Arial" panose="020B0604020202020204" pitchFamily="34" charset="0"/>
              <a:buChar char="•"/>
            </a:pPr>
            <a:r>
              <a:rPr lang="en-US" sz="2400" dirty="0" err="1"/>
              <a:t>Hitung</a:t>
            </a:r>
            <a:r>
              <a:rPr lang="en-US" sz="2400" dirty="0"/>
              <a:t> </a:t>
            </a:r>
            <a:r>
              <a:rPr lang="en-US" sz="2400" dirty="0" err="1"/>
              <a:t>berapa</a:t>
            </a:r>
            <a:r>
              <a:rPr lang="en-US" sz="2400" dirty="0"/>
              <a:t> rata </a:t>
            </a:r>
            <a:r>
              <a:rPr lang="en-US" sz="2400" dirty="0" err="1"/>
              <a:t>rata</a:t>
            </a:r>
            <a:r>
              <a:rPr lang="en-US" sz="2400" dirty="0"/>
              <a:t> </a:t>
            </a:r>
            <a:r>
              <a:rPr lang="en-US" sz="2400" dirty="0" err="1"/>
              <a:t>penjualan</a:t>
            </a:r>
            <a:r>
              <a:rPr lang="en-US" sz="2400" dirty="0"/>
              <a:t> sales </a:t>
            </a:r>
            <a:r>
              <a:rPr lang="en-US" sz="2400" dirty="0" err="1"/>
              <a:t>dengan</a:t>
            </a:r>
            <a:r>
              <a:rPr lang="en-US" sz="2400" dirty="0"/>
              <a:t> pivot </a:t>
            </a:r>
            <a:r>
              <a:rPr lang="en-US" sz="2400" dirty="0" err="1"/>
              <a:t>tabel</a:t>
            </a:r>
            <a:r>
              <a:rPr lang="en-US" sz="2400" dirty="0"/>
              <a:t>.</a:t>
            </a:r>
          </a:p>
          <a:p>
            <a:pPr marL="342900" marR="0" lvl="0" indent="-342900" algn="just" rtl="0">
              <a:lnSpc>
                <a:spcPct val="120017"/>
              </a:lnSpc>
              <a:spcBef>
                <a:spcPts val="0"/>
              </a:spcBef>
              <a:spcAft>
                <a:spcPts val="0"/>
              </a:spcAft>
              <a:buFont typeface="Arial" panose="020B0604020202020204" pitchFamily="34" charset="0"/>
              <a:buChar char="•"/>
            </a:pPr>
            <a:r>
              <a:rPr lang="en-US" sz="2400" dirty="0" err="1"/>
              <a:t>Jadikan</a:t>
            </a:r>
            <a:r>
              <a:rPr lang="en-US" sz="2400" dirty="0"/>
              <a:t> rata </a:t>
            </a:r>
            <a:r>
              <a:rPr lang="en-US" sz="2400" dirty="0" err="1"/>
              <a:t>rata</a:t>
            </a:r>
            <a:r>
              <a:rPr lang="en-US" sz="2400" dirty="0"/>
              <a:t> </a:t>
            </a:r>
            <a:r>
              <a:rPr lang="en-US" sz="2400" dirty="0" err="1"/>
              <a:t>tersebut</a:t>
            </a:r>
            <a:r>
              <a:rPr lang="en-US" sz="2400" dirty="0"/>
              <a:t> </a:t>
            </a:r>
            <a:r>
              <a:rPr lang="en-US" sz="2400" dirty="0" err="1"/>
              <a:t>untuk</a:t>
            </a:r>
            <a:r>
              <a:rPr lang="en-US" sz="2400" dirty="0"/>
              <a:t> </a:t>
            </a:r>
            <a:r>
              <a:rPr lang="en-US" sz="2400" dirty="0" err="1"/>
              <a:t>menentukan</a:t>
            </a:r>
            <a:r>
              <a:rPr lang="en-US" sz="2400" dirty="0"/>
              <a:t> target ideal sales.</a:t>
            </a:r>
          </a:p>
          <a:p>
            <a:pPr marL="342900" marR="0" lvl="0" indent="-342900" algn="just" rtl="0">
              <a:lnSpc>
                <a:spcPct val="120017"/>
              </a:lnSpc>
              <a:spcBef>
                <a:spcPts val="0"/>
              </a:spcBef>
              <a:spcAft>
                <a:spcPts val="0"/>
              </a:spcAft>
              <a:buFont typeface="Arial" panose="020B0604020202020204" pitchFamily="34" charset="0"/>
              <a:buChar char="•"/>
            </a:pPr>
            <a:r>
              <a:rPr lang="en-US" sz="2400" dirty="0"/>
              <a:t>Dari target ideal yang </a:t>
            </a:r>
            <a:r>
              <a:rPr lang="en-US" sz="2400" dirty="0" err="1"/>
              <a:t>didapatkan</a:t>
            </a:r>
            <a:r>
              <a:rPr lang="en-US" sz="2400" dirty="0"/>
              <a:t>, </a:t>
            </a:r>
            <a:r>
              <a:rPr lang="en-US" sz="2400" dirty="0" err="1"/>
              <a:t>hitung</a:t>
            </a:r>
            <a:r>
              <a:rPr lang="en-US" sz="2400" dirty="0"/>
              <a:t> </a:t>
            </a:r>
            <a:r>
              <a:rPr lang="en-US" sz="2400" dirty="0" err="1"/>
              <a:t>berapa</a:t>
            </a:r>
            <a:r>
              <a:rPr lang="en-US" sz="2400" dirty="0"/>
              <a:t> </a:t>
            </a:r>
            <a:r>
              <a:rPr lang="en-US" sz="2400" dirty="0" err="1"/>
              <a:t>tambahan</a:t>
            </a:r>
            <a:r>
              <a:rPr lang="en-US" sz="2400" dirty="0"/>
              <a:t> sales yang </a:t>
            </a:r>
            <a:r>
              <a:rPr lang="en-US" sz="2400" dirty="0" err="1"/>
              <a:t>diperlukan</a:t>
            </a:r>
            <a:r>
              <a:rPr lang="en-US" sz="2400" dirty="0"/>
              <a:t> </a:t>
            </a:r>
            <a:r>
              <a:rPr lang="en-US" sz="2400" dirty="0" err="1"/>
              <a:t>untuk</a:t>
            </a:r>
            <a:r>
              <a:rPr lang="en-US" sz="2400" dirty="0"/>
              <a:t> </a:t>
            </a:r>
            <a:r>
              <a:rPr lang="en-US" sz="2400" dirty="0" err="1"/>
              <a:t>mencapai</a:t>
            </a:r>
            <a:r>
              <a:rPr lang="en-US" sz="2400" dirty="0"/>
              <a:t> target </a:t>
            </a:r>
            <a:r>
              <a:rPr lang="en-US" sz="2400" dirty="0" err="1"/>
              <a:t>penjualan</a:t>
            </a:r>
            <a:r>
              <a:rPr lang="en-US" sz="2400" dirty="0"/>
              <a:t>.</a:t>
            </a:r>
            <a:endParaRPr sz="2400" dirty="0"/>
          </a:p>
        </p:txBody>
      </p:sp>
      <p:sp>
        <p:nvSpPr>
          <p:cNvPr id="362" name="Google Shape;362;p15"/>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IV</a:t>
            </a:r>
            <a:endParaRPr dirty="0"/>
          </a:p>
          <a:p>
            <a:pPr marL="0" marR="0" lvl="0" indent="0" algn="l" rtl="0">
              <a:lnSpc>
                <a:spcPct val="110030"/>
              </a:lnSpc>
              <a:spcBef>
                <a:spcPts val="0"/>
              </a:spcBef>
              <a:spcAft>
                <a:spcPts val="0"/>
              </a:spcAft>
              <a:buNone/>
            </a:pPr>
            <a:r>
              <a:rPr lang="en-US" sz="2632" b="1" dirty="0">
                <a:solidFill>
                  <a:srgbClr val="162F56"/>
                </a:solidFill>
                <a:latin typeface="Montserrat"/>
                <a:sym typeface="Montserrat"/>
              </a:rPr>
              <a:t>MPP</a:t>
            </a:r>
            <a:endParaRPr dirty="0"/>
          </a:p>
        </p:txBody>
      </p:sp>
      <p:sp>
        <p:nvSpPr>
          <p:cNvPr id="364" name="Google Shape;364;p15"/>
          <p:cNvSpPr txBox="1"/>
          <p:nvPr/>
        </p:nvSpPr>
        <p:spPr>
          <a:xfrm>
            <a:off x="13976844" y="300149"/>
            <a:ext cx="1087500" cy="134851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dirty="0">
                <a:solidFill>
                  <a:srgbClr val="162F56"/>
                </a:solidFill>
                <a:latin typeface="Montserrat"/>
                <a:ea typeface="Montserrat"/>
                <a:cs typeface="Montserrat"/>
                <a:sym typeface="Montserrat"/>
              </a:rPr>
              <a:t>06</a:t>
            </a:r>
            <a:endParaRPr dirty="0"/>
          </a:p>
        </p:txBody>
      </p:sp>
      <p:sp>
        <p:nvSpPr>
          <p:cNvPr id="20" name="Google Shape;341;p14">
            <a:extLst>
              <a:ext uri="{FF2B5EF4-FFF2-40B4-BE49-F238E27FC236}">
                <a16:creationId xmlns:a16="http://schemas.microsoft.com/office/drawing/2014/main" id="{1C38EFB0-B034-48B6-AFAF-12716079AB88}"/>
              </a:ext>
            </a:extLst>
          </p:cNvPr>
          <p:cNvSpPr txBox="1"/>
          <p:nvPr/>
        </p:nvSpPr>
        <p:spPr>
          <a:xfrm>
            <a:off x="1112868" y="103654"/>
            <a:ext cx="3938718" cy="915443"/>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4249" b="1" i="0" u="none" strike="noStrike" cap="none" dirty="0">
                <a:solidFill>
                  <a:srgbClr val="FFFFFF"/>
                </a:solidFill>
                <a:latin typeface="Montserrat"/>
                <a:ea typeface="Montserrat"/>
                <a:cs typeface="Montserrat"/>
                <a:sym typeface="Montserrat"/>
              </a:rPr>
              <a:t>Study Case </a:t>
            </a:r>
            <a:r>
              <a:rPr lang="en-US" sz="4249" b="1" dirty="0">
                <a:solidFill>
                  <a:srgbClr val="FFFFFF"/>
                </a:solidFill>
                <a:latin typeface="Montserrat"/>
                <a:ea typeface="Montserrat"/>
                <a:cs typeface="Montserrat"/>
                <a:sym typeface="Montserrat"/>
              </a:rPr>
              <a:t>2</a:t>
            </a:r>
            <a:endParaRPr dirty="0"/>
          </a:p>
        </p:txBody>
      </p:sp>
      <p:sp>
        <p:nvSpPr>
          <p:cNvPr id="21" name="Google Shape;342;p14">
            <a:extLst>
              <a:ext uri="{FF2B5EF4-FFF2-40B4-BE49-F238E27FC236}">
                <a16:creationId xmlns:a16="http://schemas.microsoft.com/office/drawing/2014/main" id="{0384BD6C-BE17-48A7-9589-B46EBE5D7BFC}"/>
              </a:ext>
            </a:extLst>
          </p:cNvPr>
          <p:cNvSpPr txBox="1"/>
          <p:nvPr/>
        </p:nvSpPr>
        <p:spPr>
          <a:xfrm>
            <a:off x="1112868" y="958663"/>
            <a:ext cx="8594412" cy="44557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dirty="0">
                <a:solidFill>
                  <a:srgbClr val="FFFFFF"/>
                </a:solidFill>
                <a:latin typeface="Montserrat"/>
                <a:sym typeface="Montserrat"/>
              </a:rPr>
              <a:t>Man Power Planning</a:t>
            </a:r>
            <a:endParaRPr dirty="0"/>
          </a:p>
        </p:txBody>
      </p:sp>
      <p:sp>
        <p:nvSpPr>
          <p:cNvPr id="17" name="Google Shape;357;p15">
            <a:extLst>
              <a:ext uri="{FF2B5EF4-FFF2-40B4-BE49-F238E27FC236}">
                <a16:creationId xmlns:a16="http://schemas.microsoft.com/office/drawing/2014/main" id="{33BA692C-8B80-4A12-83F0-5362FDA6D354}"/>
              </a:ext>
            </a:extLst>
          </p:cNvPr>
          <p:cNvSpPr txBox="1"/>
          <p:nvPr/>
        </p:nvSpPr>
        <p:spPr>
          <a:xfrm>
            <a:off x="1265268" y="2452884"/>
            <a:ext cx="3184812" cy="4949047"/>
          </a:xfrm>
          <a:prstGeom prst="rect">
            <a:avLst/>
          </a:prstGeom>
          <a:noFill/>
          <a:ln>
            <a:noFill/>
          </a:ln>
        </p:spPr>
        <p:txBody>
          <a:bodyPr spcFirstLastPara="1" wrap="square" lIns="0" tIns="0" rIns="0" bIns="0" anchor="t" anchorCtr="0">
            <a:spAutoFit/>
          </a:bodyPr>
          <a:lstStyle/>
          <a:p>
            <a:pPr marL="0" marR="0" lvl="0" indent="0" algn="just" rtl="0">
              <a:lnSpc>
                <a:spcPct val="120017"/>
              </a:lnSpc>
              <a:spcBef>
                <a:spcPts val="0"/>
              </a:spcBef>
              <a:spcAft>
                <a:spcPts val="0"/>
              </a:spcAft>
              <a:buNone/>
            </a:pPr>
            <a:endParaRPr lang="en-US" sz="2400" dirty="0"/>
          </a:p>
          <a:p>
            <a:pPr marL="0" marR="0" lvl="0" indent="0" algn="just" rtl="0">
              <a:lnSpc>
                <a:spcPct val="120017"/>
              </a:lnSpc>
              <a:spcBef>
                <a:spcPts val="0"/>
              </a:spcBef>
              <a:spcAft>
                <a:spcPts val="0"/>
              </a:spcAft>
              <a:buNone/>
            </a:pPr>
            <a:r>
              <a:rPr lang="en-US" sz="4400" dirty="0" err="1"/>
              <a:t>Diketahui</a:t>
            </a:r>
            <a:endParaRPr lang="en-US" sz="4400" dirty="0"/>
          </a:p>
          <a:p>
            <a:pPr marL="0" marR="0" lvl="0" indent="0" algn="just" rtl="0">
              <a:lnSpc>
                <a:spcPct val="120017"/>
              </a:lnSpc>
              <a:spcBef>
                <a:spcPts val="0"/>
              </a:spcBef>
              <a:spcAft>
                <a:spcPts val="0"/>
              </a:spcAft>
              <a:buNone/>
            </a:pPr>
            <a:endParaRPr lang="en-US" sz="4400" dirty="0"/>
          </a:p>
          <a:p>
            <a:pPr marL="0" marR="0" lvl="0" indent="0" algn="just" rtl="0">
              <a:lnSpc>
                <a:spcPct val="120017"/>
              </a:lnSpc>
              <a:spcBef>
                <a:spcPts val="0"/>
              </a:spcBef>
              <a:spcAft>
                <a:spcPts val="0"/>
              </a:spcAft>
              <a:buNone/>
            </a:pPr>
            <a:r>
              <a:rPr lang="en-US" sz="4400" dirty="0" err="1"/>
              <a:t>Ditanya</a:t>
            </a:r>
            <a:endParaRPr lang="en-US" sz="4400" dirty="0"/>
          </a:p>
          <a:p>
            <a:pPr marL="0" marR="0" lvl="0" indent="0" algn="just" rtl="0">
              <a:lnSpc>
                <a:spcPct val="120017"/>
              </a:lnSpc>
              <a:spcBef>
                <a:spcPts val="0"/>
              </a:spcBef>
              <a:spcAft>
                <a:spcPts val="0"/>
              </a:spcAft>
              <a:buNone/>
            </a:pPr>
            <a:endParaRPr lang="en-US" sz="4400" dirty="0"/>
          </a:p>
          <a:p>
            <a:pPr marL="0" marR="0" lvl="0" indent="0" algn="just" rtl="0">
              <a:lnSpc>
                <a:spcPct val="120017"/>
              </a:lnSpc>
              <a:spcBef>
                <a:spcPts val="0"/>
              </a:spcBef>
              <a:spcAft>
                <a:spcPts val="0"/>
              </a:spcAft>
              <a:buNone/>
            </a:pPr>
            <a:r>
              <a:rPr lang="en-US" sz="4400" dirty="0"/>
              <a:t>Analisa</a:t>
            </a:r>
            <a:endParaRPr lang="en-US" sz="2400" dirty="0"/>
          </a:p>
          <a:p>
            <a:pPr marL="0" marR="0" lvl="0" indent="0" algn="just" rtl="0">
              <a:lnSpc>
                <a:spcPct val="120017"/>
              </a:lnSpc>
              <a:spcBef>
                <a:spcPts val="0"/>
              </a:spcBef>
              <a:spcAft>
                <a:spcPts val="0"/>
              </a:spcAft>
              <a:buNone/>
            </a:pPr>
            <a:endParaRPr sz="2400" dirty="0"/>
          </a:p>
        </p:txBody>
      </p:sp>
    </p:spTree>
    <p:extLst>
      <p:ext uri="{BB962C8B-B14F-4D97-AF65-F5344CB8AC3E}">
        <p14:creationId xmlns:p14="http://schemas.microsoft.com/office/powerpoint/2010/main" val="3737648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347"/>
        <p:cNvGrpSpPr/>
        <p:nvPr/>
      </p:nvGrpSpPr>
      <p:grpSpPr>
        <a:xfrm>
          <a:off x="0" y="0"/>
          <a:ext cx="0" cy="0"/>
          <a:chOff x="0" y="0"/>
          <a:chExt cx="0" cy="0"/>
        </a:xfrm>
      </p:grpSpPr>
      <p:grpSp>
        <p:nvGrpSpPr>
          <p:cNvPr id="348" name="Google Shape;348;p15"/>
          <p:cNvGrpSpPr/>
          <p:nvPr/>
        </p:nvGrpSpPr>
        <p:grpSpPr>
          <a:xfrm>
            <a:off x="13226149" y="-1408183"/>
            <a:ext cx="6126305" cy="3493908"/>
            <a:chOff x="0" y="-57150"/>
            <a:chExt cx="812800" cy="463550"/>
          </a:xfrm>
        </p:grpSpPr>
        <p:sp>
          <p:nvSpPr>
            <p:cNvPr id="349" name="Google Shape;349;p15"/>
            <p:cNvSpPr/>
            <p:nvPr/>
          </p:nvSpPr>
          <p:spPr>
            <a:xfrm>
              <a:off x="0" y="0"/>
              <a:ext cx="812800" cy="406400"/>
            </a:xfrm>
            <a:custGeom>
              <a:avLst/>
              <a:gdLst/>
              <a:ahLst/>
              <a:cxnLst/>
              <a:rect l="l" t="t" r="r" b="b"/>
              <a:pathLst>
                <a:path w="812800" h="406400" extrusionOk="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FFF"/>
                </a:gs>
                <a:gs pos="100000">
                  <a:srgbClr val="E3FAF9"/>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0" y="-57150"/>
              <a:ext cx="812800" cy="463550"/>
            </a:xfrm>
            <a:prstGeom prst="rect">
              <a:avLst/>
            </a:prstGeom>
            <a:noFill/>
            <a:ln>
              <a:noFill/>
            </a:ln>
          </p:spPr>
          <p:txBody>
            <a:bodyPr spcFirstLastPara="1" wrap="square" lIns="62050" tIns="62050" rIns="62050" bIns="62050" anchor="ctr" anchorCtr="0">
              <a:noAutofit/>
            </a:bodyPr>
            <a:lstStyle/>
            <a:p>
              <a:pPr marL="0" marR="0" lvl="0" indent="0" algn="ctr" rtl="0">
                <a:lnSpc>
                  <a:spcPct val="152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0" y="1211639"/>
            <a:ext cx="18518064" cy="9468661"/>
            <a:chOff x="0" y="-123825"/>
            <a:chExt cx="6096482" cy="3117254"/>
          </a:xfrm>
        </p:grpSpPr>
        <p:sp>
          <p:nvSpPr>
            <p:cNvPr id="352" name="Google Shape;352;p15"/>
            <p:cNvSpPr/>
            <p:nvPr/>
          </p:nvSpPr>
          <p:spPr>
            <a:xfrm>
              <a:off x="0" y="0"/>
              <a:ext cx="6096482" cy="2993429"/>
            </a:xfrm>
            <a:custGeom>
              <a:avLst/>
              <a:gdLst/>
              <a:ahLst/>
              <a:cxnLst/>
              <a:rect l="l" t="t" r="r" b="b"/>
              <a:pathLst>
                <a:path w="6096482" h="2993429" extrusionOk="0">
                  <a:moveTo>
                    <a:pt x="17141" y="0"/>
                  </a:moveTo>
                  <a:lnTo>
                    <a:pt x="6079341" y="0"/>
                  </a:lnTo>
                  <a:cubicBezTo>
                    <a:pt x="6088807" y="0"/>
                    <a:pt x="6096482" y="7674"/>
                    <a:pt x="6096482" y="17141"/>
                  </a:cubicBezTo>
                  <a:lnTo>
                    <a:pt x="6096482" y="2976288"/>
                  </a:lnTo>
                  <a:cubicBezTo>
                    <a:pt x="6096482" y="2980834"/>
                    <a:pt x="6094676" y="2985194"/>
                    <a:pt x="6091461" y="2988408"/>
                  </a:cubicBezTo>
                  <a:cubicBezTo>
                    <a:pt x="6088247" y="2991623"/>
                    <a:pt x="6083887" y="2993429"/>
                    <a:pt x="6079341" y="2993429"/>
                  </a:cubicBezTo>
                  <a:lnTo>
                    <a:pt x="17141" y="2993429"/>
                  </a:lnTo>
                  <a:cubicBezTo>
                    <a:pt x="7674" y="2993429"/>
                    <a:pt x="0" y="2985754"/>
                    <a:pt x="0" y="2976288"/>
                  </a:cubicBezTo>
                  <a:lnTo>
                    <a:pt x="0" y="17141"/>
                  </a:lnTo>
                  <a:cubicBezTo>
                    <a:pt x="0" y="7674"/>
                    <a:pt x="7674" y="0"/>
                    <a:pt x="17141"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0" y="-123825"/>
              <a:ext cx="6096482" cy="3117253"/>
            </a:xfrm>
            <a:prstGeom prst="rect">
              <a:avLst/>
            </a:prstGeom>
            <a:noFill/>
            <a:ln>
              <a:noFill/>
            </a:ln>
          </p:spPr>
          <p:txBody>
            <a:bodyPr spcFirstLastPara="1" wrap="square" lIns="40625" tIns="40625" rIns="40625" bIns="40625" anchor="ctr" anchorCtr="0">
              <a:noAutofit/>
            </a:bodyPr>
            <a:lstStyle/>
            <a:p>
              <a:pPr marL="0" marR="0" lvl="0" indent="0" algn="l" rtl="0">
                <a:lnSpc>
                  <a:spcPct val="2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7" name="Google Shape;357;p15"/>
          <p:cNvSpPr txBox="1"/>
          <p:nvPr/>
        </p:nvSpPr>
        <p:spPr>
          <a:xfrm>
            <a:off x="1112868" y="5143500"/>
            <a:ext cx="14401452" cy="4875181"/>
          </a:xfrm>
          <a:prstGeom prst="rect">
            <a:avLst/>
          </a:prstGeom>
          <a:noFill/>
          <a:ln>
            <a:noFill/>
          </a:ln>
        </p:spPr>
        <p:txBody>
          <a:bodyPr spcFirstLastPara="1" wrap="square" lIns="0" tIns="0" rIns="0" bIns="0" anchor="t" anchorCtr="0">
            <a:spAutoFit/>
          </a:bodyPr>
          <a:lstStyle/>
          <a:p>
            <a:pPr marR="0" lvl="0" algn="just" rtl="0">
              <a:lnSpc>
                <a:spcPct val="120017"/>
              </a:lnSpc>
              <a:spcBef>
                <a:spcPts val="0"/>
              </a:spcBef>
              <a:spcAft>
                <a:spcPts val="0"/>
              </a:spcAft>
            </a:pPr>
            <a:r>
              <a:rPr lang="en-US" sz="2400" dirty="0" err="1"/>
              <a:t>Berdasarkan</a:t>
            </a:r>
            <a:r>
              <a:rPr lang="en-US" sz="2400" dirty="0"/>
              <a:t> data </a:t>
            </a:r>
            <a:r>
              <a:rPr lang="en-US" sz="2400" dirty="0" err="1"/>
              <a:t>penjualan</a:t>
            </a:r>
            <a:r>
              <a:rPr lang="en-US" sz="2400" dirty="0"/>
              <a:t> 2021 - 2024, kami </a:t>
            </a:r>
            <a:r>
              <a:rPr lang="en-US" sz="2400" dirty="0" err="1"/>
              <a:t>merekomendasikan</a:t>
            </a:r>
            <a:r>
              <a:rPr lang="en-US" sz="2400" dirty="0"/>
              <a:t> </a:t>
            </a:r>
            <a:r>
              <a:rPr lang="en-US" sz="2400" dirty="0" err="1"/>
              <a:t>perusahaan</a:t>
            </a:r>
            <a:r>
              <a:rPr lang="en-US" sz="2400" dirty="0"/>
              <a:t> </a:t>
            </a:r>
            <a:r>
              <a:rPr lang="en-US" sz="2400" dirty="0" err="1"/>
              <a:t>untuk</a:t>
            </a:r>
            <a:r>
              <a:rPr lang="en-US" sz="2400" dirty="0"/>
              <a:t> </a:t>
            </a:r>
            <a:r>
              <a:rPr lang="en-US" sz="2400" dirty="0" err="1"/>
              <a:t>menetapkan</a:t>
            </a:r>
            <a:r>
              <a:rPr lang="en-US" sz="2400" dirty="0"/>
              <a:t> target </a:t>
            </a:r>
            <a:r>
              <a:rPr lang="en-US" sz="2400" dirty="0" err="1"/>
              <a:t>penjualan</a:t>
            </a:r>
            <a:r>
              <a:rPr lang="en-US" sz="2400" dirty="0"/>
              <a:t> </a:t>
            </a:r>
            <a:r>
              <a:rPr lang="en-US" sz="2400" dirty="0" err="1"/>
              <a:t>sebesar</a:t>
            </a:r>
            <a:r>
              <a:rPr lang="en-US" sz="2400" dirty="0"/>
              <a:t> </a:t>
            </a:r>
            <a:r>
              <a:rPr lang="en-US" sz="2400" b="1" dirty="0"/>
              <a:t>Rp. 18.500.000</a:t>
            </a:r>
            <a:r>
              <a:rPr lang="en-US" sz="2400" dirty="0"/>
              <a:t> </a:t>
            </a:r>
            <a:r>
              <a:rPr lang="en-US" sz="2400" dirty="0" err="1"/>
              <a:t>perbulan</a:t>
            </a:r>
            <a:r>
              <a:rPr lang="en-US" sz="2400" dirty="0"/>
              <a:t> </a:t>
            </a:r>
            <a:r>
              <a:rPr lang="en-US" sz="2400" dirty="0" err="1"/>
              <a:t>untuk</a:t>
            </a:r>
            <a:r>
              <a:rPr lang="en-US" sz="2400" dirty="0"/>
              <a:t> </a:t>
            </a:r>
            <a:r>
              <a:rPr lang="en-US" sz="2400" dirty="0" err="1"/>
              <a:t>setiap</a:t>
            </a:r>
            <a:r>
              <a:rPr lang="en-US" sz="2400" dirty="0"/>
              <a:t> sales.</a:t>
            </a:r>
          </a:p>
          <a:p>
            <a:pPr marR="0" lvl="0" algn="just" rtl="0">
              <a:lnSpc>
                <a:spcPct val="120017"/>
              </a:lnSpc>
              <a:spcBef>
                <a:spcPts val="0"/>
              </a:spcBef>
              <a:spcAft>
                <a:spcPts val="0"/>
              </a:spcAft>
            </a:pPr>
            <a:endParaRPr lang="en-US" sz="2400" dirty="0"/>
          </a:p>
          <a:p>
            <a:pPr marR="0" lvl="0" algn="just" rtl="0">
              <a:lnSpc>
                <a:spcPct val="120017"/>
              </a:lnSpc>
              <a:spcBef>
                <a:spcPts val="0"/>
              </a:spcBef>
              <a:spcAft>
                <a:spcPts val="0"/>
              </a:spcAft>
            </a:pPr>
            <a:r>
              <a:rPr lang="en-US" sz="2400" dirty="0"/>
              <a:t>Hal </a:t>
            </a:r>
            <a:r>
              <a:rPr lang="en-US" sz="2400" dirty="0" err="1"/>
              <a:t>ini</a:t>
            </a:r>
            <a:r>
              <a:rPr lang="en-US" sz="2400" dirty="0"/>
              <a:t> </a:t>
            </a:r>
            <a:r>
              <a:rPr lang="en-US" sz="2400" dirty="0" err="1"/>
              <a:t>merujuk</a:t>
            </a:r>
            <a:r>
              <a:rPr lang="en-US" sz="2400" dirty="0"/>
              <a:t> pada rata </a:t>
            </a:r>
            <a:r>
              <a:rPr lang="en-US" sz="2400" dirty="0" err="1"/>
              <a:t>rata</a:t>
            </a:r>
            <a:r>
              <a:rPr lang="en-US" sz="2400" dirty="0"/>
              <a:t> </a:t>
            </a:r>
            <a:r>
              <a:rPr lang="en-US" sz="2400" dirty="0" err="1"/>
              <a:t>penjualan</a:t>
            </a:r>
            <a:r>
              <a:rPr lang="en-US" sz="2400" dirty="0"/>
              <a:t> </a:t>
            </a:r>
            <a:r>
              <a:rPr lang="en-US" sz="2400" dirty="0" err="1"/>
              <a:t>perbulan</a:t>
            </a:r>
            <a:r>
              <a:rPr lang="en-US" sz="2400" dirty="0"/>
              <a:t> </a:t>
            </a:r>
            <a:r>
              <a:rPr lang="en-US" sz="2400" dirty="0" err="1"/>
              <a:t>tiga</a:t>
            </a:r>
            <a:r>
              <a:rPr lang="en-US" sz="2400" dirty="0"/>
              <a:t> </a:t>
            </a:r>
            <a:r>
              <a:rPr lang="en-US" sz="2400" dirty="0" err="1"/>
              <a:t>tahun</a:t>
            </a:r>
            <a:r>
              <a:rPr lang="en-US" sz="2400" dirty="0"/>
              <a:t> </a:t>
            </a:r>
            <a:r>
              <a:rPr lang="en-US" sz="2400" dirty="0" err="1"/>
              <a:t>terkahir</a:t>
            </a:r>
            <a:r>
              <a:rPr lang="en-US" sz="2400" dirty="0"/>
              <a:t> </a:t>
            </a:r>
            <a:r>
              <a:rPr lang="en-US" sz="2400" dirty="0" err="1"/>
              <a:t>sebesar</a:t>
            </a:r>
            <a:r>
              <a:rPr lang="en-US" sz="2400" dirty="0"/>
              <a:t> Rp.18.421.486 dan pada 2024 </a:t>
            </a:r>
            <a:r>
              <a:rPr lang="en-US" sz="2400" dirty="0" err="1"/>
              <a:t>terus</a:t>
            </a:r>
            <a:r>
              <a:rPr lang="en-US" sz="2400" dirty="0"/>
              <a:t> </a:t>
            </a:r>
            <a:r>
              <a:rPr lang="en-US" sz="2400" dirty="0" err="1"/>
              <a:t>mengalami</a:t>
            </a:r>
            <a:r>
              <a:rPr lang="en-US" sz="2400" dirty="0"/>
              <a:t> </a:t>
            </a:r>
            <a:r>
              <a:rPr lang="en-US" sz="2400" dirty="0" err="1"/>
              <a:t>kenaikan</a:t>
            </a:r>
            <a:r>
              <a:rPr lang="en-US" sz="2400" dirty="0"/>
              <a:t> trend. </a:t>
            </a:r>
            <a:r>
              <a:rPr lang="en-US" sz="2400" dirty="0" err="1"/>
              <a:t>Menindaklanjuti</a:t>
            </a:r>
            <a:r>
              <a:rPr lang="en-US" sz="2400" dirty="0"/>
              <a:t> target </a:t>
            </a:r>
            <a:r>
              <a:rPr lang="en-US" sz="2400" dirty="0" err="1"/>
              <a:t>perusahaan</a:t>
            </a:r>
            <a:r>
              <a:rPr lang="en-US" sz="2400" dirty="0"/>
              <a:t> 2,4 </a:t>
            </a:r>
            <a:r>
              <a:rPr lang="en-US" sz="2400" dirty="0" err="1"/>
              <a:t>Milliar</a:t>
            </a:r>
            <a:r>
              <a:rPr lang="en-US" sz="2400" dirty="0"/>
              <a:t> </a:t>
            </a:r>
            <a:r>
              <a:rPr lang="en-US" sz="2400" dirty="0" err="1"/>
              <a:t>pertahun</a:t>
            </a:r>
            <a:r>
              <a:rPr lang="en-US" sz="2400" dirty="0"/>
              <a:t> </a:t>
            </a:r>
            <a:r>
              <a:rPr lang="en-US" sz="2400" dirty="0" err="1"/>
              <a:t>maka</a:t>
            </a:r>
            <a:r>
              <a:rPr lang="en-US" sz="2400" dirty="0"/>
              <a:t> </a:t>
            </a:r>
            <a:r>
              <a:rPr lang="en-US" sz="2400" dirty="0" err="1"/>
              <a:t>dibutuhkan</a:t>
            </a:r>
            <a:r>
              <a:rPr lang="en-US" sz="2400" dirty="0"/>
              <a:t> </a:t>
            </a:r>
            <a:r>
              <a:rPr lang="en-US" sz="2400" dirty="0" err="1"/>
              <a:t>setidaknya</a:t>
            </a:r>
            <a:r>
              <a:rPr lang="en-US" sz="2400" dirty="0"/>
              <a:t> Rp. 200.000.000 </a:t>
            </a:r>
            <a:r>
              <a:rPr lang="en-US" sz="2400" dirty="0" err="1"/>
              <a:t>dari</a:t>
            </a:r>
            <a:r>
              <a:rPr lang="en-US" sz="2400" dirty="0"/>
              <a:t> divisi sales per </a:t>
            </a:r>
            <a:r>
              <a:rPr lang="en-US" sz="2400" dirty="0" err="1"/>
              <a:t>bulan</a:t>
            </a:r>
            <a:r>
              <a:rPr lang="en-US" sz="2400" dirty="0"/>
              <a:t>.</a:t>
            </a:r>
          </a:p>
          <a:p>
            <a:pPr marR="0" lvl="0" algn="just" rtl="0">
              <a:lnSpc>
                <a:spcPct val="120017"/>
              </a:lnSpc>
              <a:spcBef>
                <a:spcPts val="0"/>
              </a:spcBef>
              <a:spcAft>
                <a:spcPts val="0"/>
              </a:spcAft>
            </a:pPr>
            <a:endParaRPr lang="en-US" sz="2400" dirty="0"/>
          </a:p>
          <a:p>
            <a:pPr marR="0" lvl="0" algn="just" rtl="0">
              <a:lnSpc>
                <a:spcPct val="120017"/>
              </a:lnSpc>
              <a:spcBef>
                <a:spcPts val="0"/>
              </a:spcBef>
              <a:spcAft>
                <a:spcPts val="0"/>
              </a:spcAft>
            </a:pPr>
            <a:r>
              <a:rPr lang="en-US" sz="2400" dirty="0" err="1"/>
              <a:t>Dengan</a:t>
            </a:r>
            <a:r>
              <a:rPr lang="en-US" sz="2400" dirty="0"/>
              <a:t> </a:t>
            </a:r>
            <a:r>
              <a:rPr lang="en-US" sz="2400" dirty="0" err="1"/>
              <a:t>jumlah</a:t>
            </a:r>
            <a:r>
              <a:rPr lang="en-US" sz="2400" dirty="0"/>
              <a:t> sales </a:t>
            </a:r>
            <a:r>
              <a:rPr lang="en-US" sz="2400" dirty="0" err="1"/>
              <a:t>sekarang</a:t>
            </a:r>
            <a:r>
              <a:rPr lang="en-US" sz="2400" dirty="0"/>
              <a:t> </a:t>
            </a:r>
            <a:r>
              <a:rPr lang="en-US" sz="2400" dirty="0" err="1"/>
              <a:t>hanya</a:t>
            </a:r>
            <a:r>
              <a:rPr lang="en-US" sz="2400" dirty="0"/>
              <a:t> </a:t>
            </a:r>
            <a:r>
              <a:rPr lang="en-US" sz="2400" dirty="0" err="1"/>
              <a:t>bisa</a:t>
            </a:r>
            <a:r>
              <a:rPr lang="en-US" sz="2400" dirty="0"/>
              <a:t> </a:t>
            </a:r>
            <a:r>
              <a:rPr lang="en-US" sz="2400" dirty="0" err="1"/>
              <a:t>menghasilkan</a:t>
            </a:r>
            <a:r>
              <a:rPr lang="en-US" sz="2400" dirty="0"/>
              <a:t> Rp.92.500.000 </a:t>
            </a:r>
            <a:r>
              <a:rPr lang="en-US" sz="2400" dirty="0" err="1"/>
              <a:t>sehingga</a:t>
            </a:r>
            <a:r>
              <a:rPr lang="en-US" sz="2400" dirty="0"/>
              <a:t> </a:t>
            </a:r>
            <a:r>
              <a:rPr lang="en-US" sz="2400" dirty="0" err="1"/>
              <a:t>membutuhkan</a:t>
            </a:r>
            <a:r>
              <a:rPr lang="en-US" sz="2400" dirty="0"/>
              <a:t> 6 – 7 </a:t>
            </a:r>
            <a:r>
              <a:rPr lang="en-US" sz="2400" dirty="0" err="1"/>
              <a:t>tambahan</a:t>
            </a:r>
            <a:r>
              <a:rPr lang="en-US" sz="2400" dirty="0"/>
              <a:t> sales.</a:t>
            </a:r>
          </a:p>
          <a:p>
            <a:pPr marR="0" lvl="0" algn="just" rtl="0">
              <a:lnSpc>
                <a:spcPct val="120017"/>
              </a:lnSpc>
              <a:spcBef>
                <a:spcPts val="0"/>
              </a:spcBef>
              <a:spcAft>
                <a:spcPts val="0"/>
              </a:spcAft>
            </a:pPr>
            <a:endParaRPr lang="en-US" sz="2400" dirty="0"/>
          </a:p>
          <a:p>
            <a:pPr marR="0" lvl="0" algn="just" rtl="0">
              <a:lnSpc>
                <a:spcPct val="120017"/>
              </a:lnSpc>
              <a:spcBef>
                <a:spcPts val="0"/>
              </a:spcBef>
              <a:spcAft>
                <a:spcPts val="0"/>
              </a:spcAft>
            </a:pPr>
            <a:r>
              <a:rPr lang="en-US" sz="2400" dirty="0"/>
              <a:t>Link: </a:t>
            </a:r>
            <a:r>
              <a:rPr lang="en-US" sz="2400" dirty="0">
                <a:hlinkClick r:id="rId3"/>
              </a:rPr>
              <a:t>https://docs.google.com/spreadsheets/wahyudiansyah</a:t>
            </a:r>
            <a:endParaRPr sz="1800" dirty="0"/>
          </a:p>
        </p:txBody>
      </p:sp>
      <p:sp>
        <p:nvSpPr>
          <p:cNvPr id="362" name="Google Shape;362;p15"/>
          <p:cNvSpPr txBox="1"/>
          <p:nvPr/>
        </p:nvSpPr>
        <p:spPr>
          <a:xfrm>
            <a:off x="15335469" y="582725"/>
            <a:ext cx="2494731" cy="89114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b="1" i="0" u="none" strike="noStrike" cap="none" dirty="0">
                <a:solidFill>
                  <a:srgbClr val="162F56"/>
                </a:solidFill>
                <a:latin typeface="Montserrat"/>
                <a:ea typeface="Montserrat"/>
                <a:cs typeface="Montserrat"/>
                <a:sym typeface="Montserrat"/>
              </a:rPr>
              <a:t>Project IV</a:t>
            </a:r>
            <a:endParaRPr dirty="0"/>
          </a:p>
          <a:p>
            <a:pPr marL="0" marR="0" lvl="0" indent="0" algn="l" rtl="0">
              <a:lnSpc>
                <a:spcPct val="110030"/>
              </a:lnSpc>
              <a:spcBef>
                <a:spcPts val="0"/>
              </a:spcBef>
              <a:spcAft>
                <a:spcPts val="0"/>
              </a:spcAft>
              <a:buNone/>
            </a:pPr>
            <a:r>
              <a:rPr lang="en-US" sz="2632" b="1" dirty="0">
                <a:solidFill>
                  <a:srgbClr val="162F56"/>
                </a:solidFill>
                <a:latin typeface="Montserrat"/>
                <a:sym typeface="Montserrat"/>
              </a:rPr>
              <a:t>MPP</a:t>
            </a:r>
            <a:endParaRPr dirty="0"/>
          </a:p>
        </p:txBody>
      </p:sp>
      <p:sp>
        <p:nvSpPr>
          <p:cNvPr id="364" name="Google Shape;364;p15"/>
          <p:cNvSpPr txBox="1"/>
          <p:nvPr/>
        </p:nvSpPr>
        <p:spPr>
          <a:xfrm>
            <a:off x="13976844" y="300149"/>
            <a:ext cx="1087500" cy="1348511"/>
          </a:xfrm>
          <a:prstGeom prst="rect">
            <a:avLst/>
          </a:prstGeom>
          <a:noFill/>
          <a:ln>
            <a:noFill/>
          </a:ln>
        </p:spPr>
        <p:txBody>
          <a:bodyPr spcFirstLastPara="1" wrap="square" lIns="0" tIns="0" rIns="0" bIns="0" anchor="t" anchorCtr="0">
            <a:spAutoFit/>
          </a:bodyPr>
          <a:lstStyle/>
          <a:p>
            <a:pPr marL="0" marR="0" lvl="0" indent="0" algn="l" rtl="0">
              <a:lnSpc>
                <a:spcPct val="139990"/>
              </a:lnSpc>
              <a:spcBef>
                <a:spcPts val="0"/>
              </a:spcBef>
              <a:spcAft>
                <a:spcPts val="0"/>
              </a:spcAft>
              <a:buNone/>
            </a:pPr>
            <a:r>
              <a:rPr lang="en-US" sz="6259" b="1" i="0" u="none" strike="noStrike" cap="none" dirty="0">
                <a:solidFill>
                  <a:srgbClr val="162F56"/>
                </a:solidFill>
                <a:latin typeface="Montserrat"/>
                <a:ea typeface="Montserrat"/>
                <a:cs typeface="Montserrat"/>
                <a:sym typeface="Montserrat"/>
              </a:rPr>
              <a:t>06</a:t>
            </a:r>
            <a:endParaRPr dirty="0"/>
          </a:p>
        </p:txBody>
      </p:sp>
      <p:sp>
        <p:nvSpPr>
          <p:cNvPr id="20" name="Google Shape;341;p14">
            <a:extLst>
              <a:ext uri="{FF2B5EF4-FFF2-40B4-BE49-F238E27FC236}">
                <a16:creationId xmlns:a16="http://schemas.microsoft.com/office/drawing/2014/main" id="{1C38EFB0-B034-48B6-AFAF-12716079AB88}"/>
              </a:ext>
            </a:extLst>
          </p:cNvPr>
          <p:cNvSpPr txBox="1"/>
          <p:nvPr/>
        </p:nvSpPr>
        <p:spPr>
          <a:xfrm>
            <a:off x="1112868" y="103654"/>
            <a:ext cx="3938718" cy="915443"/>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4249" b="1" i="0" u="none" strike="noStrike" cap="none" dirty="0">
                <a:solidFill>
                  <a:srgbClr val="FFFFFF"/>
                </a:solidFill>
                <a:latin typeface="Montserrat"/>
                <a:ea typeface="Montserrat"/>
                <a:cs typeface="Montserrat"/>
                <a:sym typeface="Montserrat"/>
              </a:rPr>
              <a:t>Study Case </a:t>
            </a:r>
            <a:r>
              <a:rPr lang="en-US" sz="4249" b="1" dirty="0">
                <a:solidFill>
                  <a:srgbClr val="FFFFFF"/>
                </a:solidFill>
                <a:latin typeface="Montserrat"/>
                <a:ea typeface="Montserrat"/>
                <a:cs typeface="Montserrat"/>
                <a:sym typeface="Montserrat"/>
              </a:rPr>
              <a:t>2</a:t>
            </a:r>
            <a:endParaRPr dirty="0"/>
          </a:p>
        </p:txBody>
      </p:sp>
      <p:sp>
        <p:nvSpPr>
          <p:cNvPr id="21" name="Google Shape;342;p14">
            <a:extLst>
              <a:ext uri="{FF2B5EF4-FFF2-40B4-BE49-F238E27FC236}">
                <a16:creationId xmlns:a16="http://schemas.microsoft.com/office/drawing/2014/main" id="{0384BD6C-BE17-48A7-9589-B46EBE5D7BFC}"/>
              </a:ext>
            </a:extLst>
          </p:cNvPr>
          <p:cNvSpPr txBox="1"/>
          <p:nvPr/>
        </p:nvSpPr>
        <p:spPr>
          <a:xfrm>
            <a:off x="1112868" y="958663"/>
            <a:ext cx="8594412" cy="445571"/>
          </a:xfrm>
          <a:prstGeom prst="rect">
            <a:avLst/>
          </a:prstGeom>
          <a:noFill/>
          <a:ln>
            <a:noFill/>
          </a:ln>
        </p:spPr>
        <p:txBody>
          <a:bodyPr spcFirstLastPara="1" wrap="square" lIns="0" tIns="0" rIns="0" bIns="0" anchor="t" anchorCtr="0">
            <a:spAutoFit/>
          </a:bodyPr>
          <a:lstStyle/>
          <a:p>
            <a:pPr marL="0" marR="0" lvl="0" indent="0" algn="l" rtl="0">
              <a:lnSpc>
                <a:spcPct val="110030"/>
              </a:lnSpc>
              <a:spcBef>
                <a:spcPts val="0"/>
              </a:spcBef>
              <a:spcAft>
                <a:spcPts val="0"/>
              </a:spcAft>
              <a:buNone/>
            </a:pPr>
            <a:r>
              <a:rPr lang="en-US" sz="2632" dirty="0">
                <a:solidFill>
                  <a:srgbClr val="FFFFFF"/>
                </a:solidFill>
                <a:latin typeface="Montserrat"/>
                <a:sym typeface="Montserrat"/>
              </a:rPr>
              <a:t>Man Power Planning</a:t>
            </a:r>
            <a:endParaRPr dirty="0"/>
          </a:p>
        </p:txBody>
      </p:sp>
      <p:sp>
        <p:nvSpPr>
          <p:cNvPr id="17" name="Google Shape;357;p15">
            <a:extLst>
              <a:ext uri="{FF2B5EF4-FFF2-40B4-BE49-F238E27FC236}">
                <a16:creationId xmlns:a16="http://schemas.microsoft.com/office/drawing/2014/main" id="{33BA692C-8B80-4A12-83F0-5362FDA6D354}"/>
              </a:ext>
            </a:extLst>
          </p:cNvPr>
          <p:cNvSpPr txBox="1"/>
          <p:nvPr/>
        </p:nvSpPr>
        <p:spPr>
          <a:xfrm>
            <a:off x="1112868" y="1821417"/>
            <a:ext cx="12283092" cy="590931"/>
          </a:xfrm>
          <a:prstGeom prst="rect">
            <a:avLst/>
          </a:prstGeom>
          <a:noFill/>
          <a:ln>
            <a:noFill/>
          </a:ln>
        </p:spPr>
        <p:txBody>
          <a:bodyPr spcFirstLastPara="1" wrap="square" lIns="0" tIns="0" rIns="0" bIns="0" anchor="t" anchorCtr="0">
            <a:spAutoFit/>
          </a:bodyPr>
          <a:lstStyle/>
          <a:p>
            <a:pPr marL="0" marR="0" lvl="0" indent="0" algn="just" rtl="0">
              <a:lnSpc>
                <a:spcPct val="120017"/>
              </a:lnSpc>
              <a:spcBef>
                <a:spcPts val="0"/>
              </a:spcBef>
              <a:spcAft>
                <a:spcPts val="0"/>
              </a:spcAft>
              <a:buNone/>
            </a:pPr>
            <a:r>
              <a:rPr lang="en-US" sz="3200" b="1" dirty="0"/>
              <a:t>Hasil </a:t>
            </a:r>
            <a:r>
              <a:rPr lang="en-US" sz="3200" b="1" dirty="0" err="1"/>
              <a:t>Analisis</a:t>
            </a:r>
            <a:r>
              <a:rPr lang="en-US" sz="3200" b="1" dirty="0"/>
              <a:t> Target Ideal Sales PT Persona </a:t>
            </a:r>
            <a:r>
              <a:rPr lang="en-US" sz="3200" b="1" dirty="0" err="1"/>
              <a:t>Analitika</a:t>
            </a:r>
            <a:r>
              <a:rPr lang="en-US" sz="3200" b="1" dirty="0"/>
              <a:t> Asia</a:t>
            </a:r>
            <a:endParaRPr sz="2400" b="1" dirty="0"/>
          </a:p>
        </p:txBody>
      </p:sp>
      <p:pic>
        <p:nvPicPr>
          <p:cNvPr id="3" name="Picture 2">
            <a:extLst>
              <a:ext uri="{FF2B5EF4-FFF2-40B4-BE49-F238E27FC236}">
                <a16:creationId xmlns:a16="http://schemas.microsoft.com/office/drawing/2014/main" id="{85F4AD34-8583-47BF-BB3E-9BF58E1C0FC9}"/>
              </a:ext>
            </a:extLst>
          </p:cNvPr>
          <p:cNvPicPr>
            <a:picLocks noChangeAspect="1"/>
          </p:cNvPicPr>
          <p:nvPr/>
        </p:nvPicPr>
        <p:blipFill>
          <a:blip r:embed="rId4"/>
          <a:stretch>
            <a:fillRect/>
          </a:stretch>
        </p:blipFill>
        <p:spPr>
          <a:xfrm>
            <a:off x="1112868" y="2646007"/>
            <a:ext cx="14401452" cy="2286000"/>
          </a:xfrm>
          <a:prstGeom prst="rect">
            <a:avLst/>
          </a:prstGeom>
        </p:spPr>
      </p:pic>
    </p:spTree>
    <p:extLst>
      <p:ext uri="{BB962C8B-B14F-4D97-AF65-F5344CB8AC3E}">
        <p14:creationId xmlns:p14="http://schemas.microsoft.com/office/powerpoint/2010/main" val="3075179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FA79B"/>
        </a:solidFill>
        <a:effectLst/>
      </p:bgPr>
    </p:bg>
    <p:spTree>
      <p:nvGrpSpPr>
        <p:cNvPr id="1" name="Shape 484"/>
        <p:cNvGrpSpPr/>
        <p:nvPr/>
      </p:nvGrpSpPr>
      <p:grpSpPr>
        <a:xfrm>
          <a:off x="0" y="0"/>
          <a:ext cx="0" cy="0"/>
          <a:chOff x="0" y="0"/>
          <a:chExt cx="0" cy="0"/>
        </a:xfrm>
      </p:grpSpPr>
      <p:sp>
        <p:nvSpPr>
          <p:cNvPr id="485" name="Google Shape;485;p22"/>
          <p:cNvSpPr/>
          <p:nvPr/>
        </p:nvSpPr>
        <p:spPr>
          <a:xfrm rot="5400000">
            <a:off x="-301845" y="-1285875"/>
            <a:ext cx="10287000" cy="12858750"/>
          </a:xfrm>
          <a:custGeom>
            <a:avLst/>
            <a:gdLst/>
            <a:ahLst/>
            <a:cxnLst/>
            <a:rect l="l" t="t" r="r" b="b"/>
            <a:pathLst>
              <a:path w="10287000" h="12858750" extrusionOk="0">
                <a:moveTo>
                  <a:pt x="0" y="0"/>
                </a:moveTo>
                <a:lnTo>
                  <a:pt x="10287000" y="0"/>
                </a:lnTo>
                <a:lnTo>
                  <a:pt x="10287000" y="12858750"/>
                </a:lnTo>
                <a:lnTo>
                  <a:pt x="0" y="12858750"/>
                </a:lnTo>
                <a:lnTo>
                  <a:pt x="0" y="0"/>
                </a:lnTo>
                <a:close/>
              </a:path>
            </a:pathLst>
          </a:custGeom>
          <a:blipFill rotWithShape="1">
            <a:blip r:embed="rId3">
              <a:alphaModFix amt="20999"/>
            </a:blip>
            <a:stretch>
              <a:fillRect/>
            </a:stretch>
          </a:blipFill>
          <a:ln>
            <a:noFill/>
          </a:ln>
        </p:spPr>
      </p:sp>
      <p:sp>
        <p:nvSpPr>
          <p:cNvPr id="486" name="Google Shape;486;p22"/>
          <p:cNvSpPr/>
          <p:nvPr/>
        </p:nvSpPr>
        <p:spPr>
          <a:xfrm>
            <a:off x="12667297" y="3583305"/>
            <a:ext cx="88583" cy="91440"/>
          </a:xfrm>
          <a:custGeom>
            <a:avLst/>
            <a:gdLst/>
            <a:ahLst/>
            <a:cxnLst/>
            <a:rect l="l" t="t" r="r" b="b"/>
            <a:pathLst>
              <a:path w="78740" h="81280" extrusionOk="0">
                <a:moveTo>
                  <a:pt x="78740" y="41910"/>
                </a:moveTo>
                <a:cubicBezTo>
                  <a:pt x="53340" y="80010"/>
                  <a:pt x="35560" y="81280"/>
                  <a:pt x="25400" y="77470"/>
                </a:cubicBezTo>
                <a:cubicBezTo>
                  <a:pt x="16510" y="73660"/>
                  <a:pt x="5080" y="60960"/>
                  <a:pt x="2540" y="50800"/>
                </a:cubicBezTo>
                <a:cubicBezTo>
                  <a:pt x="0" y="40640"/>
                  <a:pt x="5080" y="24130"/>
                  <a:pt x="12700" y="16510"/>
                </a:cubicBezTo>
                <a:cubicBezTo>
                  <a:pt x="19050" y="8890"/>
                  <a:pt x="35560" y="2540"/>
                  <a:pt x="45720" y="5080"/>
                </a:cubicBezTo>
                <a:cubicBezTo>
                  <a:pt x="57150" y="6350"/>
                  <a:pt x="69850" y="16510"/>
                  <a:pt x="74930" y="26670"/>
                </a:cubicBezTo>
                <a:cubicBezTo>
                  <a:pt x="78740" y="35560"/>
                  <a:pt x="78740" y="53340"/>
                  <a:pt x="72390" y="62230"/>
                </a:cubicBezTo>
                <a:cubicBezTo>
                  <a:pt x="67310" y="71120"/>
                  <a:pt x="52070" y="78740"/>
                  <a:pt x="41910" y="80010"/>
                </a:cubicBezTo>
                <a:cubicBezTo>
                  <a:pt x="34290" y="81280"/>
                  <a:pt x="25400" y="78740"/>
                  <a:pt x="19050" y="73660"/>
                </a:cubicBezTo>
                <a:cubicBezTo>
                  <a:pt x="11430" y="67310"/>
                  <a:pt x="2540" y="53340"/>
                  <a:pt x="1270" y="41910"/>
                </a:cubicBezTo>
                <a:cubicBezTo>
                  <a:pt x="1270" y="31750"/>
                  <a:pt x="7620" y="16510"/>
                  <a:pt x="15240" y="8890"/>
                </a:cubicBezTo>
                <a:cubicBezTo>
                  <a:pt x="21590" y="3810"/>
                  <a:pt x="33020" y="0"/>
                  <a:pt x="40640" y="0"/>
                </a:cubicBezTo>
                <a:cubicBezTo>
                  <a:pt x="49530" y="0"/>
                  <a:pt x="59690" y="5080"/>
                  <a:pt x="66040" y="10160"/>
                </a:cubicBezTo>
                <a:cubicBezTo>
                  <a:pt x="72390" y="16510"/>
                  <a:pt x="78740" y="35560"/>
                  <a:pt x="78740" y="35560"/>
                </a:cubicBezTo>
              </a:path>
            </a:pathLst>
          </a:custGeom>
          <a:solidFill>
            <a:srgbClr val="E71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22"/>
          <p:cNvGrpSpPr/>
          <p:nvPr/>
        </p:nvGrpSpPr>
        <p:grpSpPr>
          <a:xfrm>
            <a:off x="0" y="8695526"/>
            <a:ext cx="18288000" cy="3286565"/>
            <a:chOff x="0" y="-76200"/>
            <a:chExt cx="6020741" cy="1081997"/>
          </a:xfrm>
        </p:grpSpPr>
        <p:sp>
          <p:nvSpPr>
            <p:cNvPr id="488" name="Google Shape;488;p22"/>
            <p:cNvSpPr/>
            <p:nvPr/>
          </p:nvSpPr>
          <p:spPr>
            <a:xfrm>
              <a:off x="0" y="0"/>
              <a:ext cx="6020741" cy="1005797"/>
            </a:xfrm>
            <a:custGeom>
              <a:avLst/>
              <a:gdLst/>
              <a:ahLst/>
              <a:cxnLst/>
              <a:rect l="l" t="t" r="r" b="b"/>
              <a:pathLst>
                <a:path w="6020741" h="1005797" extrusionOk="0">
                  <a:moveTo>
                    <a:pt x="17357" y="0"/>
                  </a:moveTo>
                  <a:lnTo>
                    <a:pt x="6003384" y="0"/>
                  </a:lnTo>
                  <a:cubicBezTo>
                    <a:pt x="6012970" y="0"/>
                    <a:pt x="6020741" y="7771"/>
                    <a:pt x="6020741" y="17357"/>
                  </a:cubicBezTo>
                  <a:lnTo>
                    <a:pt x="6020741" y="988440"/>
                  </a:lnTo>
                  <a:cubicBezTo>
                    <a:pt x="6020741" y="998026"/>
                    <a:pt x="6012970" y="1005797"/>
                    <a:pt x="6003384" y="1005797"/>
                  </a:cubicBezTo>
                  <a:lnTo>
                    <a:pt x="17357" y="1005797"/>
                  </a:lnTo>
                  <a:cubicBezTo>
                    <a:pt x="7771" y="1005797"/>
                    <a:pt x="0" y="998026"/>
                    <a:pt x="0" y="988440"/>
                  </a:cubicBezTo>
                  <a:lnTo>
                    <a:pt x="0" y="17357"/>
                  </a:lnTo>
                  <a:cubicBezTo>
                    <a:pt x="0" y="7771"/>
                    <a:pt x="7771" y="0"/>
                    <a:pt x="17357" y="0"/>
                  </a:cubicBezTo>
                  <a:close/>
                </a:path>
              </a:pathLst>
            </a:custGeom>
            <a:solidFill>
              <a:srgbClr val="ED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2"/>
            <p:cNvSpPr txBox="1"/>
            <p:nvPr/>
          </p:nvSpPr>
          <p:spPr>
            <a:xfrm>
              <a:off x="0" y="-76200"/>
              <a:ext cx="6020741" cy="1081997"/>
            </a:xfrm>
            <a:prstGeom prst="rect">
              <a:avLst/>
            </a:prstGeom>
            <a:noFill/>
            <a:ln>
              <a:noFill/>
            </a:ln>
          </p:spPr>
          <p:txBody>
            <a:bodyPr spcFirstLastPara="1" wrap="square" lIns="40625" tIns="40625" rIns="40625" bIns="40625" anchor="ctr" anchorCtr="0">
              <a:noAutofit/>
            </a:bodyPr>
            <a:lstStyle/>
            <a:p>
              <a:pPr marL="0" marR="0" lvl="0" indent="0" algn="ctr" rtl="0">
                <a:lnSpc>
                  <a:spcPct val="170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0" name="Google Shape;490;p22"/>
          <p:cNvSpPr/>
          <p:nvPr/>
        </p:nvSpPr>
        <p:spPr>
          <a:xfrm>
            <a:off x="292178" y="8401786"/>
            <a:ext cx="2397600" cy="2397600"/>
          </a:xfrm>
          <a:custGeom>
            <a:avLst/>
            <a:gdLst/>
            <a:ahLst/>
            <a:cxnLst/>
            <a:rect l="l" t="t" r="r" b="b"/>
            <a:pathLst>
              <a:path w="2397600" h="2397600" extrusionOk="0">
                <a:moveTo>
                  <a:pt x="0" y="0"/>
                </a:moveTo>
                <a:lnTo>
                  <a:pt x="2397601" y="0"/>
                </a:lnTo>
                <a:lnTo>
                  <a:pt x="2397601" y="2397600"/>
                </a:lnTo>
                <a:lnTo>
                  <a:pt x="0" y="2397600"/>
                </a:lnTo>
                <a:lnTo>
                  <a:pt x="0" y="0"/>
                </a:lnTo>
                <a:close/>
              </a:path>
            </a:pathLst>
          </a:custGeom>
          <a:blipFill rotWithShape="1">
            <a:blip r:embed="rId4">
              <a:alphaModFix/>
            </a:blip>
            <a:stretch>
              <a:fillRect/>
            </a:stretch>
          </a:blipFill>
          <a:ln>
            <a:noFill/>
          </a:ln>
        </p:spPr>
      </p:sp>
      <p:sp>
        <p:nvSpPr>
          <p:cNvPr id="491" name="Google Shape;491;p22"/>
          <p:cNvSpPr txBox="1"/>
          <p:nvPr/>
        </p:nvSpPr>
        <p:spPr>
          <a:xfrm>
            <a:off x="9130667" y="4562251"/>
            <a:ext cx="6434800" cy="647277"/>
          </a:xfrm>
          <a:prstGeom prst="rect">
            <a:avLst/>
          </a:prstGeom>
          <a:noFill/>
          <a:ln>
            <a:noFill/>
          </a:ln>
        </p:spPr>
        <p:txBody>
          <a:bodyPr spcFirstLastPara="1" wrap="square" lIns="0" tIns="0" rIns="0" bIns="0" anchor="t" anchorCtr="0">
            <a:spAutoFit/>
          </a:bodyPr>
          <a:lstStyle/>
          <a:p>
            <a:pPr marL="0" marR="0" lvl="0" indent="0" algn="just" rtl="0">
              <a:lnSpc>
                <a:spcPct val="110008"/>
              </a:lnSpc>
              <a:spcBef>
                <a:spcPts val="0"/>
              </a:spcBef>
              <a:spcAft>
                <a:spcPts val="0"/>
              </a:spcAft>
              <a:buNone/>
            </a:pPr>
            <a:r>
              <a:rPr lang="en-US" sz="4466" b="1" i="0" u="none" strike="noStrike" cap="none">
                <a:solidFill>
                  <a:srgbClr val="FFFFFF"/>
                </a:solidFill>
                <a:latin typeface="Montserrat"/>
                <a:ea typeface="Montserrat"/>
                <a:cs typeface="Montserrat"/>
                <a:sym typeface="Montserrat"/>
              </a:rPr>
              <a:t>Contact Details</a:t>
            </a:r>
            <a:endParaRPr/>
          </a:p>
        </p:txBody>
      </p:sp>
      <p:sp>
        <p:nvSpPr>
          <p:cNvPr id="492" name="Google Shape;492;p22"/>
          <p:cNvSpPr txBox="1"/>
          <p:nvPr/>
        </p:nvSpPr>
        <p:spPr>
          <a:xfrm>
            <a:off x="9144000" y="5851034"/>
            <a:ext cx="1870068" cy="347024"/>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b="1" i="0" u="none" strike="noStrike" cap="none" dirty="0">
                <a:solidFill>
                  <a:srgbClr val="FFFFFF"/>
                </a:solidFill>
                <a:latin typeface="Montserrat"/>
                <a:ea typeface="Montserrat"/>
                <a:cs typeface="Montserrat"/>
                <a:sym typeface="Montserrat"/>
              </a:rPr>
              <a:t>Phone      : </a:t>
            </a:r>
            <a:endParaRPr dirty="0"/>
          </a:p>
        </p:txBody>
      </p:sp>
      <p:sp>
        <p:nvSpPr>
          <p:cNvPr id="493" name="Google Shape;493;p22"/>
          <p:cNvSpPr txBox="1"/>
          <p:nvPr/>
        </p:nvSpPr>
        <p:spPr>
          <a:xfrm>
            <a:off x="11014068" y="6578247"/>
            <a:ext cx="4849819" cy="425566"/>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i="1" dirty="0">
                <a:solidFill>
                  <a:srgbClr val="FFFFFF"/>
                </a:solidFill>
              </a:rPr>
              <a:t>Wahyudiansyahas@gmail.com</a:t>
            </a:r>
            <a:endParaRPr dirty="0"/>
          </a:p>
        </p:txBody>
      </p:sp>
      <p:sp>
        <p:nvSpPr>
          <p:cNvPr id="494" name="Google Shape;494;p22"/>
          <p:cNvSpPr txBox="1"/>
          <p:nvPr/>
        </p:nvSpPr>
        <p:spPr>
          <a:xfrm>
            <a:off x="11014068" y="5851034"/>
            <a:ext cx="3024076" cy="425566"/>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i="1" dirty="0">
                <a:solidFill>
                  <a:srgbClr val="FFFFFF"/>
                </a:solidFill>
              </a:rPr>
              <a:t>0812-9491-6066</a:t>
            </a:r>
            <a:endParaRPr dirty="0"/>
          </a:p>
        </p:txBody>
      </p:sp>
      <p:sp>
        <p:nvSpPr>
          <p:cNvPr id="495" name="Google Shape;495;p22"/>
          <p:cNvSpPr txBox="1"/>
          <p:nvPr/>
        </p:nvSpPr>
        <p:spPr>
          <a:xfrm>
            <a:off x="9144000" y="6578247"/>
            <a:ext cx="1870068" cy="347024"/>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b="1" i="0" u="none" strike="noStrike" cap="none">
                <a:solidFill>
                  <a:srgbClr val="FFFFFF"/>
                </a:solidFill>
                <a:latin typeface="Montserrat"/>
                <a:ea typeface="Montserrat"/>
                <a:cs typeface="Montserrat"/>
                <a:sym typeface="Montserrat"/>
              </a:rPr>
              <a:t>Email       :</a:t>
            </a:r>
            <a:endParaRPr/>
          </a:p>
        </p:txBody>
      </p:sp>
      <p:sp>
        <p:nvSpPr>
          <p:cNvPr id="496" name="Google Shape;496;p22"/>
          <p:cNvSpPr txBox="1"/>
          <p:nvPr/>
        </p:nvSpPr>
        <p:spPr>
          <a:xfrm>
            <a:off x="9130667" y="1192285"/>
            <a:ext cx="7865554" cy="1391857"/>
          </a:xfrm>
          <a:prstGeom prst="rect">
            <a:avLst/>
          </a:prstGeom>
          <a:noFill/>
          <a:ln>
            <a:noFill/>
          </a:ln>
        </p:spPr>
        <p:txBody>
          <a:bodyPr spcFirstLastPara="1" wrap="square" lIns="0" tIns="0" rIns="0" bIns="0" anchor="t" anchorCtr="0">
            <a:spAutoFit/>
          </a:bodyPr>
          <a:lstStyle/>
          <a:p>
            <a:pPr marL="0" marR="0" lvl="0" indent="0" algn="l" rtl="0">
              <a:lnSpc>
                <a:spcPct val="90997"/>
              </a:lnSpc>
              <a:spcBef>
                <a:spcPts val="0"/>
              </a:spcBef>
              <a:spcAft>
                <a:spcPts val="0"/>
              </a:spcAft>
              <a:buNone/>
            </a:pPr>
            <a:r>
              <a:rPr lang="en-US" sz="11153" b="1" i="1" u="none" strike="noStrike" cap="none" dirty="0">
                <a:solidFill>
                  <a:srgbClr val="FFFFFF"/>
                </a:solidFill>
                <a:latin typeface="Montserrat"/>
                <a:ea typeface="Montserrat"/>
                <a:cs typeface="Montserrat"/>
                <a:sym typeface="Montserrat"/>
              </a:rPr>
              <a:t>Thank you</a:t>
            </a:r>
            <a:endParaRPr dirty="0"/>
          </a:p>
        </p:txBody>
      </p:sp>
      <p:sp>
        <p:nvSpPr>
          <p:cNvPr id="497" name="Google Shape;497;p22"/>
          <p:cNvSpPr txBox="1"/>
          <p:nvPr/>
        </p:nvSpPr>
        <p:spPr>
          <a:xfrm>
            <a:off x="9130667" y="7289997"/>
            <a:ext cx="1870068" cy="347024"/>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b="1" i="0" u="none" strike="noStrike" cap="none">
                <a:solidFill>
                  <a:srgbClr val="FFFFFF"/>
                </a:solidFill>
                <a:latin typeface="Montserrat"/>
                <a:ea typeface="Montserrat"/>
                <a:cs typeface="Montserrat"/>
                <a:sym typeface="Montserrat"/>
              </a:rPr>
              <a:t>Linkedin  :</a:t>
            </a:r>
            <a:endParaRPr/>
          </a:p>
        </p:txBody>
      </p:sp>
      <p:sp>
        <p:nvSpPr>
          <p:cNvPr id="498" name="Google Shape;498;p22"/>
          <p:cNvSpPr txBox="1"/>
          <p:nvPr/>
        </p:nvSpPr>
        <p:spPr>
          <a:xfrm>
            <a:off x="11014068" y="7306271"/>
            <a:ext cx="4849819" cy="425566"/>
          </a:xfrm>
          <a:prstGeom prst="rect">
            <a:avLst/>
          </a:prstGeom>
          <a:noFill/>
          <a:ln>
            <a:noFill/>
          </a:ln>
        </p:spPr>
        <p:txBody>
          <a:bodyPr spcFirstLastPara="1" wrap="square" lIns="0" tIns="0" rIns="0" bIns="0" anchor="t" anchorCtr="0">
            <a:spAutoFit/>
          </a:bodyPr>
          <a:lstStyle/>
          <a:p>
            <a:pPr marL="0" marR="0" lvl="0" indent="0" algn="l" rtl="0">
              <a:lnSpc>
                <a:spcPct val="110023"/>
              </a:lnSpc>
              <a:spcBef>
                <a:spcPts val="0"/>
              </a:spcBef>
              <a:spcAft>
                <a:spcPts val="0"/>
              </a:spcAft>
              <a:buNone/>
            </a:pPr>
            <a:r>
              <a:rPr lang="en-US" sz="2514" i="1" dirty="0" err="1">
                <a:solidFill>
                  <a:srgbClr val="FFFFFF"/>
                </a:solidFill>
              </a:rPr>
              <a:t>Wahyudiansyahas</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TotalTime>
  <Words>1644</Words>
  <Application>Microsoft Office PowerPoint</Application>
  <PresentationFormat>Kustom</PresentationFormat>
  <Paragraphs>307</Paragraphs>
  <Slides>21</Slides>
  <Notes>21</Notes>
  <HiddenSlides>0</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21</vt:i4>
      </vt:variant>
    </vt:vector>
  </HeadingPairs>
  <TitlesOfParts>
    <vt:vector size="26" baseType="lpstr">
      <vt:lpstr>Montserrat</vt:lpstr>
      <vt:lpstr>Arial</vt:lpstr>
      <vt:lpstr>Calibri</vt:lpstr>
      <vt:lpstr>Inter</vt: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Wahyu Diansyah</cp:lastModifiedBy>
  <cp:revision>62</cp:revision>
  <dcterms:created xsi:type="dcterms:W3CDTF">2006-08-16T00:00:00Z</dcterms:created>
  <dcterms:modified xsi:type="dcterms:W3CDTF">2026-07-03T04:15:18Z</dcterms:modified>
</cp:coreProperties>
</file>